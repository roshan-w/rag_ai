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PartName="/ppt/slides/slide11.xml" ContentType="application/vnd.openxmlformats-officedocument.presentationml.slide+xml"/>
  <Override ContentType="application/vnd.openxmlformats-officedocument.presentationml.notesSlide+xml" PartName="/ppt/notesSlides/notesSlide1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6" r:id="rId15"/>
    <p:sldId id="265" r:id="rId14"/>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  <Relationship Id="rId15" Type="http://schemas.openxmlformats.org/officeDocument/2006/relationships/slide" Target="slides/slide1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7204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Introduce the team and the problem number. One line to set up the deck: large language models answer fluently but cannot show you where an answer came from. Our system makes every sentence traceable to a document and a page, as shown in the example on the right.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Give a concrete example the audience knows — placement eligibility rules sit in one document, the deadline in another, the fee structure in a third. The fourth challenge is the important one: a plain chatbot gives you an answer with no way to check it, which is unusable for anything official.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These five points are the promise the system keeps on every question. Spend a moment on the last one, because citations are what make this different from an ordinary chatbot. On the refusal card: when nothing relevant is retrieved, the app either says the documents do not cover the question or answers from general knowledge under a clear warning line, so the user always knows which kind of answer they are reading.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The single most important slide for the concept. The top row is what a normal chatbot does — the answer comes out of the model's weights and there is nothing to verify. The bottom row inserts a retrieval step, so the model is reading, not remembering.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Go through the top row from left to right, then the bottom row. The amber connector carries the main idea: indexing happens once, when a document is uploaded, while the second pipeline runs on every question. The stored index links the two. With Qwen 2.5 7B on our laptop, a full answer takes around eight seconds, and a repeated question is served from a semantic cache almost instantly.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Step 4 usually draws questions. A citation is only possible because the document name and page number are stored with every vector. If only the text were stored, we could still find it, but we could never say where it came from. The index is written to disk, so uploaded documents are still there after the server restarts.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The example on the right comes from the demo documents shipped with the app. The three passages come from three different files, which a single-document search tool cannot handle. Keyword search matters here because exact terms such as fee amounts and percentages are easy for embeddings to miss. Reciprocal Rank Fusion merges the two ranked lists, and the MiniLM cross-encoder then rereads each candidate against the question. Anything that scores below a minimum relevance is dropped, so a weak match never turns into a misleading citation.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Keep this slide short — it is the promise of the project in one picture. Three documents and a question go in; an answer, its sources and the ability to check them come out. The example is illustrative; the working demo uses a real document 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Two choices are worth defending. First, everything runs locally through Ollama, so there is no API cost and no data leaves the machine, which matters for policy documents and student records. We tried a 14B model first, but answers took over 35 seconds; Qwen 2.5 7B brought that down to about 8. Second, we chose our own NumPy store over ChromaDB or Pinecone. At this scale it is fast, it needs no extra service, and it lets us keep a BM25 index beside the vectors. The Telegram bot is optional and is the only part that needs the internet.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Close on verification. Every claim in an answer can be traced to a document and a page, and the audit gives a faithfulness score for each answer. When the documents do not cover a question, the system says so instead of guessing. Then invite questions, and offer a live demo on the working app.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All of these reuse the same retrieval pipeline, so every output still points back to a page. The audit is the one to demonstrate: ask a question, run the audit, and the app marks each claim as supported, partial or unsupported, with the quote it relied on. The jury shows whether two different models reach the same answer from the same evidence. Insights and contradiction checks run in a background worker after each upload, so they never slow down a question.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9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F30"/>
        </a:solidFill>
        <a:effectLst/>
      </p:bgPr>
    </p:bg>
    <p:spTree>
      <p:nvGrpSpPr>
        <p:cNvPr id="1" name=""/>
        <p:cNvGrpSpPr/>
        <p:nvPr/>
      </p:nvGrpSpPr>
      <p:grpSpPr>
        <a:xfrm>
          <a:off x="0" y="0"/>
          <a:ext cx="0" cy="0"/>
          <a:chOff x="0" y="0"/>
          <a:chExt cx="0" cy="0"/>
        </a:xfrm>
      </p:grpSpPr>
      <p:sp>
        <p:nvSpPr>
          <p:cNvPr id="2" name="Text 0"/>
          <p:cNvSpPr txBox="1"/>
          <p:nvPr/>
        </p:nvSpPr>
        <p:spPr>
          <a:xfrm>
            <a:off x="566928" y="566928"/>
            <a:ext cx="6766560" cy="274320"/>
          </a:xfrm>
          <a:prstGeom prst="rect">
            <a:avLst/>
          </a:prstGeom>
          <a:noFill/>
          <a:ln/>
        </p:spPr>
        <p:txBody>
          <a:bodyPr wrap="square" lIns="0" tIns="0" rIns="0" bIns="0" rtlCol="0" anchor="ctr"/>
          <a:lstStyle/>
          <a:p>
            <a:pPr marL="0" indent="0">
              <a:buNone/>
            </a:pPr>
            <a:r>
              <a:rPr lang="en-US" sz="1150" b="1" kern="0" spc="180" dirty="0">
                <a:solidFill>
                  <a:srgbClr val="E8A33D"/>
                </a:solidFill>
                <a:latin typeface="Calibri" pitchFamily="34" charset="0"/>
                <a:ea typeface="Calibri" pitchFamily="34" charset="-122"/>
                <a:cs typeface="Calibri" pitchFamily="34" charset="-120"/>
              </a:rPr>
              <a:t>PROBLEM STATEMENT NO. 183   ·   CATEGORY: MODEL MAKING</a:t>
            </a:r>
            <a:endParaRPr lang="en-US" sz="1150" dirty="0"/>
          </a:p>
        </p:txBody>
      </p:sp>
      <p:sp>
        <p:nvSpPr>
          <p:cNvPr id="3" name="Text 1"/>
          <p:cNvSpPr txBox="1"/>
          <p:nvPr/>
        </p:nvSpPr>
        <p:spPr>
          <a:xfrm>
            <a:off x="566928" y="1691640"/>
            <a:ext cx="6675120" cy="1737360"/>
          </a:xfrm>
          <a:prstGeom prst="rect">
            <a:avLst/>
          </a:prstGeom>
          <a:noFill/>
          <a:ln/>
        </p:spPr>
        <p:txBody>
          <a:bodyPr wrap="square" lIns="0" tIns="0" rIns="0" bIns="0" rtlCol="0" anchor="t"/>
          <a:lstStyle/>
          <a:p>
            <a:pPr marL="0" indent="0">
              <a:lnSpc>
                <a:spcPts val="5000"/>
              </a:lnSpc>
              <a:buNone/>
            </a:pPr>
            <a:r>
              <a:rPr lang="en-US" sz="4300" b="1" dirty="0">
                <a:solidFill>
                  <a:srgbClr val="FFFFFF"/>
                </a:solidFill>
                <a:latin typeface="Cambria" pitchFamily="34" charset="0"/>
                <a:ea typeface="Cambria" pitchFamily="34" charset="-122"/>
                <a:cs typeface="Cambria" pitchFamily="34" charset="-120"/>
              </a:rPr>
              <a:t>Multi-Document RAG</a:t>
            </a:r>
            <a:endParaRPr lang="en-US" sz="4300" dirty="0"/>
          </a:p>
          <a:p>
            <a:pPr marL="0" indent="0">
              <a:lnSpc>
                <a:spcPts val="5000"/>
              </a:lnSpc>
              <a:buNone/>
            </a:pPr>
            <a:r>
              <a:rPr lang="en-US" sz="4300" b="1" dirty="0">
                <a:solidFill>
                  <a:srgbClr val="FFFFFF"/>
                </a:solidFill>
                <a:latin typeface="Cambria" pitchFamily="34" charset="0"/>
                <a:ea typeface="Cambria" pitchFamily="34" charset="-122"/>
                <a:cs typeface="Cambria" pitchFamily="34" charset="-120"/>
              </a:rPr>
              <a:t>with Citations</a:t>
            </a:r>
            <a:endParaRPr lang="en-US" sz="4300" dirty="0"/>
          </a:p>
        </p:txBody>
      </p:sp>
      <p:sp>
        <p:nvSpPr>
          <p:cNvPr id="4" name="Text 2"/>
          <p:cNvSpPr txBox="1"/>
          <p:nvPr/>
        </p:nvSpPr>
        <p:spPr>
          <a:xfrm>
            <a:off x="566928" y="3566160"/>
            <a:ext cx="6309360" cy="822960"/>
          </a:xfrm>
          <a:prstGeom prst="rect">
            <a:avLst/>
          </a:prstGeom>
          <a:noFill/>
          <a:ln/>
        </p:spPr>
        <p:txBody>
          <a:bodyPr wrap="square" lIns="0" tIns="0" rIns="0" bIns="0" rtlCol="0" anchor="t"/>
          <a:lstStyle/>
          <a:p>
            <a:pPr marL="0" indent="0">
              <a:lnSpc>
                <a:spcPts val="2400"/>
              </a:lnSpc>
              <a:buNone/>
            </a:pPr>
            <a:r>
              <a:rPr lang="en-US" sz="1650" dirty="0">
                <a:solidFill>
                  <a:srgbClr val="5AA39C"/>
                </a:solidFill>
                <a:latin typeface="Calibri" pitchFamily="34" charset="0"/>
                <a:ea typeface="Calibri" pitchFamily="34" charset="-122"/>
                <a:cs typeface="Calibri" pitchFamily="34" charset="-120"/>
              </a:rPr>
              <a:t>An AI-powered system for reliable, source-verified question answering across multiple documents</a:t>
            </a:r>
            <a:endParaRPr lang="en-US" sz="1650" dirty="0"/>
          </a:p>
        </p:txBody>
      </p:sp>
      <p:sp>
        <p:nvSpPr>
          <p:cNvPr id="5" name="Text 3"/>
          <p:cNvSpPr txBox="1"/>
          <p:nvPr/>
        </p:nvSpPr>
        <p:spPr>
          <a:xfrm>
            <a:off x="566928" y="5029200"/>
            <a:ext cx="4572000" cy="237744"/>
          </a:xfrm>
          <a:prstGeom prst="rect">
            <a:avLst/>
          </a:prstGeom>
          <a:noFill/>
          <a:ln/>
        </p:spPr>
        <p:txBody>
          <a:bodyPr wrap="square" lIns="0" tIns="0" rIns="0" bIns="0" rtlCol="0" anchor="ctr"/>
          <a:lstStyle/>
          <a:p>
            <a:pPr marL="0" indent="0">
              <a:buNone/>
            </a:pPr>
            <a:r>
              <a:rPr lang="en-US" sz="1050" b="1" kern="0" spc="160" dirty="0">
                <a:solidFill>
                  <a:srgbClr val="5AA39C"/>
                </a:solidFill>
                <a:latin typeface="Calibri" pitchFamily="34" charset="0"/>
                <a:ea typeface="Calibri" pitchFamily="34" charset="-122"/>
                <a:cs typeface="Calibri" pitchFamily="34" charset="-120"/>
              </a:rPr>
              <a:t>PRESENTED BY</a:t>
            </a:r>
            <a:endParaRPr lang="en-US" sz="1050" dirty="0"/>
          </a:p>
        </p:txBody>
      </p:sp>
      <p:sp>
        <p:nvSpPr>
          <p:cNvPr id="6" name="Text 4"/>
          <p:cNvSpPr txBox="1"/>
          <p:nvPr/>
        </p:nvSpPr>
        <p:spPr>
          <a:xfrm>
            <a:off x="566928" y="5733288"/>
            <a:ext cx="5943600" cy="384048"/>
          </a:xfrm>
          <a:prstGeom prst="rect">
            <a:avLst/>
          </a:prstGeom>
          <a:noFill/>
          <a:ln/>
        </p:spPr>
        <p:txBody>
          <a:bodyPr wrap="square" lIns="0" tIns="0" rIns="0" bIns="0" rtlCol="0" anchor="ctr"/>
          <a:lstStyle/>
          <a:p>
            <a:r>
              <a:rPr lang="en-US" sz="1800" b="1" dirty="0">
                <a:solidFill>
                  <a:srgbClr val="FFFFFF"/>
                </a:solidFill>
                <a:latin typeface="Calibri" pitchFamily="34" charset="0"/>
                <a:ea typeface="Calibri" pitchFamily="34" charset="-122"/>
                <a:cs typeface="Calibri" pitchFamily="34" charset="-120"/>
              </a:rPr>
              <a:t>Honey Soni (24, </a:t>
            </a:r>
            <a:r>
              <a:rPr lang="en-US" b="1" dirty="0">
                <a:solidFill>
                  <a:srgbClr val="FFFFFF"/>
                </a:solidFill>
                <a:latin typeface="Calibri" pitchFamily="34" charset="0"/>
                <a:ea typeface="Calibri" pitchFamily="34" charset="-122"/>
                <a:cs typeface="Calibri" pitchFamily="34" charset="-120"/>
              </a:rPr>
              <a:t>ADT23SOCB0444)</a:t>
            </a:r>
            <a:br>
              <a:rPr lang="en-US" sz="1800" b="1" dirty="0">
                <a:solidFill>
                  <a:srgbClr val="FFFFFF"/>
                </a:solidFill>
                <a:latin typeface="Calibri" pitchFamily="34" charset="0"/>
                <a:ea typeface="Calibri" pitchFamily="34" charset="-122"/>
                <a:cs typeface="Calibri" pitchFamily="34" charset="-120"/>
              </a:rPr>
            </a:br>
            <a:r>
              <a:rPr lang="en-US" sz="1800" b="1" dirty="0">
                <a:solidFill>
                  <a:srgbClr val="FFFFFF"/>
                </a:solidFill>
                <a:latin typeface="Calibri" pitchFamily="34" charset="0"/>
                <a:ea typeface="Calibri" pitchFamily="34" charset="-122"/>
                <a:cs typeface="Calibri" pitchFamily="34" charset="-120"/>
              </a:rPr>
              <a:t>Roshan Warade (35, </a:t>
            </a:r>
            <a:r>
              <a:rPr lang="en-US" b="1" dirty="0">
                <a:solidFill>
                  <a:srgbClr val="FFFFFF"/>
                </a:solidFill>
                <a:latin typeface="Calibri" pitchFamily="34" charset="0"/>
                <a:ea typeface="Calibri" pitchFamily="34" charset="-122"/>
                <a:cs typeface="Calibri" pitchFamily="34" charset="-120"/>
              </a:rPr>
              <a:t>ADT23SOCB0883)</a:t>
            </a:r>
            <a:br>
              <a:rPr lang="en-US" sz="1800" b="1" dirty="0">
                <a:solidFill>
                  <a:srgbClr val="FFFFFF"/>
                </a:solidFill>
                <a:latin typeface="Calibri" pitchFamily="34" charset="0"/>
                <a:ea typeface="Calibri" pitchFamily="34" charset="-122"/>
                <a:cs typeface="Calibri" pitchFamily="34" charset="-120"/>
              </a:rPr>
            </a:br>
            <a:r>
              <a:rPr lang="en-US" sz="1800" b="1" dirty="0">
                <a:solidFill>
                  <a:srgbClr val="FFFFFF"/>
                </a:solidFill>
                <a:latin typeface="Calibri" pitchFamily="34" charset="0"/>
                <a:ea typeface="Calibri" pitchFamily="34" charset="-122"/>
                <a:cs typeface="Calibri" pitchFamily="34" charset="-120"/>
              </a:rPr>
              <a:t>Virendra Mahajan (41, </a:t>
            </a:r>
            <a:r>
              <a:rPr lang="en-US" b="1" dirty="0">
                <a:solidFill>
                  <a:srgbClr val="FFFFFF"/>
                </a:solidFill>
                <a:latin typeface="Calibri" pitchFamily="34" charset="0"/>
                <a:ea typeface="Calibri" pitchFamily="34" charset="-122"/>
                <a:cs typeface="Calibri" pitchFamily="34" charset="-120"/>
              </a:rPr>
              <a:t>ADT23SOCB1322)</a:t>
            </a:r>
            <a:br>
              <a:rPr lang="en-US" sz="1800" b="1" dirty="0">
                <a:solidFill>
                  <a:srgbClr val="FFFFFF"/>
                </a:solidFill>
                <a:latin typeface="Calibri" pitchFamily="34" charset="0"/>
                <a:ea typeface="Calibri" pitchFamily="34" charset="-122"/>
                <a:cs typeface="Calibri" pitchFamily="34" charset="-120"/>
              </a:rPr>
            </a:br>
            <a:r>
              <a:rPr lang="en-US" sz="1800" b="1" dirty="0">
                <a:solidFill>
                  <a:srgbClr val="FFFFFF"/>
                </a:solidFill>
                <a:latin typeface="Calibri" pitchFamily="34" charset="0"/>
                <a:ea typeface="Calibri" pitchFamily="34" charset="-122"/>
                <a:cs typeface="Calibri" pitchFamily="34" charset="-120"/>
              </a:rPr>
              <a:t>Poornima Rayavarapu (31, </a:t>
            </a:r>
            <a:r>
              <a:rPr lang="en-US" b="1" dirty="0">
                <a:solidFill>
                  <a:srgbClr val="FFFFFF"/>
                </a:solidFill>
                <a:latin typeface="Calibri" pitchFamily="34" charset="0"/>
                <a:ea typeface="Calibri" pitchFamily="34" charset="-122"/>
                <a:cs typeface="Calibri" pitchFamily="34" charset="-120"/>
              </a:rPr>
              <a:t>ADT23SOCB0727)</a:t>
            </a:r>
            <a:br>
              <a:rPr lang="en-US" sz="1800" b="1" dirty="0">
                <a:solidFill>
                  <a:srgbClr val="FFFFFF"/>
                </a:solidFill>
                <a:latin typeface="Calibri" pitchFamily="34" charset="0"/>
                <a:ea typeface="Calibri" pitchFamily="34" charset="-122"/>
                <a:cs typeface="Calibri" pitchFamily="34" charset="-120"/>
              </a:rPr>
            </a:br>
            <a:r>
              <a:rPr lang="en-US" sz="1800" b="1" dirty="0">
                <a:solidFill>
                  <a:srgbClr val="FFFFFF"/>
                </a:solidFill>
                <a:latin typeface="Calibri" pitchFamily="34" charset="0"/>
                <a:ea typeface="Calibri" pitchFamily="34" charset="-122"/>
                <a:cs typeface="Calibri" pitchFamily="34" charset="-120"/>
              </a:rPr>
              <a:t>Sujal Jadhavar </a:t>
            </a:r>
            <a:r>
              <a:rPr lang="en-US" b="1" dirty="0">
                <a:solidFill>
                  <a:srgbClr val="FFFFFF"/>
                </a:solidFill>
                <a:latin typeface="Calibri" pitchFamily="34" charset="0"/>
                <a:ea typeface="Calibri" pitchFamily="34" charset="-122"/>
                <a:cs typeface="Calibri" pitchFamily="34" charset="-120"/>
              </a:rPr>
              <a:t>(37 , ADT23SOCB1167)</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THE PROBLEM</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Answers live in many documents at once</a:t>
            </a:r>
            <a:endParaRPr lang="en-US" sz="3400" dirty="0"/>
          </a:p>
        </p:txBody>
      </p:sp>
      <p:sp>
        <p:nvSpPr>
          <p:cNvPr id="4" name="Text 2"/>
          <p:cNvSpPr txBox="1"/>
          <p:nvPr/>
        </p:nvSpPr>
        <p:spPr>
          <a:xfrm>
            <a:off x="566928" y="1298448"/>
            <a:ext cx="6766560" cy="566928"/>
          </a:xfrm>
          <a:prstGeom prst="rect">
            <a:avLst/>
          </a:prstGeom>
          <a:noFill/>
          <a:ln/>
        </p:spPr>
        <p:txBody>
          <a:bodyPr wrap="square" lIns="0" tIns="0" rIns="0" bIns="0" rtlCol="0" anchor="t"/>
          <a:lstStyle/>
          <a:p>
            <a:pPr marL="0" indent="0">
              <a:lnSpc>
                <a:spcPts val="2000"/>
              </a:lnSpc>
              <a:buNone/>
            </a:pPr>
            <a:r>
              <a:rPr lang="en-US" sz="1450" dirty="0">
                <a:solidFill>
                  <a:srgbClr val="5F7271"/>
                </a:solidFill>
                <a:latin typeface="Calibri" pitchFamily="34" charset="0"/>
                <a:ea typeface="Calibri" pitchFamily="34" charset="-122"/>
                <a:cs typeface="Calibri" pitchFamily="34" charset="-120"/>
              </a:rPr>
              <a:t>Information that answers a single question is rarely in one file. It is spread across policies, reports, manuals and research papers.</a:t>
            </a:r>
            <a:endParaRPr lang="en-US" sz="1450" dirty="0"/>
          </a:p>
        </p:txBody>
      </p:sp>
      <p:sp>
        <p:nvSpPr>
          <p:cNvPr id="5" name="Shape 3"/>
          <p:cNvSpPr/>
          <p:nvPr/>
        </p:nvSpPr>
        <p:spPr>
          <a:xfrm>
            <a:off x="566928" y="2212848"/>
            <a:ext cx="6766560" cy="1024128"/>
          </a:xfrm>
          <a:prstGeom prst="roundRect">
            <a:avLst>
              <a:gd name="adj" fmla="val 8929"/>
            </a:avLst>
          </a:prstGeom>
          <a:solidFill>
            <a:srgbClr val="EFF4F3"/>
          </a:solidFill>
          <a:ln w="12700">
            <a:solidFill>
              <a:srgbClr val="EFF4F3"/>
            </a:solidFill>
            <a:prstDash val="solid"/>
          </a:ln>
        </p:spPr>
        <p:txBody>
          <a:bodyPr/>
          <a:lstStyle/>
          <a:p>
            <a:endParaRPr dirty="0"/>
          </a:p>
        </p:txBody>
      </p:sp>
      <p:sp>
        <p:nvSpPr>
          <p:cNvPr id="6" name="Shape 4"/>
          <p:cNvSpPr/>
          <p:nvPr/>
        </p:nvSpPr>
        <p:spPr>
          <a:xfrm>
            <a:off x="841248" y="2478024"/>
            <a:ext cx="493776" cy="493776"/>
          </a:xfrm>
          <a:prstGeom prst="ellipse">
            <a:avLst/>
          </a:prstGeom>
          <a:solidFill>
            <a:srgbClr val="FFFFFF"/>
          </a:solidFill>
          <a:ln w="12700">
            <a:solidFill>
              <a:srgbClr val="FFFFFF"/>
            </a:solidFill>
            <a:prstDash val="solid"/>
          </a:ln>
        </p:spPr>
        <p:txBody>
          <a:bodyPr/>
          <a:lstStyle/>
          <a:p>
            <a:endParaRPr dirty="0"/>
          </a:p>
        </p:txBody>
      </p:sp>
      <p:pic>
        <p:nvPicPr>
          <p:cNvPr id="7" name="Image 0" descr="preencoded.png"/>
          <p:cNvPicPr>
            <a:picLocks noChangeAspect="1"/>
          </p:cNvPicPr>
          <p:nvPr/>
        </p:nvPicPr>
        <p:blipFill>
          <a:blip r:embed="rId3"/>
          <a:stretch>
            <a:fillRect/>
          </a:stretch>
        </p:blipFill>
        <p:spPr>
          <a:xfrm>
            <a:off x="969630" y="2606406"/>
            <a:ext cx="237012" cy="237012"/>
          </a:xfrm>
          <a:prstGeom prst="rect">
            <a:avLst/>
          </a:prstGeom>
        </p:spPr>
      </p:pic>
      <p:sp>
        <p:nvSpPr>
          <p:cNvPr id="8" name="Text 5"/>
          <p:cNvSpPr txBox="1"/>
          <p:nvPr/>
        </p:nvSpPr>
        <p:spPr>
          <a:xfrm>
            <a:off x="1499616" y="2414016"/>
            <a:ext cx="5577840" cy="310896"/>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Policies and guidelines</a:t>
            </a:r>
            <a:endParaRPr lang="en-US" sz="1450" dirty="0"/>
          </a:p>
        </p:txBody>
      </p:sp>
      <p:sp>
        <p:nvSpPr>
          <p:cNvPr id="9" name="Text 6"/>
          <p:cNvSpPr txBox="1"/>
          <p:nvPr/>
        </p:nvSpPr>
        <p:spPr>
          <a:xfrm>
            <a:off x="1499616" y="2743200"/>
            <a:ext cx="5577840" cy="292608"/>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Rules, eligibility criteria, approval routes</a:t>
            </a:r>
            <a:endParaRPr lang="en-US" sz="1150" dirty="0"/>
          </a:p>
        </p:txBody>
      </p:sp>
      <p:sp>
        <p:nvSpPr>
          <p:cNvPr id="10" name="Shape 7"/>
          <p:cNvSpPr/>
          <p:nvPr/>
        </p:nvSpPr>
        <p:spPr>
          <a:xfrm>
            <a:off x="566928" y="3392424"/>
            <a:ext cx="6766560" cy="1024128"/>
          </a:xfrm>
          <a:prstGeom prst="roundRect">
            <a:avLst>
              <a:gd name="adj" fmla="val 8929"/>
            </a:avLst>
          </a:prstGeom>
          <a:solidFill>
            <a:srgbClr val="EFF4F3"/>
          </a:solidFill>
          <a:ln w="12700">
            <a:solidFill>
              <a:srgbClr val="EFF4F3"/>
            </a:solidFill>
            <a:prstDash val="solid"/>
          </a:ln>
        </p:spPr>
        <p:txBody>
          <a:bodyPr/>
          <a:lstStyle/>
          <a:p>
            <a:endParaRPr dirty="0"/>
          </a:p>
        </p:txBody>
      </p:sp>
      <p:sp>
        <p:nvSpPr>
          <p:cNvPr id="11" name="Shape 8"/>
          <p:cNvSpPr/>
          <p:nvPr/>
        </p:nvSpPr>
        <p:spPr>
          <a:xfrm>
            <a:off x="841248" y="3657600"/>
            <a:ext cx="493776" cy="493776"/>
          </a:xfrm>
          <a:prstGeom prst="ellipse">
            <a:avLst/>
          </a:prstGeom>
          <a:solidFill>
            <a:srgbClr val="FFFFFF"/>
          </a:solidFill>
          <a:ln w="12700">
            <a:solidFill>
              <a:srgbClr val="FFFFFF"/>
            </a:solidFill>
            <a:prstDash val="solid"/>
          </a:ln>
        </p:spPr>
        <p:txBody>
          <a:bodyPr/>
          <a:lstStyle/>
          <a:p>
            <a:endParaRPr dirty="0"/>
          </a:p>
        </p:txBody>
      </p:sp>
      <p:pic>
        <p:nvPicPr>
          <p:cNvPr id="12" name="Image 1" descr="preencoded.png"/>
          <p:cNvPicPr>
            <a:picLocks noChangeAspect="1"/>
          </p:cNvPicPr>
          <p:nvPr/>
        </p:nvPicPr>
        <p:blipFill>
          <a:blip r:embed="rId4"/>
          <a:stretch>
            <a:fillRect/>
          </a:stretch>
        </p:blipFill>
        <p:spPr>
          <a:xfrm>
            <a:off x="969630" y="3785982"/>
            <a:ext cx="237012" cy="237012"/>
          </a:xfrm>
          <a:prstGeom prst="rect">
            <a:avLst/>
          </a:prstGeom>
        </p:spPr>
      </p:pic>
      <p:sp>
        <p:nvSpPr>
          <p:cNvPr id="13" name="Text 9"/>
          <p:cNvSpPr txBox="1"/>
          <p:nvPr/>
        </p:nvSpPr>
        <p:spPr>
          <a:xfrm>
            <a:off x="1499616" y="3593592"/>
            <a:ext cx="5577840" cy="310896"/>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Academic and research documents</a:t>
            </a:r>
            <a:endParaRPr lang="en-US" sz="1450" dirty="0"/>
          </a:p>
        </p:txBody>
      </p:sp>
      <p:sp>
        <p:nvSpPr>
          <p:cNvPr id="14" name="Text 10"/>
          <p:cNvSpPr txBox="1"/>
          <p:nvPr/>
        </p:nvSpPr>
        <p:spPr>
          <a:xfrm>
            <a:off x="1499616" y="3922776"/>
            <a:ext cx="5577840" cy="292608"/>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Papers, syllabi, standards, technical notes</a:t>
            </a:r>
            <a:endParaRPr lang="en-US" sz="1150" dirty="0"/>
          </a:p>
        </p:txBody>
      </p:sp>
      <p:sp>
        <p:nvSpPr>
          <p:cNvPr id="15" name="Shape 11"/>
          <p:cNvSpPr/>
          <p:nvPr/>
        </p:nvSpPr>
        <p:spPr>
          <a:xfrm>
            <a:off x="566928" y="4572000"/>
            <a:ext cx="6766560" cy="1024128"/>
          </a:xfrm>
          <a:prstGeom prst="roundRect">
            <a:avLst>
              <a:gd name="adj" fmla="val 8929"/>
            </a:avLst>
          </a:prstGeom>
          <a:solidFill>
            <a:srgbClr val="EFF4F3"/>
          </a:solidFill>
          <a:ln w="12700">
            <a:solidFill>
              <a:srgbClr val="EFF4F3"/>
            </a:solidFill>
            <a:prstDash val="solid"/>
          </a:ln>
        </p:spPr>
        <p:txBody>
          <a:bodyPr/>
          <a:lstStyle/>
          <a:p>
            <a:endParaRPr dirty="0"/>
          </a:p>
        </p:txBody>
      </p:sp>
      <p:sp>
        <p:nvSpPr>
          <p:cNvPr id="16" name="Shape 12"/>
          <p:cNvSpPr/>
          <p:nvPr/>
        </p:nvSpPr>
        <p:spPr>
          <a:xfrm>
            <a:off x="841248" y="4837176"/>
            <a:ext cx="493776" cy="493776"/>
          </a:xfrm>
          <a:prstGeom prst="ellipse">
            <a:avLst/>
          </a:prstGeom>
          <a:solidFill>
            <a:srgbClr val="FFFFFF"/>
          </a:solidFill>
          <a:ln w="12700">
            <a:solidFill>
              <a:srgbClr val="FFFFFF"/>
            </a:solidFill>
            <a:prstDash val="solid"/>
          </a:ln>
        </p:spPr>
        <p:txBody>
          <a:bodyPr/>
          <a:lstStyle/>
          <a:p>
            <a:endParaRPr dirty="0"/>
          </a:p>
        </p:txBody>
      </p:sp>
      <p:pic>
        <p:nvPicPr>
          <p:cNvPr id="17" name="Image 2" descr="preencoded.png"/>
          <p:cNvPicPr>
            <a:picLocks noChangeAspect="1"/>
          </p:cNvPicPr>
          <p:nvPr/>
        </p:nvPicPr>
        <p:blipFill>
          <a:blip r:embed="rId5"/>
          <a:stretch>
            <a:fillRect/>
          </a:stretch>
        </p:blipFill>
        <p:spPr>
          <a:xfrm>
            <a:off x="969630" y="4965558"/>
            <a:ext cx="237012" cy="237012"/>
          </a:xfrm>
          <a:prstGeom prst="rect">
            <a:avLst/>
          </a:prstGeom>
        </p:spPr>
      </p:pic>
      <p:sp>
        <p:nvSpPr>
          <p:cNvPr id="18" name="Text 13"/>
          <p:cNvSpPr txBox="1"/>
          <p:nvPr/>
        </p:nvSpPr>
        <p:spPr>
          <a:xfrm>
            <a:off x="1499616" y="4773168"/>
            <a:ext cx="5577840" cy="310896"/>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Reports and manuals</a:t>
            </a:r>
            <a:endParaRPr lang="en-US" sz="1450" dirty="0"/>
          </a:p>
        </p:txBody>
      </p:sp>
      <p:sp>
        <p:nvSpPr>
          <p:cNvPr id="19" name="Text 14"/>
          <p:cNvSpPr txBox="1"/>
          <p:nvPr/>
        </p:nvSpPr>
        <p:spPr>
          <a:xfrm>
            <a:off x="1499616" y="5102352"/>
            <a:ext cx="5577840" cy="292608"/>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Annual figures, procedures, operating handbooks</a:t>
            </a:r>
            <a:endParaRPr lang="en-US" sz="1150" dirty="0"/>
          </a:p>
        </p:txBody>
      </p:sp>
      <p:sp>
        <p:nvSpPr>
          <p:cNvPr id="20" name="Shape 15"/>
          <p:cNvSpPr/>
          <p:nvPr/>
        </p:nvSpPr>
        <p:spPr>
          <a:xfrm>
            <a:off x="7635240" y="1298448"/>
            <a:ext cx="3989527" cy="4434840"/>
          </a:xfrm>
          <a:prstGeom prst="roundRect">
            <a:avLst>
              <a:gd name="adj" fmla="val 2750"/>
            </a:avLst>
          </a:prstGeom>
          <a:solidFill>
            <a:srgbClr val="0E2F30"/>
          </a:solidFill>
          <a:ln w="12700">
            <a:solidFill>
              <a:srgbClr val="0E2F30"/>
            </a:solidFill>
            <a:prstDash val="solid"/>
          </a:ln>
          <a:effectLst>
            <a:outerShdw blurRad="127000" dist="25400" dir="5400000" algn="bl" rotWithShape="0">
              <a:srgbClr val="0E2F30">
                <a:alpha val="20000"/>
              </a:srgbClr>
            </a:outerShdw>
          </a:effectLst>
        </p:spPr>
        <p:txBody>
          <a:bodyPr/>
          <a:lstStyle/>
          <a:p>
            <a:endParaRPr dirty="0"/>
          </a:p>
        </p:txBody>
      </p:sp>
      <p:sp>
        <p:nvSpPr>
          <p:cNvPr id="21" name="Text 16"/>
          <p:cNvSpPr txBox="1"/>
          <p:nvPr/>
        </p:nvSpPr>
        <p:spPr>
          <a:xfrm>
            <a:off x="7964424" y="1627632"/>
            <a:ext cx="3331159" cy="274320"/>
          </a:xfrm>
          <a:prstGeom prst="rect">
            <a:avLst/>
          </a:prstGeom>
          <a:noFill/>
          <a:ln/>
        </p:spPr>
        <p:txBody>
          <a:bodyPr wrap="square" lIns="0" tIns="0" rIns="0" bIns="0" rtlCol="0" anchor="ctr"/>
          <a:lstStyle/>
          <a:p>
            <a:pPr marL="0" indent="0">
              <a:buNone/>
            </a:pPr>
            <a:r>
              <a:rPr lang="en-US" sz="1050" b="1" kern="0" spc="160" dirty="0">
                <a:solidFill>
                  <a:srgbClr val="E8A33D"/>
                </a:solidFill>
                <a:latin typeface="Calibri" pitchFamily="34" charset="0"/>
                <a:ea typeface="Calibri" pitchFamily="34" charset="-122"/>
                <a:cs typeface="Calibri" pitchFamily="34" charset="-120"/>
              </a:rPr>
              <a:t>WHY THIS IS HARD</a:t>
            </a:r>
            <a:endParaRPr lang="en-US" sz="1050" dirty="0"/>
          </a:p>
        </p:txBody>
      </p:sp>
      <p:sp>
        <p:nvSpPr>
          <p:cNvPr id="22" name="Shape 17"/>
          <p:cNvSpPr/>
          <p:nvPr/>
        </p:nvSpPr>
        <p:spPr>
          <a:xfrm>
            <a:off x="7964424" y="2203704"/>
            <a:ext cx="420624" cy="420624"/>
          </a:xfrm>
          <a:prstGeom prst="ellipse">
            <a:avLst/>
          </a:prstGeom>
          <a:solidFill>
            <a:srgbClr val="16403F"/>
          </a:solidFill>
          <a:ln w="12700">
            <a:solidFill>
              <a:srgbClr val="16403F"/>
            </a:solidFill>
            <a:prstDash val="solid"/>
          </a:ln>
        </p:spPr>
        <p:txBody>
          <a:bodyPr/>
          <a:lstStyle/>
          <a:p>
            <a:endParaRPr dirty="0"/>
          </a:p>
        </p:txBody>
      </p:sp>
      <p:pic>
        <p:nvPicPr>
          <p:cNvPr id="23" name="Image 3" descr="preencoded.png"/>
          <p:cNvPicPr>
            <a:picLocks noChangeAspect="1"/>
          </p:cNvPicPr>
          <p:nvPr/>
        </p:nvPicPr>
        <p:blipFill>
          <a:blip r:embed="rId6"/>
          <a:stretch>
            <a:fillRect/>
          </a:stretch>
        </p:blipFill>
        <p:spPr>
          <a:xfrm>
            <a:off x="8073786" y="2313066"/>
            <a:ext cx="201900" cy="201900"/>
          </a:xfrm>
          <a:prstGeom prst="rect">
            <a:avLst/>
          </a:prstGeom>
        </p:spPr>
      </p:pic>
      <p:sp>
        <p:nvSpPr>
          <p:cNvPr id="24" name="Text 18"/>
          <p:cNvSpPr txBox="1"/>
          <p:nvPr/>
        </p:nvSpPr>
        <p:spPr>
          <a:xfrm>
            <a:off x="8513064" y="2157984"/>
            <a:ext cx="2782519"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Manual search is slow</a:t>
            </a:r>
            <a:endParaRPr lang="en-US" sz="1300" dirty="0"/>
          </a:p>
        </p:txBody>
      </p:sp>
      <p:sp>
        <p:nvSpPr>
          <p:cNvPr id="25" name="Text 19"/>
          <p:cNvSpPr txBox="1"/>
          <p:nvPr/>
        </p:nvSpPr>
        <p:spPr>
          <a:xfrm>
            <a:off x="8513064" y="2441448"/>
            <a:ext cx="2782519" cy="402336"/>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Reading four documents to find one line</a:t>
            </a:r>
            <a:endParaRPr lang="en-US" sz="1050" dirty="0"/>
          </a:p>
        </p:txBody>
      </p:sp>
      <p:sp>
        <p:nvSpPr>
          <p:cNvPr id="26" name="Shape 20"/>
          <p:cNvSpPr/>
          <p:nvPr/>
        </p:nvSpPr>
        <p:spPr>
          <a:xfrm>
            <a:off x="7964424" y="3099816"/>
            <a:ext cx="420624" cy="420624"/>
          </a:xfrm>
          <a:prstGeom prst="ellipse">
            <a:avLst/>
          </a:prstGeom>
          <a:solidFill>
            <a:srgbClr val="16403F"/>
          </a:solidFill>
          <a:ln w="12700">
            <a:solidFill>
              <a:srgbClr val="16403F"/>
            </a:solidFill>
            <a:prstDash val="solid"/>
          </a:ln>
        </p:spPr>
        <p:txBody>
          <a:bodyPr/>
          <a:lstStyle/>
          <a:p>
            <a:endParaRPr dirty="0"/>
          </a:p>
        </p:txBody>
      </p:sp>
      <p:pic>
        <p:nvPicPr>
          <p:cNvPr id="27" name="Image 4" descr="preencoded.png"/>
          <p:cNvPicPr>
            <a:picLocks noChangeAspect="1"/>
          </p:cNvPicPr>
          <p:nvPr/>
        </p:nvPicPr>
        <p:blipFill>
          <a:blip r:embed="rId7"/>
          <a:stretch>
            <a:fillRect/>
          </a:stretch>
        </p:blipFill>
        <p:spPr>
          <a:xfrm>
            <a:off x="8073786" y="3209178"/>
            <a:ext cx="201900" cy="201900"/>
          </a:xfrm>
          <a:prstGeom prst="rect">
            <a:avLst/>
          </a:prstGeom>
        </p:spPr>
      </p:pic>
      <p:sp>
        <p:nvSpPr>
          <p:cNvPr id="28" name="Text 21"/>
          <p:cNvSpPr txBox="1"/>
          <p:nvPr/>
        </p:nvSpPr>
        <p:spPr>
          <a:xfrm>
            <a:off x="8513064" y="3054096"/>
            <a:ext cx="2782519"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Relevant details get missed</a:t>
            </a:r>
            <a:endParaRPr lang="en-US" sz="1300" dirty="0"/>
          </a:p>
        </p:txBody>
      </p:sp>
      <p:sp>
        <p:nvSpPr>
          <p:cNvPr id="29" name="Text 22"/>
          <p:cNvSpPr txBox="1"/>
          <p:nvPr/>
        </p:nvSpPr>
        <p:spPr>
          <a:xfrm>
            <a:off x="8513064" y="3337560"/>
            <a:ext cx="2782519" cy="402336"/>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The answer may sit in the file you skipped</a:t>
            </a:r>
            <a:endParaRPr lang="en-US" sz="1050" dirty="0"/>
          </a:p>
        </p:txBody>
      </p:sp>
      <p:sp>
        <p:nvSpPr>
          <p:cNvPr id="30" name="Shape 23"/>
          <p:cNvSpPr/>
          <p:nvPr/>
        </p:nvSpPr>
        <p:spPr>
          <a:xfrm>
            <a:off x="7964424" y="3995928"/>
            <a:ext cx="420624" cy="420624"/>
          </a:xfrm>
          <a:prstGeom prst="ellipse">
            <a:avLst/>
          </a:prstGeom>
          <a:solidFill>
            <a:srgbClr val="16403F"/>
          </a:solidFill>
          <a:ln w="12700">
            <a:solidFill>
              <a:srgbClr val="16403F"/>
            </a:solidFill>
            <a:prstDash val="solid"/>
          </a:ln>
        </p:spPr>
        <p:txBody>
          <a:bodyPr/>
          <a:lstStyle/>
          <a:p>
            <a:endParaRPr dirty="0"/>
          </a:p>
        </p:txBody>
      </p:sp>
      <p:pic>
        <p:nvPicPr>
          <p:cNvPr id="31" name="Image 5" descr="preencoded.png"/>
          <p:cNvPicPr>
            <a:picLocks noChangeAspect="1"/>
          </p:cNvPicPr>
          <p:nvPr/>
        </p:nvPicPr>
        <p:blipFill>
          <a:blip r:embed="rId8"/>
          <a:stretch>
            <a:fillRect/>
          </a:stretch>
        </p:blipFill>
        <p:spPr>
          <a:xfrm>
            <a:off x="8073786" y="4105290"/>
            <a:ext cx="201900" cy="201900"/>
          </a:xfrm>
          <a:prstGeom prst="rect">
            <a:avLst/>
          </a:prstGeom>
        </p:spPr>
      </p:pic>
      <p:sp>
        <p:nvSpPr>
          <p:cNvPr id="32" name="Text 24"/>
          <p:cNvSpPr txBox="1"/>
          <p:nvPr/>
        </p:nvSpPr>
        <p:spPr>
          <a:xfrm>
            <a:off x="8513064" y="3950208"/>
            <a:ext cx="2782519"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 can answer without evidence</a:t>
            </a:r>
            <a:endParaRPr lang="en-US" sz="1300" dirty="0"/>
          </a:p>
        </p:txBody>
      </p:sp>
      <p:sp>
        <p:nvSpPr>
          <p:cNvPr id="33" name="Text 25"/>
          <p:cNvSpPr txBox="1"/>
          <p:nvPr/>
        </p:nvSpPr>
        <p:spPr>
          <a:xfrm>
            <a:off x="8513064" y="4233672"/>
            <a:ext cx="2782519" cy="402336"/>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Fluent, confident and sometimes invented</a:t>
            </a:r>
            <a:endParaRPr lang="en-US" sz="1050" dirty="0"/>
          </a:p>
        </p:txBody>
      </p:sp>
      <p:sp>
        <p:nvSpPr>
          <p:cNvPr id="34" name="Shape 26"/>
          <p:cNvSpPr/>
          <p:nvPr/>
        </p:nvSpPr>
        <p:spPr>
          <a:xfrm>
            <a:off x="7964424" y="4892040"/>
            <a:ext cx="420624" cy="420624"/>
          </a:xfrm>
          <a:prstGeom prst="ellipse">
            <a:avLst/>
          </a:prstGeom>
          <a:solidFill>
            <a:srgbClr val="16403F"/>
          </a:solidFill>
          <a:ln w="12700">
            <a:solidFill>
              <a:srgbClr val="16403F"/>
            </a:solidFill>
            <a:prstDash val="solid"/>
          </a:ln>
        </p:spPr>
        <p:txBody>
          <a:bodyPr/>
          <a:lstStyle/>
          <a:p>
            <a:endParaRPr dirty="0"/>
          </a:p>
        </p:txBody>
      </p:sp>
      <p:pic>
        <p:nvPicPr>
          <p:cNvPr id="35" name="Image 6" descr="preencoded.png"/>
          <p:cNvPicPr>
            <a:picLocks noChangeAspect="1"/>
          </p:cNvPicPr>
          <p:nvPr/>
        </p:nvPicPr>
        <p:blipFill>
          <a:blip r:embed="rId9"/>
          <a:stretch>
            <a:fillRect/>
          </a:stretch>
        </p:blipFill>
        <p:spPr>
          <a:xfrm>
            <a:off x="8073786" y="5001402"/>
            <a:ext cx="201900" cy="201900"/>
          </a:xfrm>
          <a:prstGeom prst="rect">
            <a:avLst/>
          </a:prstGeom>
        </p:spPr>
      </p:pic>
      <p:sp>
        <p:nvSpPr>
          <p:cNvPr id="36" name="Text 27"/>
          <p:cNvSpPr txBox="1"/>
          <p:nvPr/>
        </p:nvSpPr>
        <p:spPr>
          <a:xfrm>
            <a:off x="8513064" y="4846320"/>
            <a:ext cx="2782519"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source cannot be checked</a:t>
            </a:r>
            <a:endParaRPr lang="en-US" sz="1300" dirty="0"/>
          </a:p>
        </p:txBody>
      </p:sp>
      <p:sp>
        <p:nvSpPr>
          <p:cNvPr id="37" name="Text 28"/>
          <p:cNvSpPr txBox="1"/>
          <p:nvPr/>
        </p:nvSpPr>
        <p:spPr>
          <a:xfrm>
            <a:off x="8513064" y="5129784"/>
            <a:ext cx="2782519" cy="402336"/>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No way to confirm where an answer came from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PROPOSED SOLUTION</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A Multi-Document RAG system with citations</a:t>
            </a:r>
            <a:endParaRPr lang="en-US" sz="3400" dirty="0"/>
          </a:p>
        </p:txBody>
      </p:sp>
      <p:sp>
        <p:nvSpPr>
          <p:cNvPr id="4" name="Shape 2"/>
          <p:cNvSpPr/>
          <p:nvPr/>
        </p:nvSpPr>
        <p:spPr>
          <a:xfrm>
            <a:off x="566928" y="1517904"/>
            <a:ext cx="402336" cy="402336"/>
          </a:xfrm>
          <a:prstGeom prst="ellipse">
            <a:avLst/>
          </a:prstGeom>
          <a:solidFill>
            <a:srgbClr val="1C7C7C"/>
          </a:solidFill>
          <a:ln w="12700">
            <a:solidFill>
              <a:srgbClr val="1C7C7C"/>
            </a:solidFill>
            <a:prstDash val="solid"/>
          </a:ln>
        </p:spPr>
        <p:txBody>
          <a:bodyPr/>
          <a:lstStyle/>
          <a:p>
            <a:endParaRPr dirty="0"/>
          </a:p>
        </p:txBody>
      </p:sp>
      <p:sp>
        <p:nvSpPr>
          <p:cNvPr id="5" name="Text 3"/>
          <p:cNvSpPr txBox="1"/>
          <p:nvPr/>
        </p:nvSpPr>
        <p:spPr>
          <a:xfrm>
            <a:off x="566928" y="151790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07008" y="1463040"/>
            <a:ext cx="6400800" cy="292608"/>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Accept multiple documents as one knowledge source</a:t>
            </a:r>
            <a:endParaRPr lang="en-US" sz="1450" dirty="0"/>
          </a:p>
        </p:txBody>
      </p:sp>
      <p:sp>
        <p:nvSpPr>
          <p:cNvPr id="7" name="Text 5"/>
          <p:cNvSpPr txBox="1"/>
          <p:nvPr/>
        </p:nvSpPr>
        <p:spPr>
          <a:xfrm>
            <a:off x="1207008" y="1773936"/>
            <a:ext cx="6400800" cy="274320"/>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PDFs, reports, notes — mixed formats in a single corpus</a:t>
            </a:r>
            <a:endParaRPr lang="en-US" sz="1150" dirty="0"/>
          </a:p>
        </p:txBody>
      </p:sp>
      <p:sp>
        <p:nvSpPr>
          <p:cNvPr id="8" name="Shape 6"/>
          <p:cNvSpPr/>
          <p:nvPr/>
        </p:nvSpPr>
        <p:spPr>
          <a:xfrm>
            <a:off x="566928" y="2423160"/>
            <a:ext cx="402336" cy="402336"/>
          </a:xfrm>
          <a:prstGeom prst="ellipse">
            <a:avLst/>
          </a:prstGeom>
          <a:solidFill>
            <a:srgbClr val="1C7C7C"/>
          </a:solidFill>
          <a:ln w="12700">
            <a:solidFill>
              <a:srgbClr val="1C7C7C"/>
            </a:solidFill>
            <a:prstDash val="solid"/>
          </a:ln>
        </p:spPr>
        <p:txBody>
          <a:bodyPr/>
          <a:lstStyle/>
          <a:p>
            <a:endParaRPr dirty="0"/>
          </a:p>
        </p:txBody>
      </p:sp>
      <p:sp>
        <p:nvSpPr>
          <p:cNvPr id="9" name="Text 7"/>
          <p:cNvSpPr txBox="1"/>
          <p:nvPr/>
        </p:nvSpPr>
        <p:spPr>
          <a:xfrm>
            <a:off x="566928" y="24231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207008" y="2368296"/>
            <a:ext cx="6400800" cy="292608"/>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Understand and process document content</a:t>
            </a:r>
            <a:endParaRPr lang="en-US" sz="1450" dirty="0"/>
          </a:p>
        </p:txBody>
      </p:sp>
      <p:sp>
        <p:nvSpPr>
          <p:cNvPr id="11" name="Text 9"/>
          <p:cNvSpPr txBox="1"/>
          <p:nvPr/>
        </p:nvSpPr>
        <p:spPr>
          <a:xfrm>
            <a:off x="1207008" y="2679192"/>
            <a:ext cx="6400800" cy="274320"/>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PDF, Word and text files, with OCR for scans and photos</a:t>
            </a:r>
            <a:endParaRPr lang="en-US" sz="1150" dirty="0"/>
          </a:p>
        </p:txBody>
      </p:sp>
      <p:sp>
        <p:nvSpPr>
          <p:cNvPr id="12" name="Shape 10"/>
          <p:cNvSpPr/>
          <p:nvPr/>
        </p:nvSpPr>
        <p:spPr>
          <a:xfrm>
            <a:off x="566928" y="3328416"/>
            <a:ext cx="402336" cy="402336"/>
          </a:xfrm>
          <a:prstGeom prst="ellipse">
            <a:avLst/>
          </a:prstGeom>
          <a:solidFill>
            <a:srgbClr val="1C7C7C"/>
          </a:solidFill>
          <a:ln w="12700">
            <a:solidFill>
              <a:srgbClr val="1C7C7C"/>
            </a:solidFill>
            <a:prstDash val="solid"/>
          </a:ln>
        </p:spPr>
        <p:txBody>
          <a:bodyPr/>
          <a:lstStyle/>
          <a:p>
            <a:endParaRPr dirty="0"/>
          </a:p>
        </p:txBody>
      </p:sp>
      <p:sp>
        <p:nvSpPr>
          <p:cNvPr id="13" name="Text 11"/>
          <p:cNvSpPr txBox="1"/>
          <p:nvPr/>
        </p:nvSpPr>
        <p:spPr>
          <a:xfrm>
            <a:off x="566928" y="33284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07008" y="3273552"/>
            <a:ext cx="6400800" cy="292608"/>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Retrieve only what is relevant to the query</a:t>
            </a:r>
            <a:endParaRPr lang="en-US" sz="1450" dirty="0"/>
          </a:p>
        </p:txBody>
      </p:sp>
      <p:sp>
        <p:nvSpPr>
          <p:cNvPr id="15" name="Text 13"/>
          <p:cNvSpPr txBox="1"/>
          <p:nvPr/>
        </p:nvSpPr>
        <p:spPr>
          <a:xfrm>
            <a:off x="1207008" y="3584448"/>
            <a:ext cx="6400800" cy="274320"/>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Hybrid semantic and keyword search, then reranking</a:t>
            </a:r>
            <a:endParaRPr lang="en-US" sz="1150" dirty="0"/>
          </a:p>
        </p:txBody>
      </p:sp>
      <p:sp>
        <p:nvSpPr>
          <p:cNvPr id="16" name="Shape 14"/>
          <p:cNvSpPr/>
          <p:nvPr/>
        </p:nvSpPr>
        <p:spPr>
          <a:xfrm>
            <a:off x="566928" y="4233672"/>
            <a:ext cx="402336" cy="402336"/>
          </a:xfrm>
          <a:prstGeom prst="ellipse">
            <a:avLst/>
          </a:prstGeom>
          <a:solidFill>
            <a:srgbClr val="1C7C7C"/>
          </a:solidFill>
          <a:ln w="12700">
            <a:solidFill>
              <a:srgbClr val="1C7C7C"/>
            </a:solidFill>
            <a:prstDash val="solid"/>
          </a:ln>
        </p:spPr>
        <p:txBody>
          <a:bodyPr/>
          <a:lstStyle/>
          <a:p>
            <a:endParaRPr dirty="0"/>
          </a:p>
        </p:txBody>
      </p:sp>
      <p:sp>
        <p:nvSpPr>
          <p:cNvPr id="17" name="Text 15"/>
          <p:cNvSpPr txBox="1"/>
          <p:nvPr/>
        </p:nvSpPr>
        <p:spPr>
          <a:xfrm>
            <a:off x="566928" y="423367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207008" y="4178808"/>
            <a:ext cx="6400800" cy="292608"/>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Generate the answer from that retrieved context</a:t>
            </a:r>
            <a:endParaRPr lang="en-US" sz="1450" dirty="0"/>
          </a:p>
        </p:txBody>
      </p:sp>
      <p:sp>
        <p:nvSpPr>
          <p:cNvPr id="19" name="Text 17"/>
          <p:cNvSpPr txBox="1"/>
          <p:nvPr/>
        </p:nvSpPr>
        <p:spPr>
          <a:xfrm>
            <a:off x="1207008" y="4489704"/>
            <a:ext cx="6400800" cy="274320"/>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The model is restricted to the evidence it was given</a:t>
            </a:r>
            <a:endParaRPr lang="en-US" sz="1150" dirty="0"/>
          </a:p>
        </p:txBody>
      </p:sp>
      <p:sp>
        <p:nvSpPr>
          <p:cNvPr id="20" name="Shape 18"/>
          <p:cNvSpPr/>
          <p:nvPr/>
        </p:nvSpPr>
        <p:spPr>
          <a:xfrm>
            <a:off x="566928" y="5138928"/>
            <a:ext cx="402336" cy="402336"/>
          </a:xfrm>
          <a:prstGeom prst="ellipse">
            <a:avLst/>
          </a:prstGeom>
          <a:solidFill>
            <a:srgbClr val="1C7C7C"/>
          </a:solidFill>
          <a:ln w="12700">
            <a:solidFill>
              <a:srgbClr val="1C7C7C"/>
            </a:solidFill>
            <a:prstDash val="solid"/>
          </a:ln>
        </p:spPr>
        <p:txBody>
          <a:bodyPr/>
          <a:lstStyle/>
          <a:p>
            <a:endParaRPr dirty="0"/>
          </a:p>
        </p:txBody>
      </p:sp>
      <p:sp>
        <p:nvSpPr>
          <p:cNvPr id="21" name="Text 19"/>
          <p:cNvSpPr txBox="1"/>
          <p:nvPr/>
        </p:nvSpPr>
        <p:spPr>
          <a:xfrm>
            <a:off x="566928" y="51389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207008" y="5084064"/>
            <a:ext cx="6400800" cy="292608"/>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Attach document and page citations</a:t>
            </a:r>
            <a:endParaRPr lang="en-US" sz="1450" dirty="0"/>
          </a:p>
        </p:txBody>
      </p:sp>
      <p:sp>
        <p:nvSpPr>
          <p:cNvPr id="23" name="Text 21"/>
          <p:cNvSpPr txBox="1"/>
          <p:nvPr/>
        </p:nvSpPr>
        <p:spPr>
          <a:xfrm>
            <a:off x="1207008" y="5394960"/>
            <a:ext cx="6400800" cy="274320"/>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Every claim carries a [Doc, Page] marker to its source</a:t>
            </a:r>
            <a:endParaRPr lang="en-US" sz="1150" dirty="0"/>
          </a:p>
        </p:txBody>
      </p:sp>
      <p:sp>
        <p:nvSpPr>
          <p:cNvPr id="24" name="Shape 22"/>
          <p:cNvSpPr/>
          <p:nvPr/>
        </p:nvSpPr>
        <p:spPr>
          <a:xfrm>
            <a:off x="7726680" y="1417320"/>
            <a:ext cx="3898087" cy="2697480"/>
          </a:xfrm>
          <a:prstGeom prst="roundRect">
            <a:avLst>
              <a:gd name="adj" fmla="val 4068"/>
            </a:avLst>
          </a:prstGeom>
          <a:solidFill>
            <a:srgbClr val="12545A"/>
          </a:solidFill>
          <a:ln w="12700">
            <a:solidFill>
              <a:srgbClr val="12545A"/>
            </a:solidFill>
            <a:prstDash val="solid"/>
          </a:ln>
          <a:effectLst>
            <a:outerShdw blurRad="127000" dist="25400" dir="5400000" algn="bl" rotWithShape="0">
              <a:srgbClr val="0E2F30">
                <a:alpha val="20000"/>
              </a:srgbClr>
            </a:outerShdw>
          </a:effectLst>
        </p:spPr>
        <p:txBody>
          <a:bodyPr/>
          <a:lstStyle/>
          <a:p>
            <a:endParaRPr dirty="0"/>
          </a:p>
        </p:txBody>
      </p:sp>
      <p:sp>
        <p:nvSpPr>
          <p:cNvPr id="25" name="Text 23"/>
          <p:cNvSpPr txBox="1"/>
          <p:nvPr/>
        </p:nvSpPr>
        <p:spPr>
          <a:xfrm>
            <a:off x="8037576" y="1719072"/>
            <a:ext cx="3276295" cy="256032"/>
          </a:xfrm>
          <a:prstGeom prst="rect">
            <a:avLst/>
          </a:prstGeom>
          <a:noFill/>
          <a:ln/>
        </p:spPr>
        <p:txBody>
          <a:bodyPr wrap="square" lIns="0" tIns="0" rIns="0" bIns="0" rtlCol="0" anchor="ctr"/>
          <a:lstStyle/>
          <a:p>
            <a:pPr marL="0" indent="0">
              <a:buNone/>
            </a:pPr>
            <a:r>
              <a:rPr lang="en-US" sz="1050" b="1" kern="0" spc="160" dirty="0">
                <a:solidFill>
                  <a:srgbClr val="E8A33D"/>
                </a:solidFill>
                <a:latin typeface="Calibri" pitchFamily="34" charset="0"/>
                <a:ea typeface="Calibri" pitchFamily="34" charset="-122"/>
                <a:cs typeface="Calibri" pitchFamily="34" charset="-120"/>
              </a:rPr>
              <a:t>CORE IDEA</a:t>
            </a:r>
            <a:endParaRPr lang="en-US" sz="1050" dirty="0"/>
          </a:p>
        </p:txBody>
      </p:sp>
      <p:sp>
        <p:nvSpPr>
          <p:cNvPr id="26" name="Text 24"/>
          <p:cNvSpPr txBox="1"/>
          <p:nvPr/>
        </p:nvSpPr>
        <p:spPr>
          <a:xfrm>
            <a:off x="8037576" y="2121408"/>
            <a:ext cx="3276295" cy="960120"/>
          </a:xfrm>
          <a:prstGeom prst="rect">
            <a:avLst/>
          </a:prstGeom>
          <a:noFill/>
          <a:ln/>
        </p:spPr>
        <p:txBody>
          <a:bodyPr wrap="square" lIns="0" tIns="0" rIns="0" bIns="0" rtlCol="0" anchor="t"/>
          <a:lstStyle/>
          <a:p>
            <a:pPr marL="0" indent="0">
              <a:lnSpc>
                <a:spcPts val="3200"/>
              </a:lnSpc>
              <a:buNone/>
            </a:pPr>
            <a:r>
              <a:rPr lang="en-US" sz="2300" b="1" dirty="0">
                <a:solidFill>
                  <a:srgbClr val="FFFFFF"/>
                </a:solidFill>
                <a:latin typeface="Cambria" pitchFamily="34" charset="0"/>
                <a:ea typeface="Cambria" pitchFamily="34" charset="-122"/>
                <a:cs typeface="Cambria" pitchFamily="34" charset="-120"/>
              </a:rPr>
              <a:t>Retrieve first.
</a:t>
            </a:r>
            <a:r>
              <a:rPr lang="en-US" sz="2300" b="1" dirty="0">
                <a:solidFill>
                  <a:srgbClr val="E8A33D"/>
                </a:solidFill>
                <a:latin typeface="Cambria" pitchFamily="34" charset="0"/>
                <a:ea typeface="Cambria" pitchFamily="34" charset="-122"/>
                <a:cs typeface="Cambria" pitchFamily="34" charset="-120"/>
              </a:rPr>
              <a:t>Generate second.</a:t>
            </a:r>
            <a:endParaRPr lang="en-US" sz="2300" dirty="0"/>
          </a:p>
        </p:txBody>
      </p:sp>
      <p:sp>
        <p:nvSpPr>
          <p:cNvPr id="27" name="Text 25"/>
          <p:cNvSpPr txBox="1"/>
          <p:nvPr/>
        </p:nvSpPr>
        <p:spPr>
          <a:xfrm>
            <a:off x="8037576" y="3163824"/>
            <a:ext cx="3276295" cy="713232"/>
          </a:xfrm>
          <a:prstGeom prst="rect">
            <a:avLst/>
          </a:prstGeom>
          <a:noFill/>
          <a:ln/>
        </p:spPr>
        <p:txBody>
          <a:bodyPr wrap="square" lIns="0" tIns="0" rIns="0" bIns="0" rtlCol="0" anchor="t"/>
          <a:lstStyle/>
          <a:p>
            <a:pPr marL="0" indent="0">
              <a:lnSpc>
                <a:spcPts val="1600"/>
              </a:lnSpc>
              <a:buNone/>
            </a:pPr>
            <a:r>
              <a:rPr lang="en-US" sz="1150" dirty="0">
                <a:solidFill>
                  <a:srgbClr val="9BCFC7"/>
                </a:solidFill>
                <a:latin typeface="Calibri" pitchFamily="34" charset="0"/>
                <a:ea typeface="Calibri" pitchFamily="34" charset="-122"/>
                <a:cs typeface="Calibri" pitchFamily="34" charset="-120"/>
              </a:rPr>
              <a:t>The relevant passages are found before the model writes anything. It never answers from memory — it answers from the text it was just shown.</a:t>
            </a:r>
            <a:endParaRPr lang="en-US" sz="1150" dirty="0"/>
          </a:p>
        </p:txBody>
      </p:sp>
      <p:sp>
        <p:nvSpPr>
          <p:cNvPr id="28" name="Shape 26"/>
          <p:cNvSpPr/>
          <p:nvPr/>
        </p:nvSpPr>
        <p:spPr>
          <a:xfrm>
            <a:off x="7726680" y="4407408"/>
            <a:ext cx="3898087" cy="1481328"/>
          </a:xfrm>
          <a:prstGeom prst="roundRect">
            <a:avLst>
              <a:gd name="adj" fmla="val 6173"/>
            </a:avLst>
          </a:prstGeom>
          <a:solidFill>
            <a:srgbClr val="EFF4F3"/>
          </a:solidFill>
          <a:ln w="12700">
            <a:solidFill>
              <a:srgbClr val="EFF4F3"/>
            </a:solidFill>
            <a:prstDash val="solid"/>
          </a:ln>
        </p:spPr>
        <p:txBody>
          <a:bodyPr/>
          <a:lstStyle/>
          <a:p>
            <a:endParaRPr dirty="0"/>
          </a:p>
        </p:txBody>
      </p:sp>
      <p:sp>
        <p:nvSpPr>
          <p:cNvPr id="29" name="Shape 27"/>
          <p:cNvSpPr/>
          <p:nvPr/>
        </p:nvSpPr>
        <p:spPr>
          <a:xfrm>
            <a:off x="8037576" y="4645152"/>
            <a:ext cx="420624" cy="420624"/>
          </a:xfrm>
          <a:prstGeom prst="ellipse">
            <a:avLst/>
          </a:prstGeom>
          <a:solidFill>
            <a:srgbClr val="FFFFFF"/>
          </a:solidFill>
          <a:ln w="12700">
            <a:solidFill>
              <a:srgbClr val="FFFFFF"/>
            </a:solidFill>
            <a:prstDash val="solid"/>
          </a:ln>
        </p:spPr>
        <p:txBody>
          <a:bodyPr/>
          <a:lstStyle/>
          <a:p>
            <a:endParaRPr dirty="0"/>
          </a:p>
        </p:txBody>
      </p:sp>
      <p:pic>
        <p:nvPicPr>
          <p:cNvPr id="30" name="Image 0" descr="preencoded.png"/>
          <p:cNvPicPr>
            <a:picLocks noChangeAspect="1"/>
          </p:cNvPicPr>
          <p:nvPr/>
        </p:nvPicPr>
        <p:blipFill>
          <a:blip r:embed="rId3"/>
          <a:stretch>
            <a:fillRect/>
          </a:stretch>
        </p:blipFill>
        <p:spPr>
          <a:xfrm>
            <a:off x="8146938" y="4754514"/>
            <a:ext cx="201900" cy="201900"/>
          </a:xfrm>
          <a:prstGeom prst="rect">
            <a:avLst/>
          </a:prstGeom>
        </p:spPr>
      </p:pic>
      <p:sp>
        <p:nvSpPr>
          <p:cNvPr id="31" name="Text 28"/>
          <p:cNvSpPr txBox="1"/>
          <p:nvPr/>
        </p:nvSpPr>
        <p:spPr>
          <a:xfrm>
            <a:off x="8567928" y="4645152"/>
            <a:ext cx="2745943" cy="274320"/>
          </a:xfrm>
          <a:prstGeom prst="rect">
            <a:avLst/>
          </a:prstGeom>
          <a:noFill/>
          <a:ln/>
        </p:spPr>
        <p:txBody>
          <a:bodyPr wrap="square" lIns="0" tIns="0" rIns="0" bIns="0" rtlCol="0" anchor="ctr"/>
          <a:lstStyle/>
          <a:p>
            <a:pPr marL="0" indent="0">
              <a:buNone/>
            </a:pPr>
            <a:r>
              <a:rPr lang="en-US" sz="1300" b="1" dirty="0">
                <a:solidFill>
                  <a:srgbClr val="172B2B"/>
                </a:solidFill>
                <a:latin typeface="Calibri" pitchFamily="34" charset="0"/>
                <a:ea typeface="Calibri" pitchFamily="34" charset="-122"/>
                <a:cs typeface="Calibri" pitchFamily="34" charset="-120"/>
              </a:rPr>
              <a:t>Built-in refusal</a:t>
            </a:r>
            <a:endParaRPr lang="en-US" sz="1300" dirty="0"/>
          </a:p>
        </p:txBody>
      </p:sp>
      <p:sp>
        <p:nvSpPr>
          <p:cNvPr id="32" name="Text 29"/>
          <p:cNvSpPr txBox="1"/>
          <p:nvPr/>
        </p:nvSpPr>
        <p:spPr>
          <a:xfrm>
            <a:off x="8037576" y="5157216"/>
            <a:ext cx="3276295" cy="512064"/>
          </a:xfrm>
          <a:prstGeom prst="rect">
            <a:avLst/>
          </a:prstGeom>
          <a:noFill/>
          <a:ln/>
        </p:spPr>
        <p:txBody>
          <a:bodyPr wrap="square" lIns="0" tIns="0" rIns="0" bIns="0" rtlCol="0" anchor="t"/>
          <a:lstStyle/>
          <a:p>
            <a:pPr marL="0" indent="0">
              <a:lnSpc>
                <a:spcPts val="1500"/>
              </a:lnSpc>
              <a:buNone/>
            </a:pPr>
            <a:r>
              <a:rPr lang="en-US" sz="1100" dirty="0">
                <a:solidFill>
                  <a:srgbClr val="5F7271"/>
                </a:solidFill>
                <a:latin typeface="Calibri" pitchFamily="34" charset="0"/>
                <a:ea typeface="Calibri" pitchFamily="34" charset="-122"/>
                <a:cs typeface="Calibri" pitchFamily="34" charset="-120"/>
              </a:rPr>
              <a:t>When the documents do not hold the answer, it says so. A general-knowledge reply is always flagged.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UNDERSTANDING RAG</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Retrieval-Augmented Generation</a:t>
            </a:r>
            <a:endParaRPr lang="en-US" sz="3400" dirty="0"/>
          </a:p>
        </p:txBody>
      </p:sp>
      <p:sp>
        <p:nvSpPr>
          <p:cNvPr id="4" name="Text 2"/>
          <p:cNvSpPr txBox="1"/>
          <p:nvPr/>
        </p:nvSpPr>
        <p:spPr>
          <a:xfrm>
            <a:off x="566928" y="1280160"/>
            <a:ext cx="10424160" cy="548640"/>
          </a:xfrm>
          <a:prstGeom prst="rect">
            <a:avLst/>
          </a:prstGeom>
          <a:noFill/>
          <a:ln/>
        </p:spPr>
        <p:txBody>
          <a:bodyPr wrap="square" lIns="0" tIns="0" rIns="0" bIns="0" rtlCol="0" anchor="t"/>
          <a:lstStyle/>
          <a:p>
            <a:pPr marL="0" indent="0">
              <a:lnSpc>
                <a:spcPts val="2000"/>
              </a:lnSpc>
              <a:buNone/>
            </a:pPr>
            <a:r>
              <a:rPr lang="en-US" sz="1450" dirty="0">
                <a:solidFill>
                  <a:srgbClr val="5F7271"/>
                </a:solidFill>
                <a:latin typeface="Calibri" pitchFamily="34" charset="0"/>
                <a:ea typeface="Calibri" pitchFamily="34" charset="-122"/>
                <a:cs typeface="Calibri" pitchFamily="34" charset="-120"/>
              </a:rPr>
              <a:t>Instead of letting the model answer directly from what it memorised during training, RAG searches the provided documents first and answers only from what it finds.</a:t>
            </a:r>
            <a:endParaRPr lang="en-US" sz="1450" dirty="0"/>
          </a:p>
        </p:txBody>
      </p:sp>
      <p:sp>
        <p:nvSpPr>
          <p:cNvPr id="5" name="Text 3"/>
          <p:cNvSpPr txBox="1"/>
          <p:nvPr/>
        </p:nvSpPr>
        <p:spPr>
          <a:xfrm>
            <a:off x="566928" y="2066544"/>
            <a:ext cx="4572000" cy="274320"/>
          </a:xfrm>
          <a:prstGeom prst="rect">
            <a:avLst/>
          </a:prstGeom>
          <a:noFill/>
          <a:ln/>
        </p:spPr>
        <p:txBody>
          <a:bodyPr wrap="square" lIns="0" tIns="0" rIns="0" bIns="0" rtlCol="0" anchor="ctr"/>
          <a:lstStyle/>
          <a:p>
            <a:pPr marL="0" indent="0">
              <a:buNone/>
            </a:pPr>
            <a:r>
              <a:rPr lang="en-US" sz="1200" b="1" kern="0" spc="120" dirty="0">
                <a:solidFill>
                  <a:srgbClr val="5F7271"/>
                </a:solidFill>
                <a:latin typeface="Calibri" pitchFamily="34" charset="0"/>
                <a:ea typeface="Calibri" pitchFamily="34" charset="-122"/>
                <a:cs typeface="Calibri" pitchFamily="34" charset="-120"/>
              </a:rPr>
              <a:t>TRADITIONAL APPROACH</a:t>
            </a:r>
            <a:endParaRPr lang="en-US" sz="1200" dirty="0"/>
          </a:p>
        </p:txBody>
      </p:sp>
      <p:sp>
        <p:nvSpPr>
          <p:cNvPr id="6" name="Text 4"/>
          <p:cNvSpPr txBox="1"/>
          <p:nvPr/>
        </p:nvSpPr>
        <p:spPr>
          <a:xfrm>
            <a:off x="3493008" y="2066544"/>
            <a:ext cx="8131759" cy="274320"/>
          </a:xfrm>
          <a:prstGeom prst="rect">
            <a:avLst/>
          </a:prstGeom>
          <a:noFill/>
          <a:ln/>
        </p:spPr>
        <p:txBody>
          <a:bodyPr wrap="square" lIns="0" tIns="0" rIns="0" bIns="0" rtlCol="0" anchor="ctr"/>
          <a:lstStyle/>
          <a:p>
            <a:pPr marL="0" indent="0" algn="r">
              <a:buNone/>
            </a:pPr>
            <a:r>
              <a:rPr lang="en-US" sz="1100" dirty="0">
                <a:solidFill>
                  <a:srgbClr val="5F7271"/>
                </a:solidFill>
                <a:latin typeface="Calibri" pitchFamily="34" charset="0"/>
                <a:ea typeface="Calibri" pitchFamily="34" charset="-122"/>
                <a:cs typeface="Calibri" pitchFamily="34" charset="-120"/>
              </a:rPr>
              <a:t>answers from memory — no source to check</a:t>
            </a:r>
            <a:endParaRPr lang="en-US" sz="1100" dirty="0"/>
          </a:p>
        </p:txBody>
      </p:sp>
      <p:sp>
        <p:nvSpPr>
          <p:cNvPr id="7" name="Shape 5"/>
          <p:cNvSpPr/>
          <p:nvPr/>
        </p:nvSpPr>
        <p:spPr>
          <a:xfrm>
            <a:off x="566928" y="2432304"/>
            <a:ext cx="3381146" cy="914400"/>
          </a:xfrm>
          <a:prstGeom prst="roundRect">
            <a:avLst>
              <a:gd name="adj" fmla="val 10000"/>
            </a:avLst>
          </a:prstGeom>
          <a:solidFill>
            <a:srgbClr val="EFF4F3"/>
          </a:solidFill>
          <a:ln w="15875">
            <a:solidFill>
              <a:srgbClr val="CFDEDB"/>
            </a:solidFill>
            <a:prstDash val="solid"/>
          </a:ln>
        </p:spPr>
        <p:txBody>
          <a:bodyPr/>
          <a:lstStyle/>
          <a:p>
            <a:endParaRPr dirty="0"/>
          </a:p>
        </p:txBody>
      </p:sp>
      <p:sp>
        <p:nvSpPr>
          <p:cNvPr id="8" name="Text 6"/>
          <p:cNvSpPr txBox="1"/>
          <p:nvPr/>
        </p:nvSpPr>
        <p:spPr>
          <a:xfrm>
            <a:off x="658368" y="2432304"/>
            <a:ext cx="3198266" cy="914400"/>
          </a:xfrm>
          <a:prstGeom prst="rect">
            <a:avLst/>
          </a:prstGeom>
          <a:noFill/>
          <a:ln/>
        </p:spPr>
        <p:txBody>
          <a:bodyPr wrap="square" lIns="0" tIns="0" rIns="0" bIns="0" rtlCol="0" anchor="ctr"/>
          <a:lstStyle/>
          <a:p>
            <a:pPr marL="0" indent="0" algn="ctr">
              <a:buNone/>
            </a:pPr>
            <a:r>
              <a:rPr lang="en-US" sz="1300" b="1" dirty="0">
                <a:solidFill>
                  <a:srgbClr val="5F7271"/>
                </a:solidFill>
                <a:latin typeface="Calibri" pitchFamily="34" charset="0"/>
                <a:ea typeface="Calibri" pitchFamily="34" charset="-122"/>
                <a:cs typeface="Calibri" pitchFamily="34" charset="-120"/>
              </a:rPr>
              <a:t>Question</a:t>
            </a:r>
            <a:endParaRPr lang="en-US" sz="1300" dirty="0"/>
          </a:p>
        </p:txBody>
      </p:sp>
      <p:sp>
        <p:nvSpPr>
          <p:cNvPr id="9" name="Shape 7"/>
          <p:cNvSpPr/>
          <p:nvPr/>
        </p:nvSpPr>
        <p:spPr>
          <a:xfrm>
            <a:off x="4039514" y="2752344"/>
            <a:ext cx="274320" cy="274320"/>
          </a:xfrm>
          <a:prstGeom prst="rightArrow">
            <a:avLst/>
          </a:prstGeom>
          <a:solidFill>
            <a:srgbClr val="CFDEDB"/>
          </a:solidFill>
          <a:ln w="12700">
            <a:solidFill>
              <a:srgbClr val="CFDEDB"/>
            </a:solidFill>
            <a:prstDash val="solid"/>
          </a:ln>
        </p:spPr>
        <p:txBody>
          <a:bodyPr/>
          <a:lstStyle/>
          <a:p>
            <a:endParaRPr dirty="0"/>
          </a:p>
        </p:txBody>
      </p:sp>
      <p:sp>
        <p:nvSpPr>
          <p:cNvPr id="10" name="Shape 8"/>
          <p:cNvSpPr/>
          <p:nvPr/>
        </p:nvSpPr>
        <p:spPr>
          <a:xfrm>
            <a:off x="4405274" y="2432304"/>
            <a:ext cx="3381146" cy="914400"/>
          </a:xfrm>
          <a:prstGeom prst="roundRect">
            <a:avLst>
              <a:gd name="adj" fmla="val 10000"/>
            </a:avLst>
          </a:prstGeom>
          <a:solidFill>
            <a:srgbClr val="EFF4F3"/>
          </a:solidFill>
          <a:ln w="15875">
            <a:solidFill>
              <a:srgbClr val="CFDEDB"/>
            </a:solidFill>
            <a:prstDash val="solid"/>
          </a:ln>
        </p:spPr>
        <p:txBody>
          <a:bodyPr/>
          <a:lstStyle/>
          <a:p>
            <a:endParaRPr dirty="0"/>
          </a:p>
        </p:txBody>
      </p:sp>
      <p:sp>
        <p:nvSpPr>
          <p:cNvPr id="11" name="Text 9"/>
          <p:cNvSpPr txBox="1"/>
          <p:nvPr/>
        </p:nvSpPr>
        <p:spPr>
          <a:xfrm>
            <a:off x="4496714" y="2432304"/>
            <a:ext cx="3198266" cy="914400"/>
          </a:xfrm>
          <a:prstGeom prst="rect">
            <a:avLst/>
          </a:prstGeom>
          <a:noFill/>
          <a:ln/>
        </p:spPr>
        <p:txBody>
          <a:bodyPr wrap="square" lIns="0" tIns="0" rIns="0" bIns="0" rtlCol="0" anchor="ctr"/>
          <a:lstStyle/>
          <a:p>
            <a:pPr marL="0" indent="0" algn="ctr">
              <a:buNone/>
            </a:pPr>
            <a:r>
              <a:rPr lang="en-US" sz="1300" b="1" dirty="0">
                <a:solidFill>
                  <a:srgbClr val="5F7271"/>
                </a:solidFill>
                <a:latin typeface="Calibri" pitchFamily="34" charset="0"/>
                <a:ea typeface="Calibri" pitchFamily="34" charset="-122"/>
                <a:cs typeface="Calibri" pitchFamily="34" charset="-120"/>
              </a:rPr>
              <a:t>LLM</a:t>
            </a:r>
            <a:endParaRPr lang="en-US" sz="1300" dirty="0"/>
          </a:p>
        </p:txBody>
      </p:sp>
      <p:sp>
        <p:nvSpPr>
          <p:cNvPr id="12" name="Shape 10"/>
          <p:cNvSpPr/>
          <p:nvPr/>
        </p:nvSpPr>
        <p:spPr>
          <a:xfrm>
            <a:off x="7877861" y="2752344"/>
            <a:ext cx="274320" cy="274320"/>
          </a:xfrm>
          <a:prstGeom prst="rightArrow">
            <a:avLst/>
          </a:prstGeom>
          <a:solidFill>
            <a:srgbClr val="CFDEDB"/>
          </a:solidFill>
          <a:ln w="12700">
            <a:solidFill>
              <a:srgbClr val="CFDEDB"/>
            </a:solidFill>
            <a:prstDash val="solid"/>
          </a:ln>
        </p:spPr>
        <p:txBody>
          <a:bodyPr/>
          <a:lstStyle/>
          <a:p>
            <a:endParaRPr dirty="0"/>
          </a:p>
        </p:txBody>
      </p:sp>
      <p:sp>
        <p:nvSpPr>
          <p:cNvPr id="13" name="Shape 11"/>
          <p:cNvSpPr/>
          <p:nvPr/>
        </p:nvSpPr>
        <p:spPr>
          <a:xfrm>
            <a:off x="8243621" y="2432304"/>
            <a:ext cx="3381146" cy="914400"/>
          </a:xfrm>
          <a:prstGeom prst="roundRect">
            <a:avLst>
              <a:gd name="adj" fmla="val 10000"/>
            </a:avLst>
          </a:prstGeom>
          <a:solidFill>
            <a:srgbClr val="EFF4F3"/>
          </a:solidFill>
          <a:ln w="15875">
            <a:solidFill>
              <a:srgbClr val="CFDEDB"/>
            </a:solidFill>
            <a:prstDash val="solid"/>
          </a:ln>
        </p:spPr>
        <p:txBody>
          <a:bodyPr/>
          <a:lstStyle/>
          <a:p>
            <a:endParaRPr dirty="0"/>
          </a:p>
        </p:txBody>
      </p:sp>
      <p:sp>
        <p:nvSpPr>
          <p:cNvPr id="14" name="Text 12"/>
          <p:cNvSpPr txBox="1"/>
          <p:nvPr/>
        </p:nvSpPr>
        <p:spPr>
          <a:xfrm>
            <a:off x="8335061" y="2432304"/>
            <a:ext cx="3198266" cy="914400"/>
          </a:xfrm>
          <a:prstGeom prst="rect">
            <a:avLst/>
          </a:prstGeom>
          <a:noFill/>
          <a:ln/>
        </p:spPr>
        <p:txBody>
          <a:bodyPr wrap="square" lIns="0" tIns="0" rIns="0" bIns="0" rtlCol="0" anchor="ctr"/>
          <a:lstStyle/>
          <a:p>
            <a:pPr marL="0" indent="0" algn="ctr">
              <a:buNone/>
            </a:pPr>
            <a:r>
              <a:rPr lang="en-US" sz="1300" b="1" dirty="0">
                <a:solidFill>
                  <a:srgbClr val="5F7271"/>
                </a:solidFill>
                <a:latin typeface="Calibri" pitchFamily="34" charset="0"/>
                <a:ea typeface="Calibri" pitchFamily="34" charset="-122"/>
                <a:cs typeface="Calibri" pitchFamily="34" charset="-120"/>
              </a:rPr>
              <a:t>Answer</a:t>
            </a:r>
            <a:endParaRPr lang="en-US" sz="1300" dirty="0"/>
          </a:p>
        </p:txBody>
      </p:sp>
      <p:sp>
        <p:nvSpPr>
          <p:cNvPr id="15" name="Text 13"/>
          <p:cNvSpPr txBox="1"/>
          <p:nvPr/>
        </p:nvSpPr>
        <p:spPr>
          <a:xfrm>
            <a:off x="566928" y="3639312"/>
            <a:ext cx="4572000" cy="274320"/>
          </a:xfrm>
          <a:prstGeom prst="rect">
            <a:avLst/>
          </a:prstGeom>
          <a:noFill/>
          <a:ln/>
        </p:spPr>
        <p:txBody>
          <a:bodyPr wrap="square" lIns="0" tIns="0" rIns="0" bIns="0" rtlCol="0" anchor="ctr"/>
          <a:lstStyle/>
          <a:p>
            <a:pPr marL="0" indent="0">
              <a:buNone/>
            </a:pPr>
            <a:r>
              <a:rPr lang="en-US" sz="1200" b="1" kern="0" spc="120" dirty="0">
                <a:solidFill>
                  <a:srgbClr val="1C7C7C"/>
                </a:solidFill>
                <a:latin typeface="Calibri" pitchFamily="34" charset="0"/>
                <a:ea typeface="Calibri" pitchFamily="34" charset="-122"/>
                <a:cs typeface="Calibri" pitchFamily="34" charset="-120"/>
              </a:rPr>
              <a:t>OUR RAG APPROACH</a:t>
            </a:r>
            <a:endParaRPr lang="en-US" sz="1200" dirty="0"/>
          </a:p>
        </p:txBody>
      </p:sp>
      <p:sp>
        <p:nvSpPr>
          <p:cNvPr id="16" name="Text 14"/>
          <p:cNvSpPr txBox="1"/>
          <p:nvPr/>
        </p:nvSpPr>
        <p:spPr>
          <a:xfrm>
            <a:off x="3493008" y="3639312"/>
            <a:ext cx="8131759" cy="274320"/>
          </a:xfrm>
          <a:prstGeom prst="rect">
            <a:avLst/>
          </a:prstGeom>
          <a:noFill/>
          <a:ln/>
        </p:spPr>
        <p:txBody>
          <a:bodyPr wrap="square" lIns="0" tIns="0" rIns="0" bIns="0" rtlCol="0" anchor="ctr"/>
          <a:lstStyle/>
          <a:p>
            <a:pPr marL="0" indent="0" algn="r">
              <a:buNone/>
            </a:pPr>
            <a:r>
              <a:rPr lang="en-US" sz="1100" dirty="0">
                <a:solidFill>
                  <a:srgbClr val="5F7271"/>
                </a:solidFill>
                <a:latin typeface="Calibri" pitchFamily="34" charset="0"/>
                <a:ea typeface="Calibri" pitchFamily="34" charset="-122"/>
                <a:cs typeface="Calibri" pitchFamily="34" charset="-120"/>
              </a:rPr>
              <a:t>answers from the documents — every claim traceable</a:t>
            </a:r>
            <a:endParaRPr lang="en-US" sz="1100" dirty="0"/>
          </a:p>
        </p:txBody>
      </p:sp>
      <p:sp>
        <p:nvSpPr>
          <p:cNvPr id="17" name="Shape 15"/>
          <p:cNvSpPr/>
          <p:nvPr/>
        </p:nvSpPr>
        <p:spPr>
          <a:xfrm>
            <a:off x="566928" y="4005072"/>
            <a:ext cx="2421560" cy="914400"/>
          </a:xfrm>
          <a:prstGeom prst="roundRect">
            <a:avLst>
              <a:gd name="adj" fmla="val 10000"/>
            </a:avLst>
          </a:prstGeom>
          <a:solidFill>
            <a:srgbClr val="FFFFFF"/>
          </a:solidFill>
          <a:ln w="15875">
            <a:solidFill>
              <a:srgbClr val="1C7C7C"/>
            </a:solidFill>
            <a:prstDash val="solid"/>
          </a:ln>
        </p:spPr>
        <p:txBody>
          <a:bodyPr/>
          <a:lstStyle/>
          <a:p>
            <a:endParaRPr dirty="0"/>
          </a:p>
        </p:txBody>
      </p:sp>
      <p:sp>
        <p:nvSpPr>
          <p:cNvPr id="18" name="Text 16"/>
          <p:cNvSpPr txBox="1"/>
          <p:nvPr/>
        </p:nvSpPr>
        <p:spPr>
          <a:xfrm>
            <a:off x="658368" y="4005072"/>
            <a:ext cx="2238680" cy="914400"/>
          </a:xfrm>
          <a:prstGeom prst="rect">
            <a:avLst/>
          </a:prstGeom>
          <a:noFill/>
          <a:ln/>
        </p:spPr>
        <p:txBody>
          <a:bodyPr wrap="square" lIns="0" tIns="0" rIns="0" bIns="0" rtlCol="0" anchor="ctr"/>
          <a:lstStyle/>
          <a:p>
            <a:pPr marL="0" indent="0" algn="ctr">
              <a:buNone/>
            </a:pPr>
            <a:r>
              <a:rPr lang="en-US" sz="1300" b="1" dirty="0">
                <a:solidFill>
                  <a:srgbClr val="172B2B"/>
                </a:solidFill>
                <a:latin typeface="Calibri" pitchFamily="34" charset="0"/>
                <a:ea typeface="Calibri" pitchFamily="34" charset="-122"/>
                <a:cs typeface="Calibri" pitchFamily="34" charset="-120"/>
              </a:rPr>
              <a:t>Question</a:t>
            </a:r>
            <a:endParaRPr lang="en-US" sz="1300" dirty="0"/>
          </a:p>
        </p:txBody>
      </p:sp>
      <p:sp>
        <p:nvSpPr>
          <p:cNvPr id="19" name="Shape 17"/>
          <p:cNvSpPr/>
          <p:nvPr/>
        </p:nvSpPr>
        <p:spPr>
          <a:xfrm>
            <a:off x="3079928" y="4325112"/>
            <a:ext cx="274320" cy="274320"/>
          </a:xfrm>
          <a:prstGeom prst="rightArrow">
            <a:avLst/>
          </a:prstGeom>
          <a:solidFill>
            <a:srgbClr val="5AA39C"/>
          </a:solidFill>
          <a:ln w="12700">
            <a:solidFill>
              <a:srgbClr val="5AA39C"/>
            </a:solidFill>
            <a:prstDash val="solid"/>
          </a:ln>
        </p:spPr>
        <p:txBody>
          <a:bodyPr/>
          <a:lstStyle/>
          <a:p>
            <a:endParaRPr dirty="0"/>
          </a:p>
        </p:txBody>
      </p:sp>
      <p:sp>
        <p:nvSpPr>
          <p:cNvPr id="20" name="Shape 18"/>
          <p:cNvSpPr/>
          <p:nvPr/>
        </p:nvSpPr>
        <p:spPr>
          <a:xfrm>
            <a:off x="3445688" y="4005072"/>
            <a:ext cx="2421560" cy="914400"/>
          </a:xfrm>
          <a:prstGeom prst="roundRect">
            <a:avLst>
              <a:gd name="adj" fmla="val 10000"/>
            </a:avLst>
          </a:prstGeom>
          <a:solidFill>
            <a:srgbClr val="FFFFFF"/>
          </a:solidFill>
          <a:ln w="15875">
            <a:solidFill>
              <a:srgbClr val="1C7C7C"/>
            </a:solidFill>
            <a:prstDash val="solid"/>
          </a:ln>
        </p:spPr>
        <p:txBody>
          <a:bodyPr/>
          <a:lstStyle/>
          <a:p>
            <a:endParaRPr dirty="0"/>
          </a:p>
        </p:txBody>
      </p:sp>
      <p:sp>
        <p:nvSpPr>
          <p:cNvPr id="21" name="Text 19"/>
          <p:cNvSpPr txBox="1"/>
          <p:nvPr/>
        </p:nvSpPr>
        <p:spPr>
          <a:xfrm>
            <a:off x="3537128" y="4005072"/>
            <a:ext cx="2238680" cy="914400"/>
          </a:xfrm>
          <a:prstGeom prst="rect">
            <a:avLst/>
          </a:prstGeom>
          <a:noFill/>
          <a:ln/>
        </p:spPr>
        <p:txBody>
          <a:bodyPr wrap="square" lIns="0" tIns="0" rIns="0" bIns="0" rtlCol="0" anchor="ctr"/>
          <a:lstStyle/>
          <a:p>
            <a:pPr marL="0" indent="0" algn="ctr">
              <a:buNone/>
            </a:pPr>
            <a:r>
              <a:rPr lang="en-US" sz="1300" b="1" dirty="0">
                <a:solidFill>
                  <a:srgbClr val="172B2B"/>
                </a:solidFill>
                <a:latin typeface="Calibri" pitchFamily="34" charset="0"/>
                <a:ea typeface="Calibri" pitchFamily="34" charset="-122"/>
                <a:cs typeface="Calibri" pitchFamily="34" charset="-120"/>
              </a:rPr>
              <a:t>Retrieve Relevant Content</a:t>
            </a:r>
            <a:endParaRPr lang="en-US" sz="1300" dirty="0"/>
          </a:p>
        </p:txBody>
      </p:sp>
      <p:sp>
        <p:nvSpPr>
          <p:cNvPr id="22" name="Shape 20"/>
          <p:cNvSpPr/>
          <p:nvPr/>
        </p:nvSpPr>
        <p:spPr>
          <a:xfrm>
            <a:off x="5958688" y="4325112"/>
            <a:ext cx="274320" cy="274320"/>
          </a:xfrm>
          <a:prstGeom prst="rightArrow">
            <a:avLst/>
          </a:prstGeom>
          <a:solidFill>
            <a:srgbClr val="5AA39C"/>
          </a:solidFill>
          <a:ln w="12700">
            <a:solidFill>
              <a:srgbClr val="5AA39C"/>
            </a:solidFill>
            <a:prstDash val="solid"/>
          </a:ln>
        </p:spPr>
        <p:txBody>
          <a:bodyPr/>
          <a:lstStyle/>
          <a:p>
            <a:endParaRPr dirty="0"/>
          </a:p>
        </p:txBody>
      </p:sp>
      <p:sp>
        <p:nvSpPr>
          <p:cNvPr id="23" name="Shape 21"/>
          <p:cNvSpPr/>
          <p:nvPr/>
        </p:nvSpPr>
        <p:spPr>
          <a:xfrm>
            <a:off x="6324448" y="4005072"/>
            <a:ext cx="2421560" cy="914400"/>
          </a:xfrm>
          <a:prstGeom prst="roundRect">
            <a:avLst>
              <a:gd name="adj" fmla="val 10000"/>
            </a:avLst>
          </a:prstGeom>
          <a:solidFill>
            <a:srgbClr val="FFFFFF"/>
          </a:solidFill>
          <a:ln w="15875">
            <a:solidFill>
              <a:srgbClr val="1C7C7C"/>
            </a:solidFill>
            <a:prstDash val="solid"/>
          </a:ln>
        </p:spPr>
        <p:txBody>
          <a:bodyPr/>
          <a:lstStyle/>
          <a:p>
            <a:endParaRPr dirty="0"/>
          </a:p>
        </p:txBody>
      </p:sp>
      <p:sp>
        <p:nvSpPr>
          <p:cNvPr id="24" name="Text 22"/>
          <p:cNvSpPr txBox="1"/>
          <p:nvPr/>
        </p:nvSpPr>
        <p:spPr>
          <a:xfrm>
            <a:off x="6415888" y="4005072"/>
            <a:ext cx="2238680" cy="914400"/>
          </a:xfrm>
          <a:prstGeom prst="rect">
            <a:avLst/>
          </a:prstGeom>
          <a:noFill/>
          <a:ln/>
        </p:spPr>
        <p:txBody>
          <a:bodyPr wrap="square" lIns="0" tIns="0" rIns="0" bIns="0" rtlCol="0" anchor="ctr"/>
          <a:lstStyle/>
          <a:p>
            <a:pPr marL="0" indent="0" algn="ctr">
              <a:buNone/>
            </a:pPr>
            <a:r>
              <a:rPr lang="en-US" sz="1300" b="1" dirty="0">
                <a:solidFill>
                  <a:srgbClr val="172B2B"/>
                </a:solidFill>
                <a:latin typeface="Calibri" pitchFamily="34" charset="0"/>
                <a:ea typeface="Calibri" pitchFamily="34" charset="-122"/>
                <a:cs typeface="Calibri" pitchFamily="34" charset="-120"/>
              </a:rPr>
              <a:t>LLM</a:t>
            </a:r>
            <a:endParaRPr lang="en-US" sz="1300" dirty="0"/>
          </a:p>
        </p:txBody>
      </p:sp>
      <p:sp>
        <p:nvSpPr>
          <p:cNvPr id="25" name="Shape 23"/>
          <p:cNvSpPr/>
          <p:nvPr/>
        </p:nvSpPr>
        <p:spPr>
          <a:xfrm>
            <a:off x="8837447" y="4325112"/>
            <a:ext cx="274320" cy="274320"/>
          </a:xfrm>
          <a:prstGeom prst="rightArrow">
            <a:avLst/>
          </a:prstGeom>
          <a:solidFill>
            <a:srgbClr val="5AA39C"/>
          </a:solidFill>
          <a:ln w="12700">
            <a:solidFill>
              <a:srgbClr val="5AA39C"/>
            </a:solidFill>
            <a:prstDash val="solid"/>
          </a:ln>
        </p:spPr>
        <p:txBody>
          <a:bodyPr/>
          <a:lstStyle/>
          <a:p>
            <a:endParaRPr dirty="0"/>
          </a:p>
        </p:txBody>
      </p:sp>
      <p:sp>
        <p:nvSpPr>
          <p:cNvPr id="26" name="Shape 24"/>
          <p:cNvSpPr/>
          <p:nvPr/>
        </p:nvSpPr>
        <p:spPr>
          <a:xfrm>
            <a:off x="9203207" y="4005072"/>
            <a:ext cx="2421560" cy="914400"/>
          </a:xfrm>
          <a:prstGeom prst="roundRect">
            <a:avLst>
              <a:gd name="adj" fmla="val 10000"/>
            </a:avLst>
          </a:prstGeom>
          <a:solidFill>
            <a:srgbClr val="12545A"/>
          </a:solidFill>
          <a:ln w="15875">
            <a:solidFill>
              <a:srgbClr val="12545A"/>
            </a:solidFill>
            <a:prstDash val="solid"/>
          </a:ln>
        </p:spPr>
        <p:txBody>
          <a:bodyPr/>
          <a:lstStyle/>
          <a:p>
            <a:endParaRPr dirty="0"/>
          </a:p>
        </p:txBody>
      </p:sp>
      <p:sp>
        <p:nvSpPr>
          <p:cNvPr id="27" name="Text 25"/>
          <p:cNvSpPr txBox="1"/>
          <p:nvPr/>
        </p:nvSpPr>
        <p:spPr>
          <a:xfrm>
            <a:off x="9294647" y="4005072"/>
            <a:ext cx="2238680"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Grounded Answer</a:t>
            </a:r>
            <a:endParaRPr lang="en-US" sz="1300" dirty="0"/>
          </a:p>
        </p:txBody>
      </p:sp>
      <p:sp>
        <p:nvSpPr>
          <p:cNvPr id="28" name="Shape 26"/>
          <p:cNvSpPr/>
          <p:nvPr/>
        </p:nvSpPr>
        <p:spPr>
          <a:xfrm>
            <a:off x="566928" y="5230368"/>
            <a:ext cx="11057839" cy="1097280"/>
          </a:xfrm>
          <a:prstGeom prst="roundRect">
            <a:avLst>
              <a:gd name="adj" fmla="val 10000"/>
            </a:avLst>
          </a:prstGeom>
          <a:solidFill>
            <a:srgbClr val="0E2F30"/>
          </a:solidFill>
          <a:ln w="12700">
            <a:solidFill>
              <a:srgbClr val="0E2F30"/>
            </a:solidFill>
            <a:prstDash val="solid"/>
          </a:ln>
        </p:spPr>
        <p:txBody>
          <a:bodyPr/>
          <a:lstStyle/>
          <a:p>
            <a:endParaRPr dirty="0"/>
          </a:p>
        </p:txBody>
      </p:sp>
      <p:sp>
        <p:nvSpPr>
          <p:cNvPr id="29" name="Shape 27"/>
          <p:cNvSpPr/>
          <p:nvPr/>
        </p:nvSpPr>
        <p:spPr>
          <a:xfrm>
            <a:off x="896112" y="5541264"/>
            <a:ext cx="475488" cy="475488"/>
          </a:xfrm>
          <a:prstGeom prst="ellipse">
            <a:avLst/>
          </a:prstGeom>
          <a:solidFill>
            <a:srgbClr val="E8A33D"/>
          </a:solidFill>
          <a:ln w="12700">
            <a:solidFill>
              <a:srgbClr val="E8A33D"/>
            </a:solidFill>
            <a:prstDash val="solid"/>
          </a:ln>
        </p:spPr>
        <p:txBody>
          <a:bodyPr/>
          <a:lstStyle/>
          <a:p>
            <a:endParaRPr dirty="0"/>
          </a:p>
        </p:txBody>
      </p:sp>
      <p:pic>
        <p:nvPicPr>
          <p:cNvPr id="30" name="Image 0" descr="preencoded.png"/>
          <p:cNvPicPr>
            <a:picLocks noChangeAspect="1"/>
          </p:cNvPicPr>
          <p:nvPr/>
        </p:nvPicPr>
        <p:blipFill>
          <a:blip r:embed="rId3"/>
          <a:stretch>
            <a:fillRect/>
          </a:stretch>
        </p:blipFill>
        <p:spPr>
          <a:xfrm>
            <a:off x="1019739" y="5664891"/>
            <a:ext cx="228234" cy="228234"/>
          </a:xfrm>
          <a:prstGeom prst="rect">
            <a:avLst/>
          </a:prstGeom>
        </p:spPr>
      </p:pic>
      <p:sp>
        <p:nvSpPr>
          <p:cNvPr id="31" name="Text 28"/>
          <p:cNvSpPr txBox="1"/>
          <p:nvPr/>
        </p:nvSpPr>
        <p:spPr>
          <a:xfrm>
            <a:off x="1517904" y="5376672"/>
            <a:ext cx="9741103" cy="804672"/>
          </a:xfrm>
          <a:prstGeom prst="rect">
            <a:avLst/>
          </a:prstGeom>
          <a:noFill/>
          <a:ln/>
        </p:spPr>
        <p:txBody>
          <a:bodyPr wrap="square" lIns="0" tIns="0" rIns="0" bIns="0" rtlCol="0" anchor="ctr"/>
          <a:lstStyle/>
          <a:p>
            <a:pPr marL="0" indent="0">
              <a:lnSpc>
                <a:spcPts val="2100"/>
              </a:lnSpc>
              <a:buNone/>
            </a:pPr>
            <a:r>
              <a:rPr lang="en-US" sz="1450" b="1" dirty="0">
                <a:solidFill>
                  <a:srgbClr val="E8A33D"/>
                </a:solidFill>
                <a:latin typeface="Calibri" pitchFamily="34" charset="0"/>
                <a:ea typeface="Calibri" pitchFamily="34" charset="-122"/>
                <a:cs typeface="Calibri" pitchFamily="34" charset="-120"/>
              </a:rPr>
              <a:t>Main benefit: </a:t>
            </a:r>
            <a:r>
              <a:rPr lang="en-US" sz="1450" dirty="0">
                <a:solidFill>
                  <a:srgbClr val="FFFFFF"/>
                </a:solidFill>
                <a:latin typeface="Calibri" pitchFamily="34" charset="0"/>
                <a:ea typeface="Calibri" pitchFamily="34" charset="-122"/>
                <a:cs typeface="Calibri" pitchFamily="34" charset="-120"/>
              </a:rPr>
              <a:t>the answer is generated from information retrieved out of the provided documents, so every claim can be checked against the exact page it came from.</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SYSTEM METHODOLOGY</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How the system works</a:t>
            </a:r>
            <a:endParaRPr lang="en-US" sz="3400" dirty="0"/>
          </a:p>
        </p:txBody>
      </p:sp>
      <p:sp>
        <p:nvSpPr>
          <p:cNvPr id="4" name="Text 2"/>
          <p:cNvSpPr txBox="1"/>
          <p:nvPr/>
        </p:nvSpPr>
        <p:spPr>
          <a:xfrm>
            <a:off x="566928" y="1280160"/>
            <a:ext cx="5486400" cy="256032"/>
          </a:xfrm>
          <a:prstGeom prst="rect">
            <a:avLst/>
          </a:prstGeom>
          <a:noFill/>
          <a:ln/>
        </p:spPr>
        <p:txBody>
          <a:bodyPr wrap="square" lIns="0" tIns="0" rIns="0" bIns="0" rtlCol="0" anchor="ctr"/>
          <a:lstStyle/>
          <a:p>
            <a:pPr marL="0" indent="0">
              <a:buNone/>
            </a:pPr>
            <a:r>
              <a:rPr lang="en-US" sz="1150" b="1" kern="0" spc="140" dirty="0">
                <a:solidFill>
                  <a:srgbClr val="1C7C7C"/>
                </a:solidFill>
                <a:latin typeface="Calibri" pitchFamily="34" charset="0"/>
                <a:ea typeface="Calibri" pitchFamily="34" charset="-122"/>
                <a:cs typeface="Calibri" pitchFamily="34" charset="-120"/>
              </a:rPr>
              <a:t>DOCUMENT PROCESSING PIPELINE</a:t>
            </a:r>
            <a:endParaRPr lang="en-US" sz="1150" dirty="0"/>
          </a:p>
        </p:txBody>
      </p:sp>
      <p:sp>
        <p:nvSpPr>
          <p:cNvPr id="5" name="Shape 3"/>
          <p:cNvSpPr/>
          <p:nvPr/>
        </p:nvSpPr>
        <p:spPr>
          <a:xfrm>
            <a:off x="566928" y="1645920"/>
            <a:ext cx="1948221"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6" name="Text 4"/>
          <p:cNvSpPr txBox="1"/>
          <p:nvPr/>
        </p:nvSpPr>
        <p:spPr>
          <a:xfrm>
            <a:off x="676656" y="2212848"/>
            <a:ext cx="1728765"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Multiple</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Documents</a:t>
            </a:r>
            <a:endParaRPr lang="en-US" sz="1200" dirty="0"/>
          </a:p>
        </p:txBody>
      </p:sp>
      <p:sp>
        <p:nvSpPr>
          <p:cNvPr id="7" name="Shape 5"/>
          <p:cNvSpPr/>
          <p:nvPr/>
        </p:nvSpPr>
        <p:spPr>
          <a:xfrm>
            <a:off x="2560869" y="2130552"/>
            <a:ext cx="237744" cy="237744"/>
          </a:xfrm>
          <a:prstGeom prst="rightArrow">
            <a:avLst/>
          </a:prstGeom>
          <a:solidFill>
            <a:srgbClr val="5AA39C"/>
          </a:solidFill>
          <a:ln w="12700">
            <a:solidFill>
              <a:srgbClr val="5AA39C"/>
            </a:solidFill>
            <a:prstDash val="solid"/>
          </a:ln>
        </p:spPr>
        <p:txBody>
          <a:bodyPr/>
          <a:lstStyle/>
          <a:p>
            <a:endParaRPr dirty="0"/>
          </a:p>
        </p:txBody>
      </p:sp>
      <p:sp>
        <p:nvSpPr>
          <p:cNvPr id="8" name="Shape 6"/>
          <p:cNvSpPr/>
          <p:nvPr/>
        </p:nvSpPr>
        <p:spPr>
          <a:xfrm>
            <a:off x="2844333" y="1645920"/>
            <a:ext cx="1948221"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9" name="Text 7"/>
          <p:cNvSpPr txBox="1"/>
          <p:nvPr/>
        </p:nvSpPr>
        <p:spPr>
          <a:xfrm>
            <a:off x="2954061" y="2212848"/>
            <a:ext cx="1728765"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Text</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Extraction</a:t>
            </a:r>
            <a:endParaRPr lang="en-US" sz="1200" dirty="0"/>
          </a:p>
        </p:txBody>
      </p:sp>
      <p:sp>
        <p:nvSpPr>
          <p:cNvPr id="10" name="Shape 8"/>
          <p:cNvSpPr/>
          <p:nvPr/>
        </p:nvSpPr>
        <p:spPr>
          <a:xfrm>
            <a:off x="4838273" y="2130552"/>
            <a:ext cx="237744" cy="237744"/>
          </a:xfrm>
          <a:prstGeom prst="rightArrow">
            <a:avLst/>
          </a:prstGeom>
          <a:solidFill>
            <a:srgbClr val="5AA39C"/>
          </a:solidFill>
          <a:ln w="12700">
            <a:solidFill>
              <a:srgbClr val="5AA39C"/>
            </a:solidFill>
            <a:prstDash val="solid"/>
          </a:ln>
        </p:spPr>
        <p:txBody>
          <a:bodyPr/>
          <a:lstStyle/>
          <a:p>
            <a:endParaRPr dirty="0"/>
          </a:p>
        </p:txBody>
      </p:sp>
      <p:sp>
        <p:nvSpPr>
          <p:cNvPr id="11" name="Shape 9"/>
          <p:cNvSpPr/>
          <p:nvPr/>
        </p:nvSpPr>
        <p:spPr>
          <a:xfrm>
            <a:off x="5121737" y="1645920"/>
            <a:ext cx="1948221"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12" name="Text 10"/>
          <p:cNvSpPr txBox="1"/>
          <p:nvPr/>
        </p:nvSpPr>
        <p:spPr>
          <a:xfrm>
            <a:off x="5231465" y="2212848"/>
            <a:ext cx="1728765"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Text</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Chunking</a:t>
            </a:r>
            <a:endParaRPr lang="en-US" sz="1200" dirty="0"/>
          </a:p>
        </p:txBody>
      </p:sp>
      <p:sp>
        <p:nvSpPr>
          <p:cNvPr id="13" name="Shape 11"/>
          <p:cNvSpPr/>
          <p:nvPr/>
        </p:nvSpPr>
        <p:spPr>
          <a:xfrm>
            <a:off x="7115678" y="2130552"/>
            <a:ext cx="237744" cy="237744"/>
          </a:xfrm>
          <a:prstGeom prst="rightArrow">
            <a:avLst/>
          </a:prstGeom>
          <a:solidFill>
            <a:srgbClr val="5AA39C"/>
          </a:solidFill>
          <a:ln w="12700">
            <a:solidFill>
              <a:srgbClr val="5AA39C"/>
            </a:solidFill>
            <a:prstDash val="solid"/>
          </a:ln>
        </p:spPr>
        <p:txBody>
          <a:bodyPr/>
          <a:lstStyle/>
          <a:p>
            <a:endParaRPr dirty="0"/>
          </a:p>
        </p:txBody>
      </p:sp>
      <p:sp>
        <p:nvSpPr>
          <p:cNvPr id="14" name="Shape 12"/>
          <p:cNvSpPr/>
          <p:nvPr/>
        </p:nvSpPr>
        <p:spPr>
          <a:xfrm>
            <a:off x="7399142" y="1645920"/>
            <a:ext cx="1948221"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15" name="Text 13"/>
          <p:cNvSpPr txBox="1"/>
          <p:nvPr/>
        </p:nvSpPr>
        <p:spPr>
          <a:xfrm>
            <a:off x="7508870" y="2212848"/>
            <a:ext cx="1728765"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Embedding</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Generation</a:t>
            </a:r>
            <a:endParaRPr lang="en-US" sz="1200" dirty="0"/>
          </a:p>
        </p:txBody>
      </p:sp>
      <p:sp>
        <p:nvSpPr>
          <p:cNvPr id="16" name="Shape 14"/>
          <p:cNvSpPr/>
          <p:nvPr/>
        </p:nvSpPr>
        <p:spPr>
          <a:xfrm>
            <a:off x="9393083" y="2130552"/>
            <a:ext cx="237744" cy="237744"/>
          </a:xfrm>
          <a:prstGeom prst="rightArrow">
            <a:avLst/>
          </a:prstGeom>
          <a:solidFill>
            <a:srgbClr val="5AA39C"/>
          </a:solidFill>
          <a:ln w="12700">
            <a:solidFill>
              <a:srgbClr val="5AA39C"/>
            </a:solidFill>
            <a:prstDash val="solid"/>
          </a:ln>
        </p:spPr>
        <p:txBody>
          <a:bodyPr/>
          <a:lstStyle/>
          <a:p>
            <a:endParaRPr dirty="0"/>
          </a:p>
        </p:txBody>
      </p:sp>
      <p:sp>
        <p:nvSpPr>
          <p:cNvPr id="17" name="Shape 15"/>
          <p:cNvSpPr/>
          <p:nvPr/>
        </p:nvSpPr>
        <p:spPr>
          <a:xfrm>
            <a:off x="9676547" y="1645920"/>
            <a:ext cx="1948221"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18" name="Text 16"/>
          <p:cNvSpPr txBox="1"/>
          <p:nvPr/>
        </p:nvSpPr>
        <p:spPr>
          <a:xfrm>
            <a:off x="9786275" y="2212848"/>
            <a:ext cx="1728765"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Vector</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Database</a:t>
            </a:r>
            <a:endParaRPr lang="en-US" sz="1200" dirty="0"/>
          </a:p>
        </p:txBody>
      </p:sp>
      <p:pic>
        <p:nvPicPr>
          <p:cNvPr id="19" name="Image 0" descr="preencoded.png"/>
          <p:cNvPicPr>
            <a:picLocks noChangeAspect="1"/>
          </p:cNvPicPr>
          <p:nvPr/>
        </p:nvPicPr>
        <p:blipFill>
          <a:blip r:embed="rId3"/>
          <a:stretch>
            <a:fillRect/>
          </a:stretch>
        </p:blipFill>
        <p:spPr>
          <a:xfrm>
            <a:off x="1403878" y="1920240"/>
            <a:ext cx="274320" cy="274320"/>
          </a:xfrm>
          <a:prstGeom prst="rect">
            <a:avLst/>
          </a:prstGeom>
        </p:spPr>
      </p:pic>
      <p:pic>
        <p:nvPicPr>
          <p:cNvPr id="20" name="Image 1" descr="preencoded.png"/>
          <p:cNvPicPr>
            <a:picLocks noChangeAspect="1"/>
          </p:cNvPicPr>
          <p:nvPr/>
        </p:nvPicPr>
        <p:blipFill>
          <a:blip r:embed="rId4"/>
          <a:stretch>
            <a:fillRect/>
          </a:stretch>
        </p:blipFill>
        <p:spPr>
          <a:xfrm>
            <a:off x="3681283" y="1920240"/>
            <a:ext cx="274320" cy="274320"/>
          </a:xfrm>
          <a:prstGeom prst="rect">
            <a:avLst/>
          </a:prstGeom>
        </p:spPr>
      </p:pic>
      <p:pic>
        <p:nvPicPr>
          <p:cNvPr id="21" name="Image 2" descr="preencoded.png"/>
          <p:cNvPicPr>
            <a:picLocks noChangeAspect="1"/>
          </p:cNvPicPr>
          <p:nvPr/>
        </p:nvPicPr>
        <p:blipFill>
          <a:blip r:embed="rId5"/>
          <a:stretch>
            <a:fillRect/>
          </a:stretch>
        </p:blipFill>
        <p:spPr>
          <a:xfrm>
            <a:off x="5958688" y="1920240"/>
            <a:ext cx="274320" cy="274320"/>
          </a:xfrm>
          <a:prstGeom prst="rect">
            <a:avLst/>
          </a:prstGeom>
        </p:spPr>
      </p:pic>
      <p:pic>
        <p:nvPicPr>
          <p:cNvPr id="22" name="Image 3" descr="preencoded.png"/>
          <p:cNvPicPr>
            <a:picLocks noChangeAspect="1"/>
          </p:cNvPicPr>
          <p:nvPr/>
        </p:nvPicPr>
        <p:blipFill>
          <a:blip r:embed="rId6"/>
          <a:stretch>
            <a:fillRect/>
          </a:stretch>
        </p:blipFill>
        <p:spPr>
          <a:xfrm>
            <a:off x="8236092" y="1920240"/>
            <a:ext cx="274320" cy="274320"/>
          </a:xfrm>
          <a:prstGeom prst="rect">
            <a:avLst/>
          </a:prstGeom>
        </p:spPr>
      </p:pic>
      <p:pic>
        <p:nvPicPr>
          <p:cNvPr id="23" name="Image 4" descr="preencoded.png"/>
          <p:cNvPicPr>
            <a:picLocks noChangeAspect="1"/>
          </p:cNvPicPr>
          <p:nvPr/>
        </p:nvPicPr>
        <p:blipFill>
          <a:blip r:embed="rId7"/>
          <a:stretch>
            <a:fillRect/>
          </a:stretch>
        </p:blipFill>
        <p:spPr>
          <a:xfrm>
            <a:off x="10513497" y="1920240"/>
            <a:ext cx="274320" cy="274320"/>
          </a:xfrm>
          <a:prstGeom prst="rect">
            <a:avLst/>
          </a:prstGeom>
        </p:spPr>
      </p:pic>
      <p:sp>
        <p:nvSpPr>
          <p:cNvPr id="24" name="Text 17"/>
          <p:cNvSpPr txBox="1"/>
          <p:nvPr/>
        </p:nvSpPr>
        <p:spPr>
          <a:xfrm>
            <a:off x="566928" y="3675888"/>
            <a:ext cx="5486400" cy="256032"/>
          </a:xfrm>
          <a:prstGeom prst="rect">
            <a:avLst/>
          </a:prstGeom>
          <a:noFill/>
          <a:ln/>
        </p:spPr>
        <p:txBody>
          <a:bodyPr wrap="square" lIns="0" tIns="0" rIns="0" bIns="0" rtlCol="0" anchor="ctr"/>
          <a:lstStyle/>
          <a:p>
            <a:pPr marL="0" indent="0">
              <a:buNone/>
            </a:pPr>
            <a:r>
              <a:rPr lang="en-US" sz="1150" b="1" kern="0" spc="140" dirty="0">
                <a:solidFill>
                  <a:srgbClr val="9E6A18"/>
                </a:solidFill>
                <a:latin typeface="Calibri" pitchFamily="34" charset="0"/>
                <a:ea typeface="Calibri" pitchFamily="34" charset="-122"/>
                <a:cs typeface="Calibri" pitchFamily="34" charset="-120"/>
              </a:rPr>
              <a:t>QUESTION ANSWERING PIPELINE</a:t>
            </a:r>
            <a:endParaRPr lang="en-US" sz="1150" dirty="0"/>
          </a:p>
        </p:txBody>
      </p:sp>
      <p:sp>
        <p:nvSpPr>
          <p:cNvPr id="25" name="Shape 18"/>
          <p:cNvSpPr/>
          <p:nvPr/>
        </p:nvSpPr>
        <p:spPr>
          <a:xfrm>
            <a:off x="566928" y="4041648"/>
            <a:ext cx="2517572"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26" name="Text 19"/>
          <p:cNvSpPr txBox="1"/>
          <p:nvPr/>
        </p:nvSpPr>
        <p:spPr>
          <a:xfrm>
            <a:off x="676656" y="4608576"/>
            <a:ext cx="2298116"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User</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Question</a:t>
            </a:r>
            <a:endParaRPr lang="en-US" sz="1200" dirty="0"/>
          </a:p>
        </p:txBody>
      </p:sp>
      <p:sp>
        <p:nvSpPr>
          <p:cNvPr id="27" name="Shape 20"/>
          <p:cNvSpPr/>
          <p:nvPr/>
        </p:nvSpPr>
        <p:spPr>
          <a:xfrm>
            <a:off x="3130220" y="4526280"/>
            <a:ext cx="237744" cy="237744"/>
          </a:xfrm>
          <a:prstGeom prst="rightArrow">
            <a:avLst/>
          </a:prstGeom>
          <a:solidFill>
            <a:srgbClr val="5AA39C"/>
          </a:solidFill>
          <a:ln w="12700">
            <a:solidFill>
              <a:srgbClr val="5AA39C"/>
            </a:solidFill>
            <a:prstDash val="solid"/>
          </a:ln>
        </p:spPr>
        <p:txBody>
          <a:bodyPr/>
          <a:lstStyle/>
          <a:p>
            <a:endParaRPr dirty="0"/>
          </a:p>
        </p:txBody>
      </p:sp>
      <p:sp>
        <p:nvSpPr>
          <p:cNvPr id="28" name="Shape 21"/>
          <p:cNvSpPr/>
          <p:nvPr/>
        </p:nvSpPr>
        <p:spPr>
          <a:xfrm>
            <a:off x="3413684" y="4041648"/>
            <a:ext cx="2517572"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29" name="Text 22"/>
          <p:cNvSpPr txBox="1"/>
          <p:nvPr/>
        </p:nvSpPr>
        <p:spPr>
          <a:xfrm>
            <a:off x="3523412" y="4608576"/>
            <a:ext cx="2298116"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Hybrid Search</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&amp; Reranking</a:t>
            </a:r>
            <a:endParaRPr lang="en-US" sz="1200" dirty="0"/>
          </a:p>
        </p:txBody>
      </p:sp>
      <p:sp>
        <p:nvSpPr>
          <p:cNvPr id="30" name="Shape 23"/>
          <p:cNvSpPr/>
          <p:nvPr/>
        </p:nvSpPr>
        <p:spPr>
          <a:xfrm>
            <a:off x="5976976" y="4526280"/>
            <a:ext cx="237744" cy="237744"/>
          </a:xfrm>
          <a:prstGeom prst="rightArrow">
            <a:avLst/>
          </a:prstGeom>
          <a:solidFill>
            <a:srgbClr val="5AA39C"/>
          </a:solidFill>
          <a:ln w="12700">
            <a:solidFill>
              <a:srgbClr val="5AA39C"/>
            </a:solidFill>
            <a:prstDash val="solid"/>
          </a:ln>
        </p:spPr>
        <p:txBody>
          <a:bodyPr/>
          <a:lstStyle/>
          <a:p>
            <a:endParaRPr dirty="0"/>
          </a:p>
        </p:txBody>
      </p:sp>
      <p:sp>
        <p:nvSpPr>
          <p:cNvPr id="31" name="Shape 24"/>
          <p:cNvSpPr/>
          <p:nvPr/>
        </p:nvSpPr>
        <p:spPr>
          <a:xfrm>
            <a:off x="6260440" y="4041648"/>
            <a:ext cx="2517572"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32" name="Text 25"/>
          <p:cNvSpPr txBox="1"/>
          <p:nvPr/>
        </p:nvSpPr>
        <p:spPr>
          <a:xfrm>
            <a:off x="6370168" y="4608576"/>
            <a:ext cx="2298116"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Relevant Context</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 LLM</a:t>
            </a:r>
            <a:endParaRPr lang="en-US" sz="1200" dirty="0"/>
          </a:p>
        </p:txBody>
      </p:sp>
      <p:sp>
        <p:nvSpPr>
          <p:cNvPr id="33" name="Shape 26"/>
          <p:cNvSpPr/>
          <p:nvPr/>
        </p:nvSpPr>
        <p:spPr>
          <a:xfrm>
            <a:off x="8823731" y="4526280"/>
            <a:ext cx="237744" cy="237744"/>
          </a:xfrm>
          <a:prstGeom prst="rightArrow">
            <a:avLst/>
          </a:prstGeom>
          <a:solidFill>
            <a:srgbClr val="5AA39C"/>
          </a:solidFill>
          <a:ln w="12700">
            <a:solidFill>
              <a:srgbClr val="5AA39C"/>
            </a:solidFill>
            <a:prstDash val="solid"/>
          </a:ln>
        </p:spPr>
        <p:txBody>
          <a:bodyPr/>
          <a:lstStyle/>
          <a:p>
            <a:endParaRPr dirty="0"/>
          </a:p>
        </p:txBody>
      </p:sp>
      <p:sp>
        <p:nvSpPr>
          <p:cNvPr id="34" name="Shape 27"/>
          <p:cNvSpPr/>
          <p:nvPr/>
        </p:nvSpPr>
        <p:spPr>
          <a:xfrm>
            <a:off x="9107195" y="4041648"/>
            <a:ext cx="2517572" cy="1207008"/>
          </a:xfrm>
          <a:prstGeom prst="roundRect">
            <a:avLst>
              <a:gd name="adj" fmla="val 7576"/>
            </a:avLst>
          </a:prstGeom>
          <a:solidFill>
            <a:srgbClr val="FFFFFF"/>
          </a:solidFill>
          <a:ln w="15875">
            <a:solidFill>
              <a:srgbClr val="1C7C7C"/>
            </a:solidFill>
            <a:prstDash val="solid"/>
          </a:ln>
          <a:effectLst>
            <a:outerShdw blurRad="101600" dist="19050" dir="5400000" algn="bl" rotWithShape="0">
              <a:srgbClr val="0E2F30">
                <a:alpha val="10000"/>
              </a:srgbClr>
            </a:outerShdw>
          </a:effectLst>
        </p:spPr>
        <p:txBody>
          <a:bodyPr/>
          <a:lstStyle/>
          <a:p>
            <a:endParaRPr dirty="0"/>
          </a:p>
        </p:txBody>
      </p:sp>
      <p:sp>
        <p:nvSpPr>
          <p:cNvPr id="35" name="Text 28"/>
          <p:cNvSpPr txBox="1"/>
          <p:nvPr/>
        </p:nvSpPr>
        <p:spPr>
          <a:xfrm>
            <a:off x="9216923" y="4608576"/>
            <a:ext cx="2298116" cy="548640"/>
          </a:xfrm>
          <a:prstGeom prst="rect">
            <a:avLst/>
          </a:prstGeom>
          <a:noFill/>
          <a:ln/>
        </p:spPr>
        <p:txBody>
          <a:bodyPr wrap="square" lIns="0" tIns="0" rIns="0" bIns="0" rtlCol="0" anchor="t"/>
          <a:lstStyle/>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Answer with</a:t>
            </a:r>
            <a:endParaRPr lang="en-US" sz="1200" dirty="0"/>
          </a:p>
          <a:p>
            <a:pPr marL="0" indent="0" algn="ctr">
              <a:lnSpc>
                <a:spcPts val="1500"/>
              </a:lnSpc>
              <a:buNone/>
            </a:pPr>
            <a:r>
              <a:rPr lang="en-US" sz="1200" b="1" dirty="0">
                <a:solidFill>
                  <a:srgbClr val="172B2B"/>
                </a:solidFill>
                <a:latin typeface="Calibri" pitchFamily="34" charset="0"/>
                <a:ea typeface="Calibri" pitchFamily="34" charset="-122"/>
                <a:cs typeface="Calibri" pitchFamily="34" charset="-120"/>
              </a:rPr>
              <a:t>Citations</a:t>
            </a:r>
            <a:endParaRPr lang="en-US" sz="1200" dirty="0"/>
          </a:p>
        </p:txBody>
      </p:sp>
      <p:pic>
        <p:nvPicPr>
          <p:cNvPr id="36" name="Image 5" descr="preencoded.png"/>
          <p:cNvPicPr>
            <a:picLocks noChangeAspect="1"/>
          </p:cNvPicPr>
          <p:nvPr/>
        </p:nvPicPr>
        <p:blipFill>
          <a:blip r:embed="rId8"/>
          <a:stretch>
            <a:fillRect/>
          </a:stretch>
        </p:blipFill>
        <p:spPr>
          <a:xfrm>
            <a:off x="1688554" y="4315968"/>
            <a:ext cx="274320" cy="274320"/>
          </a:xfrm>
          <a:prstGeom prst="rect">
            <a:avLst/>
          </a:prstGeom>
        </p:spPr>
      </p:pic>
      <p:pic>
        <p:nvPicPr>
          <p:cNvPr id="37" name="Image 6" descr="preencoded.png"/>
          <p:cNvPicPr>
            <a:picLocks noChangeAspect="1"/>
          </p:cNvPicPr>
          <p:nvPr/>
        </p:nvPicPr>
        <p:blipFill>
          <a:blip r:embed="rId9"/>
          <a:stretch>
            <a:fillRect/>
          </a:stretch>
        </p:blipFill>
        <p:spPr>
          <a:xfrm>
            <a:off x="4535310" y="4315968"/>
            <a:ext cx="274320" cy="274320"/>
          </a:xfrm>
          <a:prstGeom prst="rect">
            <a:avLst/>
          </a:prstGeom>
        </p:spPr>
      </p:pic>
      <p:pic>
        <p:nvPicPr>
          <p:cNvPr id="38" name="Image 7" descr="preencoded.png"/>
          <p:cNvPicPr>
            <a:picLocks noChangeAspect="1"/>
          </p:cNvPicPr>
          <p:nvPr/>
        </p:nvPicPr>
        <p:blipFill>
          <a:blip r:embed="rId10"/>
          <a:stretch>
            <a:fillRect/>
          </a:stretch>
        </p:blipFill>
        <p:spPr>
          <a:xfrm>
            <a:off x="7382065" y="4315968"/>
            <a:ext cx="274320" cy="274320"/>
          </a:xfrm>
          <a:prstGeom prst="rect">
            <a:avLst/>
          </a:prstGeom>
        </p:spPr>
      </p:pic>
      <p:pic>
        <p:nvPicPr>
          <p:cNvPr id="39" name="Image 8" descr="preencoded.png"/>
          <p:cNvPicPr>
            <a:picLocks noChangeAspect="1"/>
          </p:cNvPicPr>
          <p:nvPr/>
        </p:nvPicPr>
        <p:blipFill>
          <a:blip r:embed="rId11"/>
          <a:stretch>
            <a:fillRect/>
          </a:stretch>
        </p:blipFill>
        <p:spPr>
          <a:xfrm>
            <a:off x="10228821" y="4315968"/>
            <a:ext cx="274320" cy="274320"/>
          </a:xfrm>
          <a:prstGeom prst="rect">
            <a:avLst/>
          </a:prstGeom>
        </p:spPr>
      </p:pic>
      <p:sp>
        <p:nvSpPr>
          <p:cNvPr id="40" name="Shape 29"/>
          <p:cNvSpPr/>
          <p:nvPr/>
        </p:nvSpPr>
        <p:spPr>
          <a:xfrm>
            <a:off x="10650657" y="2852928"/>
            <a:ext cx="0" cy="548640"/>
          </a:xfrm>
          <a:prstGeom prst="line">
            <a:avLst/>
          </a:prstGeom>
          <a:noFill/>
          <a:ln w="22225">
            <a:solidFill>
              <a:srgbClr val="E8A33D"/>
            </a:solidFill>
            <a:prstDash val="solid"/>
          </a:ln>
        </p:spPr>
        <p:txBody>
          <a:bodyPr/>
          <a:lstStyle/>
          <a:p>
            <a:endParaRPr dirty="0"/>
          </a:p>
        </p:txBody>
      </p:sp>
      <p:sp>
        <p:nvSpPr>
          <p:cNvPr id="41" name="Shape 30"/>
          <p:cNvSpPr/>
          <p:nvPr/>
        </p:nvSpPr>
        <p:spPr>
          <a:xfrm>
            <a:off x="4672470" y="3401568"/>
            <a:ext cx="5978187" cy="0"/>
          </a:xfrm>
          <a:prstGeom prst="line">
            <a:avLst/>
          </a:prstGeom>
          <a:noFill/>
          <a:ln w="22225">
            <a:solidFill>
              <a:srgbClr val="E8A33D"/>
            </a:solidFill>
            <a:prstDash val="solid"/>
          </a:ln>
        </p:spPr>
        <p:txBody>
          <a:bodyPr/>
          <a:lstStyle/>
          <a:p>
            <a:endParaRPr dirty="0"/>
          </a:p>
        </p:txBody>
      </p:sp>
      <p:sp>
        <p:nvSpPr>
          <p:cNvPr id="42" name="Shape 31"/>
          <p:cNvSpPr/>
          <p:nvPr/>
        </p:nvSpPr>
        <p:spPr>
          <a:xfrm>
            <a:off x="4672470" y="3401568"/>
            <a:ext cx="0" cy="640080"/>
          </a:xfrm>
          <a:prstGeom prst="line">
            <a:avLst/>
          </a:prstGeom>
          <a:noFill/>
          <a:ln w="22225">
            <a:solidFill>
              <a:srgbClr val="E8A33D"/>
            </a:solidFill>
            <a:prstDash val="solid"/>
            <a:tailEnd type="triangle"/>
          </a:ln>
        </p:spPr>
        <p:txBody>
          <a:bodyPr/>
          <a:lstStyle/>
          <a:p>
            <a:endParaRPr dirty="0"/>
          </a:p>
        </p:txBody>
      </p:sp>
      <p:sp>
        <p:nvSpPr>
          <p:cNvPr id="43" name="Text 32"/>
          <p:cNvSpPr txBox="1"/>
          <p:nvPr/>
        </p:nvSpPr>
        <p:spPr>
          <a:xfrm>
            <a:off x="4809630" y="3054096"/>
            <a:ext cx="5703867" cy="274320"/>
          </a:xfrm>
          <a:prstGeom prst="rect">
            <a:avLst/>
          </a:prstGeom>
          <a:noFill/>
          <a:ln/>
        </p:spPr>
        <p:txBody>
          <a:bodyPr wrap="square" lIns="0" tIns="0" rIns="0" bIns="0" rtlCol="0" anchor="ctr"/>
          <a:lstStyle/>
          <a:p>
            <a:pPr marL="0" indent="0" algn="ctr">
              <a:buNone/>
            </a:pPr>
            <a:r>
              <a:rPr lang="en-US" sz="1050" i="1" dirty="0">
                <a:solidFill>
                  <a:srgbClr val="9E6A18"/>
                </a:solidFill>
                <a:latin typeface="Calibri" pitchFamily="34" charset="0"/>
                <a:ea typeface="Calibri" pitchFamily="34" charset="-122"/>
                <a:cs typeface="Calibri" pitchFamily="34" charset="-120"/>
              </a:rPr>
              <a:t>the knowledge base built above is what every query searches</a:t>
            </a:r>
            <a:endParaRPr lang="en-US" sz="1050" dirty="0"/>
          </a:p>
        </p:txBody>
      </p:sp>
      <p:sp>
        <p:nvSpPr>
          <p:cNvPr id="44" name="Shape 33"/>
          <p:cNvSpPr/>
          <p:nvPr/>
        </p:nvSpPr>
        <p:spPr>
          <a:xfrm>
            <a:off x="566928" y="5559552"/>
            <a:ext cx="3503066" cy="749808"/>
          </a:xfrm>
          <a:prstGeom prst="roundRect">
            <a:avLst>
              <a:gd name="adj" fmla="val 12195"/>
            </a:avLst>
          </a:prstGeom>
          <a:solidFill>
            <a:srgbClr val="EFF4F3"/>
          </a:solidFill>
          <a:ln w="12700">
            <a:solidFill>
              <a:srgbClr val="EFF4F3"/>
            </a:solidFill>
            <a:prstDash val="solid"/>
          </a:ln>
        </p:spPr>
        <p:txBody>
          <a:bodyPr/>
          <a:lstStyle/>
          <a:p>
            <a:endParaRPr dirty="0"/>
          </a:p>
        </p:txBody>
      </p:sp>
      <p:sp>
        <p:nvSpPr>
          <p:cNvPr id="45" name="Shape 34"/>
          <p:cNvSpPr/>
          <p:nvPr/>
        </p:nvSpPr>
        <p:spPr>
          <a:xfrm>
            <a:off x="768096" y="5724144"/>
            <a:ext cx="420624" cy="420624"/>
          </a:xfrm>
          <a:prstGeom prst="ellipse">
            <a:avLst/>
          </a:prstGeom>
          <a:solidFill>
            <a:srgbClr val="FFFFFF"/>
          </a:solidFill>
          <a:ln w="12700">
            <a:solidFill>
              <a:srgbClr val="FFFFFF"/>
            </a:solidFill>
            <a:prstDash val="solid"/>
          </a:ln>
        </p:spPr>
        <p:txBody>
          <a:bodyPr/>
          <a:lstStyle/>
          <a:p>
            <a:endParaRPr dirty="0"/>
          </a:p>
        </p:txBody>
      </p:sp>
      <p:pic>
        <p:nvPicPr>
          <p:cNvPr id="46" name="Image 9" descr="preencoded.png"/>
          <p:cNvPicPr>
            <a:picLocks noChangeAspect="1"/>
          </p:cNvPicPr>
          <p:nvPr/>
        </p:nvPicPr>
        <p:blipFill>
          <a:blip r:embed="rId12"/>
          <a:stretch>
            <a:fillRect/>
          </a:stretch>
        </p:blipFill>
        <p:spPr>
          <a:xfrm>
            <a:off x="877458" y="5833506"/>
            <a:ext cx="201900" cy="201900"/>
          </a:xfrm>
          <a:prstGeom prst="rect">
            <a:avLst/>
          </a:prstGeom>
        </p:spPr>
      </p:pic>
      <p:sp>
        <p:nvSpPr>
          <p:cNvPr id="47" name="Text 35"/>
          <p:cNvSpPr txBox="1"/>
          <p:nvPr/>
        </p:nvSpPr>
        <p:spPr>
          <a:xfrm>
            <a:off x="1280160" y="5650992"/>
            <a:ext cx="2606954" cy="256032"/>
          </a:xfrm>
          <a:prstGeom prst="rect">
            <a:avLst/>
          </a:prstGeom>
          <a:noFill/>
          <a:ln/>
        </p:spPr>
        <p:txBody>
          <a:bodyPr wrap="square" lIns="0" tIns="0" rIns="0" bIns="0" rtlCol="0" anchor="ctr"/>
          <a:lstStyle/>
          <a:p>
            <a:pPr marL="0" indent="0">
              <a:buNone/>
            </a:pPr>
            <a:r>
              <a:rPr lang="en-US" sz="1150" b="1" dirty="0">
                <a:solidFill>
                  <a:srgbClr val="172B2B"/>
                </a:solidFill>
                <a:latin typeface="Calibri" pitchFamily="34" charset="0"/>
                <a:ea typeface="Calibri" pitchFamily="34" charset="-122"/>
                <a:cs typeface="Calibri" pitchFamily="34" charset="-120"/>
              </a:rPr>
              <a:t>Pipeline 1 runs once</a:t>
            </a:r>
            <a:endParaRPr lang="en-US" sz="1150" dirty="0"/>
          </a:p>
        </p:txBody>
      </p:sp>
      <p:sp>
        <p:nvSpPr>
          <p:cNvPr id="48" name="Text 36"/>
          <p:cNvSpPr txBox="1"/>
          <p:nvPr/>
        </p:nvSpPr>
        <p:spPr>
          <a:xfrm>
            <a:off x="1280160" y="5907024"/>
            <a:ext cx="2606954" cy="256032"/>
          </a:xfrm>
          <a:prstGeom prst="rect">
            <a:avLst/>
          </a:prstGeom>
          <a:noFill/>
          <a:ln/>
        </p:spPr>
        <p:txBody>
          <a:bodyPr wrap="square" lIns="0" tIns="0" rIns="0" bIns="0" rtlCol="0" anchor="ctr"/>
          <a:lstStyle/>
          <a:p>
            <a:pPr marL="0" indent="0">
              <a:buNone/>
            </a:pPr>
            <a:r>
              <a:rPr lang="en-US" sz="1000" dirty="0">
                <a:solidFill>
                  <a:srgbClr val="5F7271"/>
                </a:solidFill>
                <a:latin typeface="Calibri" pitchFamily="34" charset="0"/>
                <a:ea typeface="Calibri" pitchFamily="34" charset="-122"/>
                <a:cs typeface="Calibri" pitchFamily="34" charset="-120"/>
              </a:rPr>
              <a:t>when a document set is added or changed</a:t>
            </a:r>
            <a:endParaRPr lang="en-US" sz="1000" dirty="0"/>
          </a:p>
        </p:txBody>
      </p:sp>
      <p:sp>
        <p:nvSpPr>
          <p:cNvPr id="49" name="Shape 37"/>
          <p:cNvSpPr/>
          <p:nvPr/>
        </p:nvSpPr>
        <p:spPr>
          <a:xfrm>
            <a:off x="4344314" y="5559552"/>
            <a:ext cx="3503066" cy="749808"/>
          </a:xfrm>
          <a:prstGeom prst="roundRect">
            <a:avLst>
              <a:gd name="adj" fmla="val 12195"/>
            </a:avLst>
          </a:prstGeom>
          <a:solidFill>
            <a:srgbClr val="EFF4F3"/>
          </a:solidFill>
          <a:ln w="12700">
            <a:solidFill>
              <a:srgbClr val="EFF4F3"/>
            </a:solidFill>
            <a:prstDash val="solid"/>
          </a:ln>
        </p:spPr>
        <p:txBody>
          <a:bodyPr/>
          <a:lstStyle/>
          <a:p>
            <a:endParaRPr dirty="0"/>
          </a:p>
        </p:txBody>
      </p:sp>
      <p:sp>
        <p:nvSpPr>
          <p:cNvPr id="50" name="Shape 38"/>
          <p:cNvSpPr/>
          <p:nvPr/>
        </p:nvSpPr>
        <p:spPr>
          <a:xfrm>
            <a:off x="4545482" y="5724144"/>
            <a:ext cx="420624" cy="420624"/>
          </a:xfrm>
          <a:prstGeom prst="ellipse">
            <a:avLst/>
          </a:prstGeom>
          <a:solidFill>
            <a:srgbClr val="FFFFFF"/>
          </a:solidFill>
          <a:ln w="12700">
            <a:solidFill>
              <a:srgbClr val="FFFFFF"/>
            </a:solidFill>
            <a:prstDash val="solid"/>
          </a:ln>
        </p:spPr>
        <p:txBody>
          <a:bodyPr/>
          <a:lstStyle/>
          <a:p>
            <a:endParaRPr dirty="0"/>
          </a:p>
        </p:txBody>
      </p:sp>
      <p:pic>
        <p:nvPicPr>
          <p:cNvPr id="51" name="Image 10" descr="preencoded.png"/>
          <p:cNvPicPr>
            <a:picLocks noChangeAspect="1"/>
          </p:cNvPicPr>
          <p:nvPr/>
        </p:nvPicPr>
        <p:blipFill>
          <a:blip r:embed="rId13"/>
          <a:stretch>
            <a:fillRect/>
          </a:stretch>
        </p:blipFill>
        <p:spPr>
          <a:xfrm>
            <a:off x="4654845" y="5833506"/>
            <a:ext cx="201900" cy="201900"/>
          </a:xfrm>
          <a:prstGeom prst="rect">
            <a:avLst/>
          </a:prstGeom>
        </p:spPr>
      </p:pic>
      <p:sp>
        <p:nvSpPr>
          <p:cNvPr id="52" name="Text 39"/>
          <p:cNvSpPr txBox="1"/>
          <p:nvPr/>
        </p:nvSpPr>
        <p:spPr>
          <a:xfrm>
            <a:off x="5057546" y="5650992"/>
            <a:ext cx="2606954" cy="256032"/>
          </a:xfrm>
          <a:prstGeom prst="rect">
            <a:avLst/>
          </a:prstGeom>
          <a:noFill/>
          <a:ln/>
        </p:spPr>
        <p:txBody>
          <a:bodyPr wrap="square" lIns="0" tIns="0" rIns="0" bIns="0" rtlCol="0" anchor="ctr"/>
          <a:lstStyle/>
          <a:p>
            <a:pPr marL="0" indent="0">
              <a:buNone/>
            </a:pPr>
            <a:r>
              <a:rPr lang="en-US" sz="1150" b="1" dirty="0">
                <a:solidFill>
                  <a:srgbClr val="172B2B"/>
                </a:solidFill>
                <a:latin typeface="Calibri" pitchFamily="34" charset="0"/>
                <a:ea typeface="Calibri" pitchFamily="34" charset="-122"/>
                <a:cs typeface="Calibri" pitchFamily="34" charset="-120"/>
              </a:rPr>
              <a:t>Pipeline 2 runs every time</a:t>
            </a:r>
            <a:endParaRPr lang="en-US" sz="1150" dirty="0"/>
          </a:p>
        </p:txBody>
      </p:sp>
      <p:sp>
        <p:nvSpPr>
          <p:cNvPr id="53" name="Text 40"/>
          <p:cNvSpPr txBox="1"/>
          <p:nvPr/>
        </p:nvSpPr>
        <p:spPr>
          <a:xfrm>
            <a:off x="5057546" y="5907024"/>
            <a:ext cx="2606954" cy="256032"/>
          </a:xfrm>
          <a:prstGeom prst="rect">
            <a:avLst/>
          </a:prstGeom>
          <a:noFill/>
          <a:ln/>
        </p:spPr>
        <p:txBody>
          <a:bodyPr wrap="square" lIns="0" tIns="0" rIns="0" bIns="0" rtlCol="0" anchor="ctr"/>
          <a:lstStyle/>
          <a:p>
            <a:pPr marL="0" indent="0">
              <a:buNone/>
            </a:pPr>
            <a:r>
              <a:rPr lang="en-US" sz="1000" dirty="0">
                <a:solidFill>
                  <a:srgbClr val="5F7271"/>
                </a:solidFill>
                <a:latin typeface="Calibri" pitchFamily="34" charset="0"/>
                <a:ea typeface="Calibri" pitchFamily="34" charset="-122"/>
                <a:cs typeface="Calibri" pitchFamily="34" charset="-120"/>
              </a:rPr>
              <a:t>a question is asked, answered in about 8 seconds</a:t>
            </a:r>
            <a:endParaRPr lang="en-US" sz="1000" dirty="0"/>
          </a:p>
        </p:txBody>
      </p:sp>
      <p:sp>
        <p:nvSpPr>
          <p:cNvPr id="54" name="Shape 41"/>
          <p:cNvSpPr/>
          <p:nvPr/>
        </p:nvSpPr>
        <p:spPr>
          <a:xfrm>
            <a:off x="8121701" y="5559552"/>
            <a:ext cx="3503066" cy="749808"/>
          </a:xfrm>
          <a:prstGeom prst="roundRect">
            <a:avLst>
              <a:gd name="adj" fmla="val 12195"/>
            </a:avLst>
          </a:prstGeom>
          <a:solidFill>
            <a:srgbClr val="EFF4F3"/>
          </a:solidFill>
          <a:ln w="12700">
            <a:solidFill>
              <a:srgbClr val="EFF4F3"/>
            </a:solidFill>
            <a:prstDash val="solid"/>
          </a:ln>
        </p:spPr>
        <p:txBody>
          <a:bodyPr/>
          <a:lstStyle/>
          <a:p>
            <a:endParaRPr dirty="0"/>
          </a:p>
        </p:txBody>
      </p:sp>
      <p:sp>
        <p:nvSpPr>
          <p:cNvPr id="55" name="Shape 42"/>
          <p:cNvSpPr/>
          <p:nvPr/>
        </p:nvSpPr>
        <p:spPr>
          <a:xfrm>
            <a:off x="8322869" y="5724144"/>
            <a:ext cx="420624" cy="420624"/>
          </a:xfrm>
          <a:prstGeom prst="ellipse">
            <a:avLst/>
          </a:prstGeom>
          <a:solidFill>
            <a:srgbClr val="FFFFFF"/>
          </a:solidFill>
          <a:ln w="12700">
            <a:solidFill>
              <a:srgbClr val="FFFFFF"/>
            </a:solidFill>
            <a:prstDash val="solid"/>
          </a:ln>
        </p:spPr>
        <p:txBody>
          <a:bodyPr/>
          <a:lstStyle/>
          <a:p>
            <a:endParaRPr dirty="0"/>
          </a:p>
        </p:txBody>
      </p:sp>
      <p:pic>
        <p:nvPicPr>
          <p:cNvPr id="56" name="Image 11" descr="preencoded.png"/>
          <p:cNvPicPr>
            <a:picLocks noChangeAspect="1"/>
          </p:cNvPicPr>
          <p:nvPr/>
        </p:nvPicPr>
        <p:blipFill>
          <a:blip r:embed="rId11"/>
          <a:stretch>
            <a:fillRect/>
          </a:stretch>
        </p:blipFill>
        <p:spPr>
          <a:xfrm>
            <a:off x="8432231" y="5833506"/>
            <a:ext cx="201900" cy="201900"/>
          </a:xfrm>
          <a:prstGeom prst="rect">
            <a:avLst/>
          </a:prstGeom>
        </p:spPr>
      </p:pic>
      <p:sp>
        <p:nvSpPr>
          <p:cNvPr id="57" name="Text 43"/>
          <p:cNvSpPr txBox="1"/>
          <p:nvPr/>
        </p:nvSpPr>
        <p:spPr>
          <a:xfrm>
            <a:off x="8834933" y="5650992"/>
            <a:ext cx="2606954" cy="256032"/>
          </a:xfrm>
          <a:prstGeom prst="rect">
            <a:avLst/>
          </a:prstGeom>
          <a:noFill/>
          <a:ln/>
        </p:spPr>
        <p:txBody>
          <a:bodyPr wrap="square" lIns="0" tIns="0" rIns="0" bIns="0" rtlCol="0" anchor="ctr"/>
          <a:lstStyle/>
          <a:p>
            <a:pPr marL="0" indent="0">
              <a:buNone/>
            </a:pPr>
            <a:r>
              <a:rPr lang="en-US" sz="1150" b="1" dirty="0">
                <a:solidFill>
                  <a:srgbClr val="172B2B"/>
                </a:solidFill>
                <a:latin typeface="Calibri" pitchFamily="34" charset="0"/>
                <a:ea typeface="Calibri" pitchFamily="34" charset="-122"/>
                <a:cs typeface="Calibri" pitchFamily="34" charset="-120"/>
              </a:rPr>
              <a:t>Citations come from metadata</a:t>
            </a:r>
            <a:endParaRPr lang="en-US" sz="1150" dirty="0"/>
          </a:p>
        </p:txBody>
      </p:sp>
      <p:sp>
        <p:nvSpPr>
          <p:cNvPr id="58" name="Text 44"/>
          <p:cNvSpPr txBox="1"/>
          <p:nvPr/>
        </p:nvSpPr>
        <p:spPr>
          <a:xfrm>
            <a:off x="8834933" y="5907024"/>
            <a:ext cx="2606954" cy="256032"/>
          </a:xfrm>
          <a:prstGeom prst="rect">
            <a:avLst/>
          </a:prstGeom>
          <a:noFill/>
          <a:ln/>
        </p:spPr>
        <p:txBody>
          <a:bodyPr wrap="square" lIns="0" tIns="0" rIns="0" bIns="0" rtlCol="0" anchor="ctr"/>
          <a:lstStyle/>
          <a:p>
            <a:pPr marL="0" indent="0">
              <a:buNone/>
            </a:pPr>
            <a:r>
              <a:rPr lang="en-US" sz="1000" dirty="0">
                <a:solidFill>
                  <a:srgbClr val="5F7271"/>
                </a:solidFill>
                <a:latin typeface="Calibri" pitchFamily="34" charset="0"/>
                <a:ea typeface="Calibri" pitchFamily="34" charset="-122"/>
                <a:cs typeface="Calibri" pitchFamily="34" charset="-120"/>
              </a:rPr>
              <a:t>the document and page stored beside each vector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STAGE ONE</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From documents to a searchable knowledge base</a:t>
            </a:r>
            <a:endParaRPr lang="en-US" sz="3400" dirty="0"/>
          </a:p>
        </p:txBody>
      </p:sp>
      <p:sp>
        <p:nvSpPr>
          <p:cNvPr id="4" name="Shape 2"/>
          <p:cNvSpPr/>
          <p:nvPr/>
        </p:nvSpPr>
        <p:spPr>
          <a:xfrm>
            <a:off x="566928" y="1371600"/>
            <a:ext cx="5373472" cy="1737360"/>
          </a:xfrm>
          <a:prstGeom prst="roundRect">
            <a:avLst>
              <a:gd name="adj" fmla="val 5263"/>
            </a:avLst>
          </a:prstGeom>
          <a:solidFill>
            <a:srgbClr val="EFF4F3"/>
          </a:solidFill>
          <a:ln w="12700">
            <a:solidFill>
              <a:srgbClr val="EFF4F3"/>
            </a:solidFill>
            <a:prstDash val="solid"/>
          </a:ln>
        </p:spPr>
        <p:txBody>
          <a:bodyPr/>
          <a:lstStyle/>
          <a:p>
            <a:endParaRPr dirty="0"/>
          </a:p>
        </p:txBody>
      </p:sp>
      <p:sp>
        <p:nvSpPr>
          <p:cNvPr id="5" name="Shape 3"/>
          <p:cNvSpPr/>
          <p:nvPr/>
        </p:nvSpPr>
        <p:spPr>
          <a:xfrm>
            <a:off x="859536" y="1664208"/>
            <a:ext cx="493776" cy="493776"/>
          </a:xfrm>
          <a:prstGeom prst="ellipse">
            <a:avLst/>
          </a:prstGeom>
          <a:solidFill>
            <a:srgbClr val="FFFFFF"/>
          </a:solidFill>
          <a:ln w="12700">
            <a:solidFill>
              <a:srgbClr val="FFFFFF"/>
            </a:solidFill>
            <a:prstDash val="solid"/>
          </a:ln>
        </p:spPr>
        <p:txBody>
          <a:bodyPr/>
          <a:lstStyle/>
          <a:p>
            <a:endParaRPr dirty="0"/>
          </a:p>
        </p:txBody>
      </p:sp>
      <p:pic>
        <p:nvPicPr>
          <p:cNvPr id="6" name="Image 0" descr="preencoded.png"/>
          <p:cNvPicPr>
            <a:picLocks noChangeAspect="1"/>
          </p:cNvPicPr>
          <p:nvPr/>
        </p:nvPicPr>
        <p:blipFill>
          <a:blip r:embed="rId3"/>
          <a:stretch>
            <a:fillRect/>
          </a:stretch>
        </p:blipFill>
        <p:spPr>
          <a:xfrm>
            <a:off x="987918" y="1792590"/>
            <a:ext cx="237012" cy="237012"/>
          </a:xfrm>
          <a:prstGeom prst="rect">
            <a:avLst/>
          </a:prstGeom>
        </p:spPr>
      </p:pic>
      <p:sp>
        <p:nvSpPr>
          <p:cNvPr id="7" name="Shape 4"/>
          <p:cNvSpPr/>
          <p:nvPr/>
        </p:nvSpPr>
        <p:spPr>
          <a:xfrm>
            <a:off x="5336896" y="1664208"/>
            <a:ext cx="347472" cy="347472"/>
          </a:xfrm>
          <a:prstGeom prst="ellipse">
            <a:avLst/>
          </a:prstGeom>
          <a:solidFill>
            <a:srgbClr val="FFFFFF"/>
          </a:solidFill>
          <a:ln w="12700">
            <a:solidFill>
              <a:srgbClr val="FFFFFF"/>
            </a:solidFill>
            <a:prstDash val="solid"/>
          </a:ln>
        </p:spPr>
        <p:txBody>
          <a:bodyPr/>
          <a:lstStyle/>
          <a:p>
            <a:endParaRPr dirty="0"/>
          </a:p>
        </p:txBody>
      </p:sp>
      <p:sp>
        <p:nvSpPr>
          <p:cNvPr id="8" name="Text 5"/>
          <p:cNvSpPr txBox="1"/>
          <p:nvPr/>
        </p:nvSpPr>
        <p:spPr>
          <a:xfrm>
            <a:off x="5336896" y="1664208"/>
            <a:ext cx="347472" cy="347472"/>
          </a:xfrm>
          <a:prstGeom prst="rect">
            <a:avLst/>
          </a:prstGeom>
          <a:noFill/>
          <a:ln/>
        </p:spPr>
        <p:txBody>
          <a:bodyPr wrap="square" lIns="0" tIns="0" rIns="0" bIns="0" rtlCol="0" anchor="ctr"/>
          <a:lstStyle/>
          <a:p>
            <a:pPr marL="0" indent="0" algn="ctr">
              <a:buNone/>
            </a:pPr>
            <a:r>
              <a:rPr lang="en-US" sz="1100" b="1" dirty="0">
                <a:solidFill>
                  <a:srgbClr val="1C7C7C"/>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499616" y="1700784"/>
            <a:ext cx="3764128" cy="347472"/>
          </a:xfrm>
          <a:prstGeom prst="rect">
            <a:avLst/>
          </a:prstGeom>
          <a:noFill/>
          <a:ln/>
        </p:spPr>
        <p:txBody>
          <a:bodyPr wrap="square" lIns="0" tIns="0" rIns="0" bIns="0" rtlCol="0" anchor="ctr"/>
          <a:lstStyle/>
          <a:p>
            <a:pPr marL="0" indent="0">
              <a:buNone/>
            </a:pPr>
            <a:r>
              <a:rPr lang="en-US" sz="1500" b="1" dirty="0">
                <a:solidFill>
                  <a:srgbClr val="172B2B"/>
                </a:solidFill>
                <a:latin typeface="Calibri" pitchFamily="34" charset="0"/>
                <a:ea typeface="Calibri" pitchFamily="34" charset="-122"/>
                <a:cs typeface="Calibri" pitchFamily="34" charset="-120"/>
              </a:rPr>
              <a:t>Text Extraction</a:t>
            </a:r>
            <a:endParaRPr lang="en-US" sz="1500" dirty="0"/>
          </a:p>
        </p:txBody>
      </p:sp>
      <p:sp>
        <p:nvSpPr>
          <p:cNvPr id="10" name="Text 7"/>
          <p:cNvSpPr txBox="1"/>
          <p:nvPr/>
        </p:nvSpPr>
        <p:spPr>
          <a:xfrm>
            <a:off x="859536" y="2267712"/>
            <a:ext cx="4788256" cy="731520"/>
          </a:xfrm>
          <a:prstGeom prst="rect">
            <a:avLst/>
          </a:prstGeom>
          <a:noFill/>
          <a:ln/>
        </p:spPr>
        <p:txBody>
          <a:bodyPr wrap="square" lIns="0" tIns="0" rIns="0" bIns="0" rtlCol="0" anchor="t"/>
          <a:lstStyle/>
          <a:p>
            <a:pPr marL="0" indent="0">
              <a:lnSpc>
                <a:spcPts val="1500"/>
              </a:lnSpc>
              <a:buNone/>
            </a:pPr>
            <a:r>
              <a:rPr lang="en-US" sz="1150" dirty="0">
                <a:solidFill>
                  <a:srgbClr val="5F7271"/>
                </a:solidFill>
                <a:latin typeface="Calibri" pitchFamily="34" charset="0"/>
                <a:ea typeface="Calibri" pitchFamily="34" charset="-122"/>
                <a:cs typeface="Calibri" pitchFamily="34" charset="-120"/>
              </a:rPr>
              <a:t>pdfplumber reads text and tables page by page. Scanned pages and photos go through Tesseract OCR in English, Hindi and Marathi.</a:t>
            </a:r>
            <a:endParaRPr lang="en-US" sz="1150" dirty="0"/>
          </a:p>
        </p:txBody>
      </p:sp>
      <p:sp>
        <p:nvSpPr>
          <p:cNvPr id="11" name="Shape 8"/>
          <p:cNvSpPr/>
          <p:nvPr/>
        </p:nvSpPr>
        <p:spPr>
          <a:xfrm>
            <a:off x="6251296" y="1371600"/>
            <a:ext cx="5373472" cy="1737360"/>
          </a:xfrm>
          <a:prstGeom prst="roundRect">
            <a:avLst>
              <a:gd name="adj" fmla="val 5263"/>
            </a:avLst>
          </a:prstGeom>
          <a:solidFill>
            <a:srgbClr val="EFF4F3"/>
          </a:solidFill>
          <a:ln w="12700">
            <a:solidFill>
              <a:srgbClr val="EFF4F3"/>
            </a:solidFill>
            <a:prstDash val="solid"/>
          </a:ln>
        </p:spPr>
        <p:txBody>
          <a:bodyPr/>
          <a:lstStyle/>
          <a:p>
            <a:endParaRPr dirty="0"/>
          </a:p>
        </p:txBody>
      </p:sp>
      <p:sp>
        <p:nvSpPr>
          <p:cNvPr id="12" name="Shape 9"/>
          <p:cNvSpPr/>
          <p:nvPr/>
        </p:nvSpPr>
        <p:spPr>
          <a:xfrm>
            <a:off x="6543904" y="1664208"/>
            <a:ext cx="493776" cy="493776"/>
          </a:xfrm>
          <a:prstGeom prst="ellipse">
            <a:avLst/>
          </a:prstGeom>
          <a:solidFill>
            <a:srgbClr val="FFFFFF"/>
          </a:solidFill>
          <a:ln w="12700">
            <a:solidFill>
              <a:srgbClr val="FFFFFF"/>
            </a:solidFill>
            <a:prstDash val="solid"/>
          </a:ln>
        </p:spPr>
        <p:txBody>
          <a:bodyPr/>
          <a:lstStyle/>
          <a:p>
            <a:endParaRPr dirty="0"/>
          </a:p>
        </p:txBody>
      </p:sp>
      <p:pic>
        <p:nvPicPr>
          <p:cNvPr id="13" name="Image 1" descr="preencoded.png"/>
          <p:cNvPicPr>
            <a:picLocks noChangeAspect="1"/>
          </p:cNvPicPr>
          <p:nvPr/>
        </p:nvPicPr>
        <p:blipFill>
          <a:blip r:embed="rId4"/>
          <a:stretch>
            <a:fillRect/>
          </a:stretch>
        </p:blipFill>
        <p:spPr>
          <a:xfrm>
            <a:off x="6672285" y="1792590"/>
            <a:ext cx="237012" cy="237012"/>
          </a:xfrm>
          <a:prstGeom prst="rect">
            <a:avLst/>
          </a:prstGeom>
        </p:spPr>
      </p:pic>
      <p:sp>
        <p:nvSpPr>
          <p:cNvPr id="14" name="Shape 10"/>
          <p:cNvSpPr/>
          <p:nvPr/>
        </p:nvSpPr>
        <p:spPr>
          <a:xfrm>
            <a:off x="11021263" y="1664208"/>
            <a:ext cx="347472" cy="347472"/>
          </a:xfrm>
          <a:prstGeom prst="ellipse">
            <a:avLst/>
          </a:prstGeom>
          <a:solidFill>
            <a:srgbClr val="FFFFFF"/>
          </a:solidFill>
          <a:ln w="12700">
            <a:solidFill>
              <a:srgbClr val="FFFFFF"/>
            </a:solidFill>
            <a:prstDash val="solid"/>
          </a:ln>
        </p:spPr>
        <p:txBody>
          <a:bodyPr/>
          <a:lstStyle/>
          <a:p>
            <a:endParaRPr dirty="0"/>
          </a:p>
        </p:txBody>
      </p:sp>
      <p:sp>
        <p:nvSpPr>
          <p:cNvPr id="15" name="Text 11"/>
          <p:cNvSpPr txBox="1"/>
          <p:nvPr/>
        </p:nvSpPr>
        <p:spPr>
          <a:xfrm>
            <a:off x="11021263" y="1664208"/>
            <a:ext cx="347472" cy="347472"/>
          </a:xfrm>
          <a:prstGeom prst="rect">
            <a:avLst/>
          </a:prstGeom>
          <a:noFill/>
          <a:ln/>
        </p:spPr>
        <p:txBody>
          <a:bodyPr wrap="square" lIns="0" tIns="0" rIns="0" bIns="0" rtlCol="0" anchor="ctr"/>
          <a:lstStyle/>
          <a:p>
            <a:pPr marL="0" indent="0" algn="ctr">
              <a:buNone/>
            </a:pPr>
            <a:r>
              <a:rPr lang="en-US" sz="1100" b="1" dirty="0">
                <a:solidFill>
                  <a:srgbClr val="1C7C7C"/>
                </a:solidFill>
                <a:latin typeface="Calibri" pitchFamily="34" charset="0"/>
                <a:ea typeface="Calibri" pitchFamily="34" charset="-122"/>
                <a:cs typeface="Calibri" pitchFamily="34" charset="-120"/>
              </a:rPr>
              <a:t>2</a:t>
            </a:r>
            <a:endParaRPr lang="en-US" sz="1100" dirty="0"/>
          </a:p>
        </p:txBody>
      </p:sp>
      <p:sp>
        <p:nvSpPr>
          <p:cNvPr id="16" name="Text 12"/>
          <p:cNvSpPr txBox="1"/>
          <p:nvPr/>
        </p:nvSpPr>
        <p:spPr>
          <a:xfrm>
            <a:off x="7183984" y="1700784"/>
            <a:ext cx="3764128" cy="347472"/>
          </a:xfrm>
          <a:prstGeom prst="rect">
            <a:avLst/>
          </a:prstGeom>
          <a:noFill/>
          <a:ln/>
        </p:spPr>
        <p:txBody>
          <a:bodyPr wrap="square" lIns="0" tIns="0" rIns="0" bIns="0" rtlCol="0" anchor="ctr"/>
          <a:lstStyle/>
          <a:p>
            <a:pPr marL="0" indent="0">
              <a:buNone/>
            </a:pPr>
            <a:r>
              <a:rPr lang="en-US" sz="1500" b="1" dirty="0">
                <a:solidFill>
                  <a:srgbClr val="172B2B"/>
                </a:solidFill>
                <a:latin typeface="Calibri" pitchFamily="34" charset="0"/>
                <a:ea typeface="Calibri" pitchFamily="34" charset="-122"/>
                <a:cs typeface="Calibri" pitchFamily="34" charset="-120"/>
              </a:rPr>
              <a:t>Chunking</a:t>
            </a:r>
            <a:endParaRPr lang="en-US" sz="1500" dirty="0"/>
          </a:p>
        </p:txBody>
      </p:sp>
      <p:sp>
        <p:nvSpPr>
          <p:cNvPr id="17" name="Text 13"/>
          <p:cNvSpPr txBox="1"/>
          <p:nvPr/>
        </p:nvSpPr>
        <p:spPr>
          <a:xfrm>
            <a:off x="6543904" y="2267712"/>
            <a:ext cx="4788256" cy="731520"/>
          </a:xfrm>
          <a:prstGeom prst="rect">
            <a:avLst/>
          </a:prstGeom>
          <a:noFill/>
          <a:ln/>
        </p:spPr>
        <p:txBody>
          <a:bodyPr wrap="square" lIns="0" tIns="0" rIns="0" bIns="0" rtlCol="0" anchor="t"/>
          <a:lstStyle/>
          <a:p>
            <a:pPr marL="0" indent="0">
              <a:lnSpc>
                <a:spcPts val="1500"/>
              </a:lnSpc>
              <a:buNone/>
            </a:pPr>
            <a:r>
              <a:rPr lang="en-US" sz="1150" dirty="0">
                <a:solidFill>
                  <a:srgbClr val="5F7271"/>
                </a:solidFill>
                <a:latin typeface="Calibri" pitchFamily="34" charset="0"/>
                <a:ea typeface="Calibri" pitchFamily="34" charset="-122"/>
                <a:cs typeface="Calibri" pitchFamily="34" charset="-120"/>
              </a:rPr>
              <a:t>Each page is split into passages of about 800 characters with a 150-character overlap, breaking at paragraphs and sentences.</a:t>
            </a:r>
            <a:endParaRPr lang="en-US" sz="1150" dirty="0"/>
          </a:p>
        </p:txBody>
      </p:sp>
      <p:sp>
        <p:nvSpPr>
          <p:cNvPr id="18" name="Shape 14"/>
          <p:cNvSpPr/>
          <p:nvPr/>
        </p:nvSpPr>
        <p:spPr>
          <a:xfrm>
            <a:off x="566928" y="3419856"/>
            <a:ext cx="5373472" cy="1737360"/>
          </a:xfrm>
          <a:prstGeom prst="roundRect">
            <a:avLst>
              <a:gd name="adj" fmla="val 5263"/>
            </a:avLst>
          </a:prstGeom>
          <a:solidFill>
            <a:srgbClr val="EFF4F3"/>
          </a:solidFill>
          <a:ln w="12700">
            <a:solidFill>
              <a:srgbClr val="EFF4F3"/>
            </a:solidFill>
            <a:prstDash val="solid"/>
          </a:ln>
        </p:spPr>
        <p:txBody>
          <a:bodyPr/>
          <a:lstStyle/>
          <a:p>
            <a:endParaRPr dirty="0"/>
          </a:p>
        </p:txBody>
      </p:sp>
      <p:sp>
        <p:nvSpPr>
          <p:cNvPr id="19" name="Shape 15"/>
          <p:cNvSpPr/>
          <p:nvPr/>
        </p:nvSpPr>
        <p:spPr>
          <a:xfrm>
            <a:off x="859536" y="3712464"/>
            <a:ext cx="493776" cy="493776"/>
          </a:xfrm>
          <a:prstGeom prst="ellipse">
            <a:avLst/>
          </a:prstGeom>
          <a:solidFill>
            <a:srgbClr val="FFFFFF"/>
          </a:solidFill>
          <a:ln w="12700">
            <a:solidFill>
              <a:srgbClr val="FFFFFF"/>
            </a:solidFill>
            <a:prstDash val="solid"/>
          </a:ln>
        </p:spPr>
        <p:txBody>
          <a:bodyPr/>
          <a:lstStyle/>
          <a:p>
            <a:endParaRPr dirty="0"/>
          </a:p>
        </p:txBody>
      </p:sp>
      <p:pic>
        <p:nvPicPr>
          <p:cNvPr id="20" name="Image 2" descr="preencoded.png"/>
          <p:cNvPicPr>
            <a:picLocks noChangeAspect="1"/>
          </p:cNvPicPr>
          <p:nvPr/>
        </p:nvPicPr>
        <p:blipFill>
          <a:blip r:embed="rId5"/>
          <a:stretch>
            <a:fillRect/>
          </a:stretch>
        </p:blipFill>
        <p:spPr>
          <a:xfrm>
            <a:off x="987918" y="3840846"/>
            <a:ext cx="237012" cy="237012"/>
          </a:xfrm>
          <a:prstGeom prst="rect">
            <a:avLst/>
          </a:prstGeom>
        </p:spPr>
      </p:pic>
      <p:sp>
        <p:nvSpPr>
          <p:cNvPr id="21" name="Shape 16"/>
          <p:cNvSpPr/>
          <p:nvPr/>
        </p:nvSpPr>
        <p:spPr>
          <a:xfrm>
            <a:off x="5336896" y="3712464"/>
            <a:ext cx="347472" cy="347472"/>
          </a:xfrm>
          <a:prstGeom prst="ellipse">
            <a:avLst/>
          </a:prstGeom>
          <a:solidFill>
            <a:srgbClr val="FFFFFF"/>
          </a:solidFill>
          <a:ln w="12700">
            <a:solidFill>
              <a:srgbClr val="FFFFFF"/>
            </a:solidFill>
            <a:prstDash val="solid"/>
          </a:ln>
        </p:spPr>
        <p:txBody>
          <a:bodyPr/>
          <a:lstStyle/>
          <a:p>
            <a:endParaRPr dirty="0"/>
          </a:p>
        </p:txBody>
      </p:sp>
      <p:sp>
        <p:nvSpPr>
          <p:cNvPr id="22" name="Text 17"/>
          <p:cNvSpPr txBox="1"/>
          <p:nvPr/>
        </p:nvSpPr>
        <p:spPr>
          <a:xfrm>
            <a:off x="5336896" y="3712464"/>
            <a:ext cx="347472" cy="347472"/>
          </a:xfrm>
          <a:prstGeom prst="rect">
            <a:avLst/>
          </a:prstGeom>
          <a:noFill/>
          <a:ln/>
        </p:spPr>
        <p:txBody>
          <a:bodyPr wrap="square" lIns="0" tIns="0" rIns="0" bIns="0" rtlCol="0" anchor="ctr"/>
          <a:lstStyle/>
          <a:p>
            <a:pPr marL="0" indent="0" algn="ctr">
              <a:buNone/>
            </a:pPr>
            <a:r>
              <a:rPr lang="en-US" sz="1100" b="1" dirty="0">
                <a:solidFill>
                  <a:srgbClr val="1C7C7C"/>
                </a:solidFill>
                <a:latin typeface="Calibri" pitchFamily="34" charset="0"/>
                <a:ea typeface="Calibri" pitchFamily="34" charset="-122"/>
                <a:cs typeface="Calibri" pitchFamily="34" charset="-120"/>
              </a:rPr>
              <a:t>3</a:t>
            </a:r>
            <a:endParaRPr lang="en-US" sz="1100" dirty="0"/>
          </a:p>
        </p:txBody>
      </p:sp>
      <p:sp>
        <p:nvSpPr>
          <p:cNvPr id="23" name="Text 18"/>
          <p:cNvSpPr txBox="1"/>
          <p:nvPr/>
        </p:nvSpPr>
        <p:spPr>
          <a:xfrm>
            <a:off x="1499616" y="3749040"/>
            <a:ext cx="3764128" cy="347472"/>
          </a:xfrm>
          <a:prstGeom prst="rect">
            <a:avLst/>
          </a:prstGeom>
          <a:noFill/>
          <a:ln/>
        </p:spPr>
        <p:txBody>
          <a:bodyPr wrap="square" lIns="0" tIns="0" rIns="0" bIns="0" rtlCol="0" anchor="ctr"/>
          <a:lstStyle/>
          <a:p>
            <a:pPr marL="0" indent="0">
              <a:buNone/>
            </a:pPr>
            <a:r>
              <a:rPr lang="en-US" sz="1500" b="1" dirty="0">
                <a:solidFill>
                  <a:srgbClr val="172B2B"/>
                </a:solidFill>
                <a:latin typeface="Calibri" pitchFamily="34" charset="0"/>
                <a:ea typeface="Calibri" pitchFamily="34" charset="-122"/>
                <a:cs typeface="Calibri" pitchFamily="34" charset="-120"/>
              </a:rPr>
              <a:t>Embeddings</a:t>
            </a:r>
            <a:endParaRPr lang="en-US" sz="1500" dirty="0"/>
          </a:p>
        </p:txBody>
      </p:sp>
      <p:sp>
        <p:nvSpPr>
          <p:cNvPr id="24" name="Text 19"/>
          <p:cNvSpPr txBox="1"/>
          <p:nvPr/>
        </p:nvSpPr>
        <p:spPr>
          <a:xfrm>
            <a:off x="859536" y="4315968"/>
            <a:ext cx="4788256" cy="731520"/>
          </a:xfrm>
          <a:prstGeom prst="rect">
            <a:avLst/>
          </a:prstGeom>
          <a:noFill/>
          <a:ln/>
        </p:spPr>
        <p:txBody>
          <a:bodyPr wrap="square" lIns="0" tIns="0" rIns="0" bIns="0" rtlCol="0" anchor="t"/>
          <a:lstStyle/>
          <a:p>
            <a:pPr marL="0" indent="0">
              <a:lnSpc>
                <a:spcPts val="1500"/>
              </a:lnSpc>
              <a:buNone/>
            </a:pPr>
            <a:r>
              <a:rPr lang="en-US" sz="1150" dirty="0">
                <a:solidFill>
                  <a:srgbClr val="5F7271"/>
                </a:solidFill>
                <a:latin typeface="Calibri" pitchFamily="34" charset="0"/>
                <a:ea typeface="Calibri" pitchFamily="34" charset="-122"/>
                <a:cs typeface="Calibri" pitchFamily="34" charset="-120"/>
              </a:rPr>
              <a:t>nomic-embed-text turns each passage into a 768-dimension vector, so passages with related meaning sit close together.</a:t>
            </a:r>
            <a:endParaRPr lang="en-US" sz="1150" dirty="0"/>
          </a:p>
        </p:txBody>
      </p:sp>
      <p:sp>
        <p:nvSpPr>
          <p:cNvPr id="25" name="Shape 20"/>
          <p:cNvSpPr/>
          <p:nvPr/>
        </p:nvSpPr>
        <p:spPr>
          <a:xfrm>
            <a:off x="6251296" y="3419856"/>
            <a:ext cx="5373472" cy="1737360"/>
          </a:xfrm>
          <a:prstGeom prst="roundRect">
            <a:avLst>
              <a:gd name="adj" fmla="val 5263"/>
            </a:avLst>
          </a:prstGeom>
          <a:solidFill>
            <a:srgbClr val="EFF4F3"/>
          </a:solidFill>
          <a:ln w="12700">
            <a:solidFill>
              <a:srgbClr val="EFF4F3"/>
            </a:solidFill>
            <a:prstDash val="solid"/>
          </a:ln>
        </p:spPr>
        <p:txBody>
          <a:bodyPr/>
          <a:lstStyle/>
          <a:p>
            <a:endParaRPr dirty="0"/>
          </a:p>
        </p:txBody>
      </p:sp>
      <p:sp>
        <p:nvSpPr>
          <p:cNvPr id="26" name="Shape 21"/>
          <p:cNvSpPr/>
          <p:nvPr/>
        </p:nvSpPr>
        <p:spPr>
          <a:xfrm>
            <a:off x="6543904" y="3712464"/>
            <a:ext cx="493776" cy="493776"/>
          </a:xfrm>
          <a:prstGeom prst="ellipse">
            <a:avLst/>
          </a:prstGeom>
          <a:solidFill>
            <a:srgbClr val="FFFFFF"/>
          </a:solidFill>
          <a:ln w="12700">
            <a:solidFill>
              <a:srgbClr val="FFFFFF"/>
            </a:solidFill>
            <a:prstDash val="solid"/>
          </a:ln>
        </p:spPr>
        <p:txBody>
          <a:bodyPr/>
          <a:lstStyle/>
          <a:p>
            <a:endParaRPr dirty="0"/>
          </a:p>
        </p:txBody>
      </p:sp>
      <p:pic>
        <p:nvPicPr>
          <p:cNvPr id="27" name="Image 3" descr="preencoded.png"/>
          <p:cNvPicPr>
            <a:picLocks noChangeAspect="1"/>
          </p:cNvPicPr>
          <p:nvPr/>
        </p:nvPicPr>
        <p:blipFill>
          <a:blip r:embed="rId6"/>
          <a:stretch>
            <a:fillRect/>
          </a:stretch>
        </p:blipFill>
        <p:spPr>
          <a:xfrm>
            <a:off x="6672285" y="3840846"/>
            <a:ext cx="237012" cy="237012"/>
          </a:xfrm>
          <a:prstGeom prst="rect">
            <a:avLst/>
          </a:prstGeom>
        </p:spPr>
      </p:pic>
      <p:sp>
        <p:nvSpPr>
          <p:cNvPr id="28" name="Shape 22"/>
          <p:cNvSpPr/>
          <p:nvPr/>
        </p:nvSpPr>
        <p:spPr>
          <a:xfrm>
            <a:off x="11021263" y="3712464"/>
            <a:ext cx="347472" cy="347472"/>
          </a:xfrm>
          <a:prstGeom prst="ellipse">
            <a:avLst/>
          </a:prstGeom>
          <a:solidFill>
            <a:srgbClr val="FFFFFF"/>
          </a:solidFill>
          <a:ln w="12700">
            <a:solidFill>
              <a:srgbClr val="FFFFFF"/>
            </a:solidFill>
            <a:prstDash val="solid"/>
          </a:ln>
        </p:spPr>
        <p:txBody>
          <a:bodyPr/>
          <a:lstStyle/>
          <a:p>
            <a:endParaRPr dirty="0"/>
          </a:p>
        </p:txBody>
      </p:sp>
      <p:sp>
        <p:nvSpPr>
          <p:cNvPr id="29" name="Text 23"/>
          <p:cNvSpPr txBox="1"/>
          <p:nvPr/>
        </p:nvSpPr>
        <p:spPr>
          <a:xfrm>
            <a:off x="11021263" y="3712464"/>
            <a:ext cx="347472" cy="347472"/>
          </a:xfrm>
          <a:prstGeom prst="rect">
            <a:avLst/>
          </a:prstGeom>
          <a:noFill/>
          <a:ln/>
        </p:spPr>
        <p:txBody>
          <a:bodyPr wrap="square" lIns="0" tIns="0" rIns="0" bIns="0" rtlCol="0" anchor="ctr"/>
          <a:lstStyle/>
          <a:p>
            <a:pPr marL="0" indent="0" algn="ctr">
              <a:buNone/>
            </a:pPr>
            <a:r>
              <a:rPr lang="en-US" sz="1100" b="1" dirty="0">
                <a:solidFill>
                  <a:srgbClr val="1C7C7C"/>
                </a:solidFill>
                <a:latin typeface="Calibri" pitchFamily="34" charset="0"/>
                <a:ea typeface="Calibri" pitchFamily="34" charset="-122"/>
                <a:cs typeface="Calibri" pitchFamily="34" charset="-120"/>
              </a:rPr>
              <a:t>4</a:t>
            </a:r>
            <a:endParaRPr lang="en-US" sz="1100" dirty="0"/>
          </a:p>
        </p:txBody>
      </p:sp>
      <p:sp>
        <p:nvSpPr>
          <p:cNvPr id="30" name="Text 24"/>
          <p:cNvSpPr txBox="1"/>
          <p:nvPr/>
        </p:nvSpPr>
        <p:spPr>
          <a:xfrm>
            <a:off x="7183984" y="3749040"/>
            <a:ext cx="3764128" cy="347472"/>
          </a:xfrm>
          <a:prstGeom prst="rect">
            <a:avLst/>
          </a:prstGeom>
          <a:noFill/>
          <a:ln/>
        </p:spPr>
        <p:txBody>
          <a:bodyPr wrap="square" lIns="0" tIns="0" rIns="0" bIns="0" rtlCol="0" anchor="ctr"/>
          <a:lstStyle/>
          <a:p>
            <a:pPr marL="0" indent="0">
              <a:buNone/>
            </a:pPr>
            <a:r>
              <a:rPr lang="en-US" sz="1500" b="1" dirty="0">
                <a:solidFill>
                  <a:srgbClr val="172B2B"/>
                </a:solidFill>
                <a:latin typeface="Calibri" pitchFamily="34" charset="0"/>
                <a:ea typeface="Calibri" pitchFamily="34" charset="-122"/>
                <a:cs typeface="Calibri" pitchFamily="34" charset="-120"/>
              </a:rPr>
              <a:t>Vector Storage</a:t>
            </a:r>
            <a:endParaRPr lang="en-US" sz="1500" dirty="0"/>
          </a:p>
        </p:txBody>
      </p:sp>
      <p:sp>
        <p:nvSpPr>
          <p:cNvPr id="31" name="Text 25"/>
          <p:cNvSpPr txBox="1"/>
          <p:nvPr/>
        </p:nvSpPr>
        <p:spPr>
          <a:xfrm>
            <a:off x="6543904" y="4315968"/>
            <a:ext cx="4788256" cy="731520"/>
          </a:xfrm>
          <a:prstGeom prst="rect">
            <a:avLst/>
          </a:prstGeom>
          <a:noFill/>
          <a:ln/>
        </p:spPr>
        <p:txBody>
          <a:bodyPr wrap="square" lIns="0" tIns="0" rIns="0" bIns="0" rtlCol="0" anchor="t"/>
          <a:lstStyle/>
          <a:p>
            <a:pPr marL="0" indent="0">
              <a:lnSpc>
                <a:spcPts val="1500"/>
              </a:lnSpc>
              <a:buNone/>
            </a:pPr>
            <a:r>
              <a:rPr lang="en-US" sz="1150" dirty="0">
                <a:solidFill>
                  <a:srgbClr val="5F7271"/>
                </a:solidFill>
                <a:latin typeface="Calibri" pitchFamily="34" charset="0"/>
                <a:ea typeface="Calibri" pitchFamily="34" charset="-122"/>
                <a:cs typeface="Calibri" pitchFamily="34" charset="-120"/>
              </a:rPr>
              <a:t>Each vector is saved with its document name, page and chunk index, next to a BM25 keyword index. Both are kept on disk.</a:t>
            </a:r>
            <a:endParaRPr lang="en-US" sz="1150" dirty="0"/>
          </a:p>
        </p:txBody>
      </p:sp>
      <p:sp>
        <p:nvSpPr>
          <p:cNvPr id="32" name="Shape 26"/>
          <p:cNvSpPr/>
          <p:nvPr/>
        </p:nvSpPr>
        <p:spPr>
          <a:xfrm>
            <a:off x="566928" y="5285232"/>
            <a:ext cx="11057839" cy="1042416"/>
          </a:xfrm>
          <a:prstGeom prst="roundRect">
            <a:avLst>
              <a:gd name="adj" fmla="val 10526"/>
            </a:avLst>
          </a:prstGeom>
          <a:solidFill>
            <a:srgbClr val="12545A"/>
          </a:solidFill>
          <a:ln w="12700">
            <a:solidFill>
              <a:srgbClr val="12545A"/>
            </a:solidFill>
            <a:prstDash val="solid"/>
          </a:ln>
        </p:spPr>
        <p:txBody>
          <a:bodyPr/>
          <a:lstStyle/>
          <a:p>
            <a:endParaRPr dirty="0"/>
          </a:p>
        </p:txBody>
      </p:sp>
      <p:sp>
        <p:nvSpPr>
          <p:cNvPr id="33" name="Shape 27"/>
          <p:cNvSpPr/>
          <p:nvPr/>
        </p:nvSpPr>
        <p:spPr>
          <a:xfrm>
            <a:off x="896112" y="5568696"/>
            <a:ext cx="475488" cy="475488"/>
          </a:xfrm>
          <a:prstGeom prst="ellipse">
            <a:avLst/>
          </a:prstGeom>
          <a:solidFill>
            <a:srgbClr val="E8A33D"/>
          </a:solidFill>
          <a:ln w="12700">
            <a:solidFill>
              <a:srgbClr val="E8A33D"/>
            </a:solidFill>
            <a:prstDash val="solid"/>
          </a:ln>
        </p:spPr>
        <p:txBody>
          <a:bodyPr/>
          <a:lstStyle/>
          <a:p>
            <a:endParaRPr dirty="0"/>
          </a:p>
        </p:txBody>
      </p:sp>
      <p:pic>
        <p:nvPicPr>
          <p:cNvPr id="34" name="Image 4" descr="preencoded.png"/>
          <p:cNvPicPr>
            <a:picLocks noChangeAspect="1"/>
          </p:cNvPicPr>
          <p:nvPr/>
        </p:nvPicPr>
        <p:blipFill>
          <a:blip r:embed="rId7"/>
          <a:stretch>
            <a:fillRect/>
          </a:stretch>
        </p:blipFill>
        <p:spPr>
          <a:xfrm>
            <a:off x="1019739" y="5692323"/>
            <a:ext cx="228234" cy="228234"/>
          </a:xfrm>
          <a:prstGeom prst="rect">
            <a:avLst/>
          </a:prstGeom>
        </p:spPr>
      </p:pic>
      <p:sp>
        <p:nvSpPr>
          <p:cNvPr id="35" name="Text 28"/>
          <p:cNvSpPr txBox="1"/>
          <p:nvPr/>
        </p:nvSpPr>
        <p:spPr>
          <a:xfrm>
            <a:off x="1517904" y="5431536"/>
            <a:ext cx="9741103" cy="749808"/>
          </a:xfrm>
          <a:prstGeom prst="rect">
            <a:avLst/>
          </a:prstGeom>
          <a:noFill/>
          <a:ln/>
        </p:spPr>
        <p:txBody>
          <a:bodyPr wrap="square" lIns="0" tIns="0" rIns="0" bIns="0" rtlCol="0" anchor="ctr"/>
          <a:lstStyle/>
          <a:p>
            <a:pPr marL="0" indent="0">
              <a:lnSpc>
                <a:spcPts val="2000"/>
              </a:lnSpc>
              <a:buNone/>
            </a:pPr>
            <a:r>
              <a:rPr lang="en-US" sz="1400" b="1" dirty="0">
                <a:solidFill>
                  <a:srgbClr val="E8A33D"/>
                </a:solidFill>
                <a:latin typeface="Calibri" pitchFamily="34" charset="0"/>
                <a:ea typeface="Calibri" pitchFamily="34" charset="-122"/>
                <a:cs typeface="Calibri" pitchFamily="34" charset="-120"/>
              </a:rPr>
              <a:t>Result:  </a:t>
            </a:r>
            <a:r>
              <a:rPr lang="en-US" sz="1400" dirty="0">
                <a:solidFill>
                  <a:srgbClr val="FFFFFF"/>
                </a:solidFill>
                <a:latin typeface="Calibri" pitchFamily="34" charset="0"/>
                <a:ea typeface="Calibri" pitchFamily="34" charset="-122"/>
                <a:cs typeface="Calibri" pitchFamily="34" charset="-120"/>
              </a:rPr>
              <a:t>one searchable knowledge base built from many documents — and every passage in it still knows exactly where it came from.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STAGE TWO</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From a question to a cited answer</a:t>
            </a:r>
            <a:endParaRPr lang="en-US" sz="3400" dirty="0"/>
          </a:p>
        </p:txBody>
      </p:sp>
      <p:sp>
        <p:nvSpPr>
          <p:cNvPr id="4" name="Shape 2"/>
          <p:cNvSpPr/>
          <p:nvPr/>
        </p:nvSpPr>
        <p:spPr>
          <a:xfrm>
            <a:off x="566928" y="1426464"/>
            <a:ext cx="384048" cy="384048"/>
          </a:xfrm>
          <a:prstGeom prst="ellipse">
            <a:avLst/>
          </a:prstGeom>
          <a:solidFill>
            <a:srgbClr val="1C7C7C"/>
          </a:solidFill>
          <a:ln w="12700">
            <a:solidFill>
              <a:srgbClr val="1C7C7C"/>
            </a:solidFill>
            <a:prstDash val="solid"/>
          </a:ln>
        </p:spPr>
        <p:txBody>
          <a:bodyPr/>
          <a:lstStyle/>
          <a:p>
            <a:endParaRPr dirty="0"/>
          </a:p>
        </p:txBody>
      </p:sp>
      <p:sp>
        <p:nvSpPr>
          <p:cNvPr id="5" name="Text 3"/>
          <p:cNvSpPr txBox="1"/>
          <p:nvPr/>
        </p:nvSpPr>
        <p:spPr>
          <a:xfrm>
            <a:off x="566928" y="142646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758952" y="1847088"/>
            <a:ext cx="0" cy="576072"/>
          </a:xfrm>
          <a:prstGeom prst="line">
            <a:avLst/>
          </a:prstGeom>
          <a:noFill/>
          <a:ln w="19050">
            <a:solidFill>
              <a:srgbClr val="CFDEDB"/>
            </a:solidFill>
            <a:prstDash val="solid"/>
          </a:ln>
        </p:spPr>
        <p:txBody>
          <a:bodyPr/>
          <a:lstStyle/>
          <a:p>
            <a:endParaRPr dirty="0"/>
          </a:p>
        </p:txBody>
      </p:sp>
      <p:sp>
        <p:nvSpPr>
          <p:cNvPr id="7" name="Text 5"/>
          <p:cNvSpPr txBox="1"/>
          <p:nvPr/>
        </p:nvSpPr>
        <p:spPr>
          <a:xfrm>
            <a:off x="1170432" y="1389888"/>
            <a:ext cx="5852160" cy="274320"/>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User asks a question</a:t>
            </a:r>
            <a:endParaRPr lang="en-US" sz="1450" dirty="0"/>
          </a:p>
        </p:txBody>
      </p:sp>
      <p:sp>
        <p:nvSpPr>
          <p:cNvPr id="8" name="Text 6"/>
          <p:cNvSpPr txBox="1"/>
          <p:nvPr/>
        </p:nvSpPr>
        <p:spPr>
          <a:xfrm>
            <a:off x="1170432" y="1682496"/>
            <a:ext cx="5852160" cy="292608"/>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In plain language, as they would ask a person</a:t>
            </a:r>
            <a:endParaRPr lang="en-US" sz="1150" dirty="0"/>
          </a:p>
        </p:txBody>
      </p:sp>
      <p:sp>
        <p:nvSpPr>
          <p:cNvPr id="9" name="Shape 7"/>
          <p:cNvSpPr/>
          <p:nvPr/>
        </p:nvSpPr>
        <p:spPr>
          <a:xfrm>
            <a:off x="566928" y="2423160"/>
            <a:ext cx="384048" cy="384048"/>
          </a:xfrm>
          <a:prstGeom prst="ellipse">
            <a:avLst/>
          </a:prstGeom>
          <a:solidFill>
            <a:srgbClr val="1C7C7C"/>
          </a:solidFill>
          <a:ln w="12700">
            <a:solidFill>
              <a:srgbClr val="1C7C7C"/>
            </a:solidFill>
            <a:prstDash val="solid"/>
          </a:ln>
        </p:spPr>
        <p:txBody>
          <a:bodyPr/>
          <a:lstStyle/>
          <a:p>
            <a:endParaRPr dirty="0"/>
          </a:p>
        </p:txBody>
      </p:sp>
      <p:sp>
        <p:nvSpPr>
          <p:cNvPr id="10" name="Text 8"/>
          <p:cNvSpPr txBox="1"/>
          <p:nvPr/>
        </p:nvSpPr>
        <p:spPr>
          <a:xfrm>
            <a:off x="566928" y="24231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Shape 9"/>
          <p:cNvSpPr/>
          <p:nvPr/>
        </p:nvSpPr>
        <p:spPr>
          <a:xfrm>
            <a:off x="758952" y="2843784"/>
            <a:ext cx="0" cy="576072"/>
          </a:xfrm>
          <a:prstGeom prst="line">
            <a:avLst/>
          </a:prstGeom>
          <a:noFill/>
          <a:ln w="19050">
            <a:solidFill>
              <a:srgbClr val="CFDEDB"/>
            </a:solidFill>
            <a:prstDash val="solid"/>
          </a:ln>
        </p:spPr>
        <p:txBody>
          <a:bodyPr/>
          <a:lstStyle/>
          <a:p>
            <a:endParaRPr dirty="0"/>
          </a:p>
        </p:txBody>
      </p:sp>
      <p:sp>
        <p:nvSpPr>
          <p:cNvPr id="12" name="Text 10"/>
          <p:cNvSpPr txBox="1"/>
          <p:nvPr/>
        </p:nvSpPr>
        <p:spPr>
          <a:xfrm>
            <a:off x="1170432" y="2386584"/>
            <a:ext cx="5852160" cy="274320"/>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Hybrid search</a:t>
            </a:r>
            <a:endParaRPr lang="en-US" sz="1450" dirty="0"/>
          </a:p>
        </p:txBody>
      </p:sp>
      <p:sp>
        <p:nvSpPr>
          <p:cNvPr id="13" name="Text 11"/>
          <p:cNvSpPr txBox="1"/>
          <p:nvPr/>
        </p:nvSpPr>
        <p:spPr>
          <a:xfrm>
            <a:off x="1170432" y="2679192"/>
            <a:ext cx="5852160" cy="292608"/>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Vector similarity and BM25 keyword scores, merged by rank fusion</a:t>
            </a:r>
            <a:endParaRPr lang="en-US" sz="1150" dirty="0"/>
          </a:p>
        </p:txBody>
      </p:sp>
      <p:sp>
        <p:nvSpPr>
          <p:cNvPr id="14" name="Shape 12"/>
          <p:cNvSpPr/>
          <p:nvPr/>
        </p:nvSpPr>
        <p:spPr>
          <a:xfrm>
            <a:off x="566928" y="3419856"/>
            <a:ext cx="384048" cy="384048"/>
          </a:xfrm>
          <a:prstGeom prst="ellipse">
            <a:avLst/>
          </a:prstGeom>
          <a:solidFill>
            <a:srgbClr val="1C7C7C"/>
          </a:solidFill>
          <a:ln w="12700">
            <a:solidFill>
              <a:srgbClr val="1C7C7C"/>
            </a:solidFill>
            <a:prstDash val="solid"/>
          </a:ln>
        </p:spPr>
        <p:txBody>
          <a:bodyPr/>
          <a:lstStyle/>
          <a:p>
            <a:endParaRPr dirty="0"/>
          </a:p>
        </p:txBody>
      </p:sp>
      <p:sp>
        <p:nvSpPr>
          <p:cNvPr id="15" name="Text 13"/>
          <p:cNvSpPr txBox="1"/>
          <p:nvPr/>
        </p:nvSpPr>
        <p:spPr>
          <a:xfrm>
            <a:off x="566928" y="341985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Shape 14"/>
          <p:cNvSpPr/>
          <p:nvPr/>
        </p:nvSpPr>
        <p:spPr>
          <a:xfrm>
            <a:off x="758952" y="3840480"/>
            <a:ext cx="0" cy="576072"/>
          </a:xfrm>
          <a:prstGeom prst="line">
            <a:avLst/>
          </a:prstGeom>
          <a:noFill/>
          <a:ln w="19050">
            <a:solidFill>
              <a:srgbClr val="CFDEDB"/>
            </a:solidFill>
            <a:prstDash val="solid"/>
          </a:ln>
        </p:spPr>
        <p:txBody>
          <a:bodyPr/>
          <a:lstStyle/>
          <a:p>
            <a:endParaRPr dirty="0"/>
          </a:p>
        </p:txBody>
      </p:sp>
      <p:sp>
        <p:nvSpPr>
          <p:cNvPr id="17" name="Text 15"/>
          <p:cNvSpPr txBox="1"/>
          <p:nvPr/>
        </p:nvSpPr>
        <p:spPr>
          <a:xfrm>
            <a:off x="1170432" y="3383280"/>
            <a:ext cx="5852160" cy="274320"/>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Reranking</a:t>
            </a:r>
            <a:endParaRPr lang="en-US" sz="1450" dirty="0"/>
          </a:p>
        </p:txBody>
      </p:sp>
      <p:sp>
        <p:nvSpPr>
          <p:cNvPr id="18" name="Text 16"/>
          <p:cNvSpPr txBox="1"/>
          <p:nvPr/>
        </p:nvSpPr>
        <p:spPr>
          <a:xfrm>
            <a:off x="1170432" y="3675888"/>
            <a:ext cx="5852160" cy="292608"/>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A cross-encoder rescores 20 candidates and keeps the best 4</a:t>
            </a:r>
            <a:endParaRPr lang="en-US" sz="1150" dirty="0"/>
          </a:p>
        </p:txBody>
      </p:sp>
      <p:sp>
        <p:nvSpPr>
          <p:cNvPr id="19" name="Shape 17"/>
          <p:cNvSpPr/>
          <p:nvPr/>
        </p:nvSpPr>
        <p:spPr>
          <a:xfrm>
            <a:off x="566928" y="4416552"/>
            <a:ext cx="384048" cy="384048"/>
          </a:xfrm>
          <a:prstGeom prst="ellipse">
            <a:avLst/>
          </a:prstGeom>
          <a:solidFill>
            <a:srgbClr val="1C7C7C"/>
          </a:solidFill>
          <a:ln w="12700">
            <a:solidFill>
              <a:srgbClr val="1C7C7C"/>
            </a:solidFill>
            <a:prstDash val="solid"/>
          </a:ln>
        </p:spPr>
        <p:txBody>
          <a:bodyPr/>
          <a:lstStyle/>
          <a:p>
            <a:endParaRPr dirty="0"/>
          </a:p>
        </p:txBody>
      </p:sp>
      <p:sp>
        <p:nvSpPr>
          <p:cNvPr id="20" name="Text 18"/>
          <p:cNvSpPr txBox="1"/>
          <p:nvPr/>
        </p:nvSpPr>
        <p:spPr>
          <a:xfrm>
            <a:off x="566928" y="44165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Shape 19"/>
          <p:cNvSpPr/>
          <p:nvPr/>
        </p:nvSpPr>
        <p:spPr>
          <a:xfrm>
            <a:off x="758952" y="4837176"/>
            <a:ext cx="0" cy="576072"/>
          </a:xfrm>
          <a:prstGeom prst="line">
            <a:avLst/>
          </a:prstGeom>
          <a:noFill/>
          <a:ln w="19050">
            <a:solidFill>
              <a:srgbClr val="CFDEDB"/>
            </a:solidFill>
            <a:prstDash val="solid"/>
          </a:ln>
        </p:spPr>
        <p:txBody>
          <a:bodyPr/>
          <a:lstStyle/>
          <a:p>
            <a:endParaRPr dirty="0"/>
          </a:p>
        </p:txBody>
      </p:sp>
      <p:sp>
        <p:nvSpPr>
          <p:cNvPr id="22" name="Text 20"/>
          <p:cNvSpPr txBox="1"/>
          <p:nvPr/>
        </p:nvSpPr>
        <p:spPr>
          <a:xfrm>
            <a:off x="1170432" y="4379976"/>
            <a:ext cx="5852160" cy="274320"/>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Answer generation</a:t>
            </a:r>
            <a:endParaRPr lang="en-US" sz="1450" dirty="0"/>
          </a:p>
        </p:txBody>
      </p:sp>
      <p:sp>
        <p:nvSpPr>
          <p:cNvPr id="23" name="Text 21"/>
          <p:cNvSpPr txBox="1"/>
          <p:nvPr/>
        </p:nvSpPr>
        <p:spPr>
          <a:xfrm>
            <a:off x="1170432" y="4672584"/>
            <a:ext cx="5852160" cy="292608"/>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Only those passages are given to the LLM, with instructions to use nothing else</a:t>
            </a:r>
            <a:endParaRPr lang="en-US" sz="1150" dirty="0"/>
          </a:p>
        </p:txBody>
      </p:sp>
      <p:sp>
        <p:nvSpPr>
          <p:cNvPr id="24" name="Shape 22"/>
          <p:cNvSpPr/>
          <p:nvPr/>
        </p:nvSpPr>
        <p:spPr>
          <a:xfrm>
            <a:off x="566928" y="5413248"/>
            <a:ext cx="384048" cy="384048"/>
          </a:xfrm>
          <a:prstGeom prst="ellipse">
            <a:avLst/>
          </a:prstGeom>
          <a:solidFill>
            <a:srgbClr val="1C7C7C"/>
          </a:solidFill>
          <a:ln w="12700">
            <a:solidFill>
              <a:srgbClr val="1C7C7C"/>
            </a:solidFill>
            <a:prstDash val="solid"/>
          </a:ln>
        </p:spPr>
        <p:txBody>
          <a:bodyPr/>
          <a:lstStyle/>
          <a:p>
            <a:endParaRPr dirty="0"/>
          </a:p>
        </p:txBody>
      </p:sp>
      <p:sp>
        <p:nvSpPr>
          <p:cNvPr id="25" name="Text 23"/>
          <p:cNvSpPr txBox="1"/>
          <p:nvPr/>
        </p:nvSpPr>
        <p:spPr>
          <a:xfrm>
            <a:off x="566928" y="54132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170432" y="5376672"/>
            <a:ext cx="5852160" cy="274320"/>
          </a:xfrm>
          <a:prstGeom prst="rect">
            <a:avLst/>
          </a:prstGeom>
          <a:noFill/>
          <a:ln/>
        </p:spPr>
        <p:txBody>
          <a:bodyPr wrap="square" lIns="0" tIns="0" rIns="0" bIns="0" rtlCol="0" anchor="ctr"/>
          <a:lstStyle/>
          <a:p>
            <a:pPr marL="0" indent="0">
              <a:buNone/>
            </a:pPr>
            <a:r>
              <a:rPr lang="en-US" sz="1450" b="1" dirty="0">
                <a:solidFill>
                  <a:srgbClr val="172B2B"/>
                </a:solidFill>
                <a:latin typeface="Calibri" pitchFamily="34" charset="0"/>
                <a:ea typeface="Calibri" pitchFamily="34" charset="-122"/>
                <a:cs typeface="Calibri" pitchFamily="34" charset="-120"/>
              </a:rPr>
              <a:t>Citations attached</a:t>
            </a:r>
            <a:endParaRPr lang="en-US" sz="1450" dirty="0"/>
          </a:p>
        </p:txBody>
      </p:sp>
      <p:sp>
        <p:nvSpPr>
          <p:cNvPr id="27" name="Text 25"/>
          <p:cNvSpPr txBox="1"/>
          <p:nvPr/>
        </p:nvSpPr>
        <p:spPr>
          <a:xfrm>
            <a:off x="1170432" y="5669280"/>
            <a:ext cx="5852160" cy="292608"/>
          </a:xfrm>
          <a:prstGeom prst="rect">
            <a:avLst/>
          </a:prstGeom>
          <a:noFill/>
          <a:ln/>
        </p:spPr>
        <p:txBody>
          <a:bodyPr wrap="square" lIns="0" tIns="0" rIns="0" bIns="0" rtlCol="0" anchor="ctr"/>
          <a:lstStyle/>
          <a:p>
            <a:pPr marL="0" indent="0">
              <a:buNone/>
            </a:pPr>
            <a:r>
              <a:rPr lang="en-US" sz="1150" dirty="0">
                <a:solidFill>
                  <a:srgbClr val="5F7271"/>
                </a:solidFill>
                <a:latin typeface="Calibri" pitchFamily="34" charset="0"/>
                <a:ea typeface="Calibri" pitchFamily="34" charset="-122"/>
                <a:cs typeface="Calibri" pitchFamily="34" charset="-120"/>
              </a:rPr>
              <a:t>Each claim is tagged [Doc, Page]; one click opens the exact passage</a:t>
            </a:r>
            <a:endParaRPr lang="en-US" sz="1150" dirty="0"/>
          </a:p>
        </p:txBody>
      </p:sp>
      <p:sp>
        <p:nvSpPr>
          <p:cNvPr id="28" name="Shape 26"/>
          <p:cNvSpPr/>
          <p:nvPr/>
        </p:nvSpPr>
        <p:spPr>
          <a:xfrm>
            <a:off x="7223760" y="1389888"/>
            <a:ext cx="4401007" cy="4700016"/>
          </a:xfrm>
          <a:prstGeom prst="roundRect">
            <a:avLst>
              <a:gd name="adj" fmla="val 2078"/>
            </a:avLst>
          </a:prstGeom>
          <a:solidFill>
            <a:srgbClr val="EFF4F3"/>
          </a:solidFill>
          <a:ln w="12700">
            <a:solidFill>
              <a:srgbClr val="CFDEDB"/>
            </a:solidFill>
            <a:prstDash val="solid"/>
          </a:ln>
        </p:spPr>
        <p:txBody>
          <a:bodyPr/>
          <a:lstStyle/>
          <a:p>
            <a:endParaRPr dirty="0"/>
          </a:p>
        </p:txBody>
      </p:sp>
      <p:sp>
        <p:nvSpPr>
          <p:cNvPr id="29" name="Text 27"/>
          <p:cNvSpPr txBox="1"/>
          <p:nvPr/>
        </p:nvSpPr>
        <p:spPr>
          <a:xfrm>
            <a:off x="7516368" y="1664208"/>
            <a:ext cx="3815791" cy="256032"/>
          </a:xfrm>
          <a:prstGeom prst="rect">
            <a:avLst/>
          </a:prstGeom>
          <a:noFill/>
          <a:ln/>
        </p:spPr>
        <p:txBody>
          <a:bodyPr wrap="square" lIns="0" tIns="0" rIns="0" bIns="0" rtlCol="0" anchor="ctr"/>
          <a:lstStyle/>
          <a:p>
            <a:pPr marL="0" indent="0">
              <a:buNone/>
            </a:pPr>
            <a:r>
              <a:rPr lang="en-US" sz="1050" b="1" kern="0" spc="150" dirty="0">
                <a:solidFill>
                  <a:srgbClr val="1C7C7C"/>
                </a:solidFill>
                <a:latin typeface="Calibri" pitchFamily="34" charset="0"/>
                <a:ea typeface="Calibri" pitchFamily="34" charset="-122"/>
                <a:cs typeface="Calibri" pitchFamily="34" charset="-120"/>
              </a:rPr>
              <a:t>WORKED EXAMPLE</a:t>
            </a:r>
            <a:endParaRPr lang="en-US" sz="1050" dirty="0"/>
          </a:p>
        </p:txBody>
      </p:sp>
      <p:sp>
        <p:nvSpPr>
          <p:cNvPr id="30" name="Shape 28"/>
          <p:cNvSpPr/>
          <p:nvPr/>
        </p:nvSpPr>
        <p:spPr>
          <a:xfrm>
            <a:off x="7516368" y="2029968"/>
            <a:ext cx="3815791" cy="621792"/>
          </a:xfrm>
          <a:prstGeom prst="roundRect">
            <a:avLst>
              <a:gd name="adj" fmla="val 14706"/>
            </a:avLst>
          </a:prstGeom>
          <a:solidFill>
            <a:srgbClr val="FFFFFF"/>
          </a:solidFill>
          <a:ln w="12700">
            <a:solidFill>
              <a:srgbClr val="CFDEDB"/>
            </a:solidFill>
            <a:prstDash val="solid"/>
          </a:ln>
        </p:spPr>
        <p:txBody>
          <a:bodyPr/>
          <a:lstStyle/>
          <a:p>
            <a:endParaRPr dirty="0"/>
          </a:p>
        </p:txBody>
      </p:sp>
      <p:sp>
        <p:nvSpPr>
          <p:cNvPr id="31" name="Text 29"/>
          <p:cNvSpPr txBox="1"/>
          <p:nvPr/>
        </p:nvSpPr>
        <p:spPr>
          <a:xfrm>
            <a:off x="7644384" y="2029968"/>
            <a:ext cx="3559759" cy="621792"/>
          </a:xfrm>
          <a:prstGeom prst="rect">
            <a:avLst/>
          </a:prstGeom>
          <a:noFill/>
          <a:ln/>
        </p:spPr>
        <p:txBody>
          <a:bodyPr wrap="square" lIns="0" tIns="0" rIns="0" bIns="0" rtlCol="0" anchor="ctr"/>
          <a:lstStyle/>
          <a:p>
            <a:pPr marL="0" indent="0">
              <a:buNone/>
            </a:pPr>
            <a:r>
              <a:rPr lang="en-US" sz="1300" i="1" dirty="0">
                <a:solidFill>
                  <a:srgbClr val="172B2B"/>
                </a:solidFill>
                <a:latin typeface="Calibri" pitchFamily="34" charset="0"/>
                <a:ea typeface="Calibri" pitchFamily="34" charset="-122"/>
                <a:cs typeface="Calibri" pitchFamily="34" charset="-120"/>
              </a:rPr>
              <a:t>“What are the eligibility requirements?”</a:t>
            </a:r>
            <a:endParaRPr lang="en-US" sz="1300" dirty="0"/>
          </a:p>
        </p:txBody>
      </p:sp>
      <p:sp>
        <p:nvSpPr>
          <p:cNvPr id="32" name="Text 30"/>
          <p:cNvSpPr txBox="1"/>
          <p:nvPr/>
        </p:nvSpPr>
        <p:spPr>
          <a:xfrm>
            <a:off x="7516368" y="2871216"/>
            <a:ext cx="3815791" cy="237744"/>
          </a:xfrm>
          <a:prstGeom prst="rect">
            <a:avLst/>
          </a:prstGeom>
          <a:noFill/>
          <a:ln/>
        </p:spPr>
        <p:txBody>
          <a:bodyPr wrap="square" lIns="0" tIns="0" rIns="0" bIns="0" rtlCol="0" anchor="ctr"/>
          <a:lstStyle/>
          <a:p>
            <a:pPr marL="0" indent="0">
              <a:buNone/>
            </a:pPr>
            <a:r>
              <a:rPr lang="en-US" sz="1000" b="1" kern="0" spc="140" dirty="0">
                <a:solidFill>
                  <a:srgbClr val="5F7271"/>
                </a:solidFill>
                <a:latin typeface="Calibri" pitchFamily="34" charset="0"/>
                <a:ea typeface="Calibri" pitchFamily="34" charset="-122"/>
                <a:cs typeface="Calibri" pitchFamily="34" charset="-120"/>
              </a:rPr>
              <a:t>RETRIEVED PASSAGES</a:t>
            </a:r>
            <a:endParaRPr lang="en-US" sz="1000" dirty="0"/>
          </a:p>
        </p:txBody>
      </p:sp>
      <p:sp>
        <p:nvSpPr>
          <p:cNvPr id="33" name="Shape 31"/>
          <p:cNvSpPr/>
          <p:nvPr/>
        </p:nvSpPr>
        <p:spPr>
          <a:xfrm>
            <a:off x="7516368" y="3200400"/>
            <a:ext cx="3815791" cy="457200"/>
          </a:xfrm>
          <a:prstGeom prst="roundRect">
            <a:avLst>
              <a:gd name="adj" fmla="val 18000"/>
            </a:avLst>
          </a:prstGeom>
          <a:solidFill>
            <a:srgbClr val="FFFFFF"/>
          </a:solidFill>
          <a:ln w="12700">
            <a:solidFill>
              <a:srgbClr val="CFDEDB"/>
            </a:solidFill>
            <a:prstDash val="solid"/>
          </a:ln>
        </p:spPr>
        <p:txBody>
          <a:bodyPr/>
          <a:lstStyle/>
          <a:p>
            <a:endParaRPr dirty="0"/>
          </a:p>
        </p:txBody>
      </p:sp>
      <p:sp>
        <p:nvSpPr>
          <p:cNvPr id="34" name="Shape 32"/>
          <p:cNvSpPr/>
          <p:nvPr/>
        </p:nvSpPr>
        <p:spPr>
          <a:xfrm>
            <a:off x="7626096" y="3310128"/>
            <a:ext cx="384048" cy="237744"/>
          </a:xfrm>
          <a:prstGeom prst="roundRect">
            <a:avLst>
              <a:gd name="adj" fmla="val 50000"/>
            </a:avLst>
          </a:prstGeom>
          <a:solidFill>
            <a:srgbClr val="1C7C7C"/>
          </a:solidFill>
          <a:ln w="12700">
            <a:solidFill>
              <a:srgbClr val="1C7C7C"/>
            </a:solidFill>
            <a:prstDash val="solid"/>
          </a:ln>
        </p:spPr>
        <p:txBody>
          <a:bodyPr/>
          <a:lstStyle/>
          <a:p>
            <a:endParaRPr dirty="0"/>
          </a:p>
        </p:txBody>
      </p:sp>
      <p:sp>
        <p:nvSpPr>
          <p:cNvPr id="35" name="Text 33"/>
          <p:cNvSpPr txBox="1"/>
          <p:nvPr/>
        </p:nvSpPr>
        <p:spPr>
          <a:xfrm>
            <a:off x="7626096" y="3310128"/>
            <a:ext cx="384048"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S1</a:t>
            </a:r>
            <a:endParaRPr lang="en-US" sz="950" dirty="0"/>
          </a:p>
        </p:txBody>
      </p:sp>
      <p:sp>
        <p:nvSpPr>
          <p:cNvPr id="36" name="Text 34"/>
          <p:cNvSpPr txBox="1"/>
          <p:nvPr/>
        </p:nvSpPr>
        <p:spPr>
          <a:xfrm>
            <a:off x="8101584" y="3200400"/>
            <a:ext cx="3212287" cy="457200"/>
          </a:xfrm>
          <a:prstGeom prst="rect">
            <a:avLst/>
          </a:prstGeom>
          <a:noFill/>
          <a:ln/>
        </p:spPr>
        <p:txBody>
          <a:bodyPr wrap="square" lIns="0" tIns="0" rIns="0" bIns="0" rtlCol="0" anchor="ctr"/>
          <a:lstStyle/>
          <a:p>
            <a:pPr marL="0" indent="0">
              <a:buNone/>
            </a:pPr>
            <a:r>
              <a:rPr lang="en-US" sz="1100" dirty="0">
                <a:solidFill>
                  <a:srgbClr val="172B2B"/>
                </a:solidFill>
                <a:latin typeface="Calibri" pitchFamily="34" charset="0"/>
                <a:ea typeface="Calibri" pitchFamily="34" charset="-122"/>
                <a:cs typeface="Calibri" pitchFamily="34" charset="-120"/>
              </a:rPr>
              <a:t>admissions-policy.pdf   ·   p. 3</a:t>
            </a:r>
            <a:endParaRPr lang="en-US" sz="1100" dirty="0"/>
          </a:p>
        </p:txBody>
      </p:sp>
      <p:sp>
        <p:nvSpPr>
          <p:cNvPr id="37" name="Shape 35"/>
          <p:cNvSpPr/>
          <p:nvPr/>
        </p:nvSpPr>
        <p:spPr>
          <a:xfrm>
            <a:off x="7516368" y="3767328"/>
            <a:ext cx="3815791" cy="457200"/>
          </a:xfrm>
          <a:prstGeom prst="roundRect">
            <a:avLst>
              <a:gd name="adj" fmla="val 18000"/>
            </a:avLst>
          </a:prstGeom>
          <a:solidFill>
            <a:srgbClr val="FFFFFF"/>
          </a:solidFill>
          <a:ln w="12700">
            <a:solidFill>
              <a:srgbClr val="CFDEDB"/>
            </a:solidFill>
            <a:prstDash val="solid"/>
          </a:ln>
        </p:spPr>
        <p:txBody>
          <a:bodyPr/>
          <a:lstStyle/>
          <a:p>
            <a:endParaRPr dirty="0"/>
          </a:p>
        </p:txBody>
      </p:sp>
      <p:sp>
        <p:nvSpPr>
          <p:cNvPr id="38" name="Shape 36"/>
          <p:cNvSpPr/>
          <p:nvPr/>
        </p:nvSpPr>
        <p:spPr>
          <a:xfrm>
            <a:off x="7626096" y="3877056"/>
            <a:ext cx="384048" cy="237744"/>
          </a:xfrm>
          <a:prstGeom prst="roundRect">
            <a:avLst>
              <a:gd name="adj" fmla="val 50000"/>
            </a:avLst>
          </a:prstGeom>
          <a:solidFill>
            <a:srgbClr val="1C7C7C"/>
          </a:solidFill>
          <a:ln w="12700">
            <a:solidFill>
              <a:srgbClr val="1C7C7C"/>
            </a:solidFill>
            <a:prstDash val="solid"/>
          </a:ln>
        </p:spPr>
        <p:txBody>
          <a:bodyPr/>
          <a:lstStyle/>
          <a:p>
            <a:endParaRPr dirty="0"/>
          </a:p>
        </p:txBody>
      </p:sp>
      <p:sp>
        <p:nvSpPr>
          <p:cNvPr id="39" name="Text 37"/>
          <p:cNvSpPr txBox="1"/>
          <p:nvPr/>
        </p:nvSpPr>
        <p:spPr>
          <a:xfrm>
            <a:off x="7626096" y="3877056"/>
            <a:ext cx="384048"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S2</a:t>
            </a:r>
            <a:endParaRPr lang="en-US" sz="950" dirty="0"/>
          </a:p>
        </p:txBody>
      </p:sp>
      <p:sp>
        <p:nvSpPr>
          <p:cNvPr id="40" name="Text 38"/>
          <p:cNvSpPr txBox="1"/>
          <p:nvPr/>
        </p:nvSpPr>
        <p:spPr>
          <a:xfrm>
            <a:off x="8101584" y="3767328"/>
            <a:ext cx="3212287" cy="457200"/>
          </a:xfrm>
          <a:prstGeom prst="rect">
            <a:avLst/>
          </a:prstGeom>
          <a:noFill/>
          <a:ln/>
        </p:spPr>
        <p:txBody>
          <a:bodyPr wrap="square" lIns="0" tIns="0" rIns="0" bIns="0" rtlCol="0" anchor="ctr"/>
          <a:lstStyle/>
          <a:p>
            <a:pPr marL="0" indent="0">
              <a:buNone/>
            </a:pPr>
            <a:r>
              <a:rPr lang="en-US" sz="1100" dirty="0">
                <a:solidFill>
                  <a:srgbClr val="172B2B"/>
                </a:solidFill>
                <a:latin typeface="Calibri" pitchFamily="34" charset="0"/>
                <a:ea typeface="Calibri" pitchFamily="34" charset="-122"/>
                <a:cs typeface="Calibri" pitchFamily="34" charset="-120"/>
              </a:rPr>
              <a:t>programme-handbook.pdf   ·   p. 11</a:t>
            </a:r>
            <a:endParaRPr lang="en-US" sz="1100" dirty="0"/>
          </a:p>
        </p:txBody>
      </p:sp>
      <p:sp>
        <p:nvSpPr>
          <p:cNvPr id="41" name="Shape 39"/>
          <p:cNvSpPr/>
          <p:nvPr/>
        </p:nvSpPr>
        <p:spPr>
          <a:xfrm>
            <a:off x="7516368" y="4334256"/>
            <a:ext cx="3815791" cy="457200"/>
          </a:xfrm>
          <a:prstGeom prst="roundRect">
            <a:avLst>
              <a:gd name="adj" fmla="val 18000"/>
            </a:avLst>
          </a:prstGeom>
          <a:solidFill>
            <a:srgbClr val="FFFFFF"/>
          </a:solidFill>
          <a:ln w="12700">
            <a:solidFill>
              <a:srgbClr val="CFDEDB"/>
            </a:solidFill>
            <a:prstDash val="solid"/>
          </a:ln>
        </p:spPr>
        <p:txBody>
          <a:bodyPr/>
          <a:lstStyle/>
          <a:p>
            <a:endParaRPr dirty="0"/>
          </a:p>
        </p:txBody>
      </p:sp>
      <p:sp>
        <p:nvSpPr>
          <p:cNvPr id="42" name="Shape 40"/>
          <p:cNvSpPr/>
          <p:nvPr/>
        </p:nvSpPr>
        <p:spPr>
          <a:xfrm>
            <a:off x="7626096" y="4443984"/>
            <a:ext cx="384048" cy="237744"/>
          </a:xfrm>
          <a:prstGeom prst="roundRect">
            <a:avLst>
              <a:gd name="adj" fmla="val 50000"/>
            </a:avLst>
          </a:prstGeom>
          <a:solidFill>
            <a:srgbClr val="1C7C7C"/>
          </a:solidFill>
          <a:ln w="12700">
            <a:solidFill>
              <a:srgbClr val="1C7C7C"/>
            </a:solidFill>
            <a:prstDash val="solid"/>
          </a:ln>
        </p:spPr>
        <p:txBody>
          <a:bodyPr/>
          <a:lstStyle/>
          <a:p>
            <a:endParaRPr dirty="0"/>
          </a:p>
        </p:txBody>
      </p:sp>
      <p:sp>
        <p:nvSpPr>
          <p:cNvPr id="43" name="Text 41"/>
          <p:cNvSpPr txBox="1"/>
          <p:nvPr/>
        </p:nvSpPr>
        <p:spPr>
          <a:xfrm>
            <a:off x="7626096" y="4443984"/>
            <a:ext cx="384048"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S3</a:t>
            </a:r>
            <a:endParaRPr lang="en-US" sz="950" dirty="0"/>
          </a:p>
        </p:txBody>
      </p:sp>
      <p:sp>
        <p:nvSpPr>
          <p:cNvPr id="44" name="Text 42"/>
          <p:cNvSpPr txBox="1"/>
          <p:nvPr/>
        </p:nvSpPr>
        <p:spPr>
          <a:xfrm>
            <a:off x="8101584" y="4334256"/>
            <a:ext cx="3212287" cy="457200"/>
          </a:xfrm>
          <a:prstGeom prst="rect">
            <a:avLst/>
          </a:prstGeom>
          <a:noFill/>
          <a:ln/>
        </p:spPr>
        <p:txBody>
          <a:bodyPr wrap="square" lIns="0" tIns="0" rIns="0" bIns="0" rtlCol="0" anchor="ctr"/>
          <a:lstStyle/>
          <a:p>
            <a:pPr marL="0" indent="0">
              <a:buNone/>
            </a:pPr>
            <a:r>
              <a:rPr lang="en-US" sz="1100" dirty="0">
                <a:solidFill>
                  <a:srgbClr val="172B2B"/>
                </a:solidFill>
                <a:latin typeface="Calibri" pitchFamily="34" charset="0"/>
                <a:ea typeface="Calibri" pitchFamily="34" charset="-122"/>
                <a:cs typeface="Calibri" pitchFamily="34" charset="-120"/>
              </a:rPr>
              <a:t>fee-circular.pdf   ·   p. 2</a:t>
            </a:r>
            <a:endParaRPr lang="en-US" sz="1100" dirty="0"/>
          </a:p>
        </p:txBody>
      </p:sp>
      <p:sp>
        <p:nvSpPr>
          <p:cNvPr id="45" name="Shape 43"/>
          <p:cNvSpPr/>
          <p:nvPr/>
        </p:nvSpPr>
        <p:spPr>
          <a:xfrm>
            <a:off x="7516368" y="5084064"/>
            <a:ext cx="3815791" cy="786384"/>
          </a:xfrm>
          <a:prstGeom prst="roundRect">
            <a:avLst>
              <a:gd name="adj" fmla="val 11628"/>
            </a:avLst>
          </a:prstGeom>
          <a:solidFill>
            <a:srgbClr val="0E2F30"/>
          </a:solidFill>
          <a:ln w="12700">
            <a:solidFill>
              <a:srgbClr val="0E2F30"/>
            </a:solidFill>
            <a:prstDash val="solid"/>
          </a:ln>
        </p:spPr>
        <p:txBody>
          <a:bodyPr/>
          <a:lstStyle/>
          <a:p>
            <a:endParaRPr dirty="0"/>
          </a:p>
        </p:txBody>
      </p:sp>
      <p:sp>
        <p:nvSpPr>
          <p:cNvPr id="46" name="Text 44"/>
          <p:cNvSpPr txBox="1"/>
          <p:nvPr/>
        </p:nvSpPr>
        <p:spPr>
          <a:xfrm>
            <a:off x="7680960" y="5084064"/>
            <a:ext cx="3486607" cy="786384"/>
          </a:xfrm>
          <a:prstGeom prst="rect">
            <a:avLst/>
          </a:prstGeom>
          <a:noFill/>
          <a:ln/>
        </p:spPr>
        <p:txBody>
          <a:bodyPr wrap="square" lIns="0" tIns="0" rIns="0" bIns="0" rtlCol="0" anchor="ctr"/>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Answer drawn from 3 documents</a:t>
            </a:r>
            <a:endParaRPr lang="en-US" sz="1250" dirty="0"/>
          </a:p>
          <a:p>
            <a:pPr marL="0" indent="0">
              <a:lnSpc>
                <a:spcPts val="1600"/>
              </a:lnSpc>
              <a:buNone/>
            </a:pPr>
            <a:r>
              <a:rPr lang="en-US" sz="1050" dirty="0">
                <a:solidFill>
                  <a:srgbClr val="9BCFC7"/>
                </a:solidFill>
                <a:latin typeface="Calibri" pitchFamily="34" charset="0"/>
                <a:ea typeface="Calibri" pitchFamily="34" charset="-122"/>
                <a:cs typeface="Calibri" pitchFamily="34" charset="-120"/>
              </a:rPr>
              <a:t>cited as S1, S2 and S3 inside the text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INPUT AND EXPECTED OUTPUT</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What goes in, what comes out</a:t>
            </a:r>
            <a:endParaRPr lang="en-US" sz="3400" dirty="0"/>
          </a:p>
        </p:txBody>
      </p:sp>
      <p:sp>
        <p:nvSpPr>
          <p:cNvPr id="4" name="Shape 2"/>
          <p:cNvSpPr/>
          <p:nvPr/>
        </p:nvSpPr>
        <p:spPr>
          <a:xfrm>
            <a:off x="566928" y="1371600"/>
            <a:ext cx="5074920" cy="4617720"/>
          </a:xfrm>
          <a:prstGeom prst="roundRect">
            <a:avLst>
              <a:gd name="adj" fmla="val 1980"/>
            </a:avLst>
          </a:prstGeom>
          <a:solidFill>
            <a:srgbClr val="EFF4F3"/>
          </a:solidFill>
          <a:ln w="12700">
            <a:solidFill>
              <a:srgbClr val="EFF4F3"/>
            </a:solidFill>
            <a:prstDash val="solid"/>
          </a:ln>
        </p:spPr>
        <p:txBody>
          <a:bodyPr/>
          <a:lstStyle/>
          <a:p>
            <a:endParaRPr dirty="0"/>
          </a:p>
        </p:txBody>
      </p:sp>
      <p:sp>
        <p:nvSpPr>
          <p:cNvPr id="5" name="Text 3"/>
          <p:cNvSpPr txBox="1"/>
          <p:nvPr/>
        </p:nvSpPr>
        <p:spPr>
          <a:xfrm>
            <a:off x="877824" y="1645920"/>
            <a:ext cx="4453128" cy="274320"/>
          </a:xfrm>
          <a:prstGeom prst="rect">
            <a:avLst/>
          </a:prstGeom>
          <a:noFill/>
          <a:ln/>
        </p:spPr>
        <p:txBody>
          <a:bodyPr wrap="square" lIns="0" tIns="0" rIns="0" bIns="0" rtlCol="0" anchor="ctr"/>
          <a:lstStyle/>
          <a:p>
            <a:pPr marL="0" indent="0">
              <a:buNone/>
            </a:pPr>
            <a:r>
              <a:rPr lang="en-US" sz="1100" b="1" kern="0" spc="180" dirty="0">
                <a:solidFill>
                  <a:srgbClr val="1C7C7C"/>
                </a:solidFill>
                <a:latin typeface="Calibri" pitchFamily="34" charset="0"/>
                <a:ea typeface="Calibri" pitchFamily="34" charset="-122"/>
                <a:cs typeface="Calibri" pitchFamily="34" charset="-120"/>
              </a:rPr>
              <a:t>INPUT</a:t>
            </a:r>
            <a:endParaRPr lang="en-US" sz="1100" dirty="0"/>
          </a:p>
        </p:txBody>
      </p:sp>
      <p:sp>
        <p:nvSpPr>
          <p:cNvPr id="6" name="Shape 4"/>
          <p:cNvSpPr/>
          <p:nvPr/>
        </p:nvSpPr>
        <p:spPr>
          <a:xfrm>
            <a:off x="877824" y="2103120"/>
            <a:ext cx="4453128" cy="530352"/>
          </a:xfrm>
          <a:prstGeom prst="roundRect">
            <a:avLst>
              <a:gd name="adj" fmla="val 15517"/>
            </a:avLst>
          </a:prstGeom>
          <a:solidFill>
            <a:srgbClr val="FFFFFF"/>
          </a:solidFill>
          <a:ln w="12700">
            <a:solidFill>
              <a:srgbClr val="CFDEDB"/>
            </a:solidFill>
            <a:prstDash val="solid"/>
          </a:ln>
        </p:spPr>
        <p:txBody>
          <a:bodyPr/>
          <a:lstStyle/>
          <a:p>
            <a:endParaRPr dirty="0"/>
          </a:p>
        </p:txBody>
      </p:sp>
      <p:pic>
        <p:nvPicPr>
          <p:cNvPr id="7" name="Image 0" descr="preencoded.png"/>
          <p:cNvPicPr>
            <a:picLocks noChangeAspect="1"/>
          </p:cNvPicPr>
          <p:nvPr/>
        </p:nvPicPr>
        <p:blipFill>
          <a:blip r:embed="rId3"/>
          <a:stretch>
            <a:fillRect/>
          </a:stretch>
        </p:blipFill>
        <p:spPr>
          <a:xfrm>
            <a:off x="1024128" y="2258568"/>
            <a:ext cx="219456" cy="219456"/>
          </a:xfrm>
          <a:prstGeom prst="rect">
            <a:avLst/>
          </a:prstGeom>
        </p:spPr>
      </p:pic>
      <p:sp>
        <p:nvSpPr>
          <p:cNvPr id="8" name="Text 5"/>
          <p:cNvSpPr txBox="1"/>
          <p:nvPr/>
        </p:nvSpPr>
        <p:spPr>
          <a:xfrm>
            <a:off x="1353312" y="2103120"/>
            <a:ext cx="3977640" cy="530352"/>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Document 1  ·  policy</a:t>
            </a:r>
            <a:endParaRPr lang="en-US" sz="1250" dirty="0"/>
          </a:p>
        </p:txBody>
      </p:sp>
      <p:sp>
        <p:nvSpPr>
          <p:cNvPr id="9" name="Shape 6"/>
          <p:cNvSpPr/>
          <p:nvPr/>
        </p:nvSpPr>
        <p:spPr>
          <a:xfrm>
            <a:off x="877824" y="2743200"/>
            <a:ext cx="4453128" cy="530352"/>
          </a:xfrm>
          <a:prstGeom prst="roundRect">
            <a:avLst>
              <a:gd name="adj" fmla="val 15517"/>
            </a:avLst>
          </a:prstGeom>
          <a:solidFill>
            <a:srgbClr val="FFFFFF"/>
          </a:solidFill>
          <a:ln w="12700">
            <a:solidFill>
              <a:srgbClr val="CFDEDB"/>
            </a:solidFill>
            <a:prstDash val="solid"/>
          </a:ln>
        </p:spPr>
        <p:txBody>
          <a:bodyPr/>
          <a:lstStyle/>
          <a:p>
            <a:endParaRPr dirty="0"/>
          </a:p>
        </p:txBody>
      </p:sp>
      <p:pic>
        <p:nvPicPr>
          <p:cNvPr id="10" name="Image 1" descr="preencoded.png"/>
          <p:cNvPicPr>
            <a:picLocks noChangeAspect="1"/>
          </p:cNvPicPr>
          <p:nvPr/>
        </p:nvPicPr>
        <p:blipFill>
          <a:blip r:embed="rId3"/>
          <a:stretch>
            <a:fillRect/>
          </a:stretch>
        </p:blipFill>
        <p:spPr>
          <a:xfrm>
            <a:off x="1024128" y="2898648"/>
            <a:ext cx="219456" cy="219456"/>
          </a:xfrm>
          <a:prstGeom prst="rect">
            <a:avLst/>
          </a:prstGeom>
        </p:spPr>
      </p:pic>
      <p:sp>
        <p:nvSpPr>
          <p:cNvPr id="11" name="Text 7"/>
          <p:cNvSpPr txBox="1"/>
          <p:nvPr/>
        </p:nvSpPr>
        <p:spPr>
          <a:xfrm>
            <a:off x="1353312" y="2743200"/>
            <a:ext cx="3977640" cy="530352"/>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Document 2  ·  handbook</a:t>
            </a:r>
            <a:endParaRPr lang="en-US" sz="1250" dirty="0"/>
          </a:p>
        </p:txBody>
      </p:sp>
      <p:sp>
        <p:nvSpPr>
          <p:cNvPr id="12" name="Shape 8"/>
          <p:cNvSpPr/>
          <p:nvPr/>
        </p:nvSpPr>
        <p:spPr>
          <a:xfrm>
            <a:off x="877824" y="3383280"/>
            <a:ext cx="4453128" cy="530352"/>
          </a:xfrm>
          <a:prstGeom prst="roundRect">
            <a:avLst>
              <a:gd name="adj" fmla="val 15517"/>
            </a:avLst>
          </a:prstGeom>
          <a:solidFill>
            <a:srgbClr val="FFFFFF"/>
          </a:solidFill>
          <a:ln w="12700">
            <a:solidFill>
              <a:srgbClr val="CFDEDB"/>
            </a:solidFill>
            <a:prstDash val="solid"/>
          </a:ln>
        </p:spPr>
        <p:txBody>
          <a:bodyPr/>
          <a:lstStyle/>
          <a:p>
            <a:endParaRPr dirty="0"/>
          </a:p>
        </p:txBody>
      </p:sp>
      <p:pic>
        <p:nvPicPr>
          <p:cNvPr id="13" name="Image 2" descr="preencoded.png"/>
          <p:cNvPicPr>
            <a:picLocks noChangeAspect="1"/>
          </p:cNvPicPr>
          <p:nvPr/>
        </p:nvPicPr>
        <p:blipFill>
          <a:blip r:embed="rId3"/>
          <a:stretch>
            <a:fillRect/>
          </a:stretch>
        </p:blipFill>
        <p:spPr>
          <a:xfrm>
            <a:off x="1024128" y="3538728"/>
            <a:ext cx="219456" cy="219456"/>
          </a:xfrm>
          <a:prstGeom prst="rect">
            <a:avLst/>
          </a:prstGeom>
        </p:spPr>
      </p:pic>
      <p:sp>
        <p:nvSpPr>
          <p:cNvPr id="14" name="Text 9"/>
          <p:cNvSpPr txBox="1"/>
          <p:nvPr/>
        </p:nvSpPr>
        <p:spPr>
          <a:xfrm>
            <a:off x="1353312" y="3383280"/>
            <a:ext cx="3977640" cy="530352"/>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Document 3  ·  circular</a:t>
            </a:r>
            <a:endParaRPr lang="en-US" sz="1250" dirty="0"/>
          </a:p>
        </p:txBody>
      </p:sp>
      <p:sp>
        <p:nvSpPr>
          <p:cNvPr id="15" name="Text 10"/>
          <p:cNvSpPr txBox="1"/>
          <p:nvPr/>
        </p:nvSpPr>
        <p:spPr>
          <a:xfrm>
            <a:off x="877824" y="4224528"/>
            <a:ext cx="4453128" cy="237744"/>
          </a:xfrm>
          <a:prstGeom prst="rect">
            <a:avLst/>
          </a:prstGeom>
          <a:noFill/>
          <a:ln/>
        </p:spPr>
        <p:txBody>
          <a:bodyPr wrap="square" lIns="0" tIns="0" rIns="0" bIns="0" rtlCol="0" anchor="ctr"/>
          <a:lstStyle/>
          <a:p>
            <a:pPr marL="0" indent="0">
              <a:buNone/>
            </a:pPr>
            <a:r>
              <a:rPr lang="en-US" sz="1000" b="1" kern="0" spc="140" dirty="0">
                <a:solidFill>
                  <a:srgbClr val="5F7271"/>
                </a:solidFill>
                <a:latin typeface="Calibri" pitchFamily="34" charset="0"/>
                <a:ea typeface="Calibri" pitchFamily="34" charset="-122"/>
                <a:cs typeface="Calibri" pitchFamily="34" charset="-120"/>
              </a:rPr>
              <a:t>USER QUESTION</a:t>
            </a:r>
            <a:endParaRPr lang="en-US" sz="1000" dirty="0"/>
          </a:p>
        </p:txBody>
      </p:sp>
      <p:sp>
        <p:nvSpPr>
          <p:cNvPr id="16" name="Shape 11"/>
          <p:cNvSpPr/>
          <p:nvPr/>
        </p:nvSpPr>
        <p:spPr>
          <a:xfrm>
            <a:off x="877824" y="4553712"/>
            <a:ext cx="4453128" cy="987552"/>
          </a:xfrm>
          <a:prstGeom prst="roundRect">
            <a:avLst>
              <a:gd name="adj" fmla="val 9259"/>
            </a:avLst>
          </a:prstGeom>
          <a:solidFill>
            <a:srgbClr val="FFFFFF"/>
          </a:solidFill>
          <a:ln w="15875">
            <a:solidFill>
              <a:srgbClr val="1C7C7C"/>
            </a:solidFill>
            <a:prstDash val="solid"/>
          </a:ln>
        </p:spPr>
        <p:txBody>
          <a:bodyPr/>
          <a:lstStyle/>
          <a:p>
            <a:endParaRPr dirty="0"/>
          </a:p>
        </p:txBody>
      </p:sp>
      <p:sp>
        <p:nvSpPr>
          <p:cNvPr id="17" name="Text 12"/>
          <p:cNvSpPr txBox="1"/>
          <p:nvPr/>
        </p:nvSpPr>
        <p:spPr>
          <a:xfrm>
            <a:off x="1024128" y="4553712"/>
            <a:ext cx="4160520" cy="987552"/>
          </a:xfrm>
          <a:prstGeom prst="rect">
            <a:avLst/>
          </a:prstGeom>
          <a:noFill/>
          <a:ln/>
        </p:spPr>
        <p:txBody>
          <a:bodyPr wrap="square" lIns="0" tIns="0" rIns="0" bIns="0" rtlCol="0" anchor="ctr"/>
          <a:lstStyle/>
          <a:p>
            <a:pPr marL="0" indent="0">
              <a:lnSpc>
                <a:spcPts val="1900"/>
              </a:lnSpc>
              <a:buNone/>
            </a:pPr>
            <a:r>
              <a:rPr lang="en-US" sz="1400" i="1" dirty="0">
                <a:solidFill>
                  <a:srgbClr val="172B2B"/>
                </a:solidFill>
                <a:latin typeface="Calibri" pitchFamily="34" charset="0"/>
                <a:ea typeface="Calibri" pitchFamily="34" charset="-122"/>
                <a:cs typeface="Calibri" pitchFamily="34" charset="-120"/>
              </a:rPr>
              <a:t>“What are the placement eligibility requirements?”</a:t>
            </a:r>
            <a:endParaRPr lang="en-US" sz="1400" dirty="0"/>
          </a:p>
        </p:txBody>
      </p:sp>
      <p:sp>
        <p:nvSpPr>
          <p:cNvPr id="18" name="Shape 13"/>
          <p:cNvSpPr/>
          <p:nvPr/>
        </p:nvSpPr>
        <p:spPr>
          <a:xfrm>
            <a:off x="5870448" y="3465576"/>
            <a:ext cx="457200" cy="420624"/>
          </a:xfrm>
          <a:prstGeom prst="rightArrow">
            <a:avLst/>
          </a:prstGeom>
          <a:solidFill>
            <a:srgbClr val="E8A33D"/>
          </a:solidFill>
          <a:ln w="12700">
            <a:solidFill>
              <a:srgbClr val="E8A33D"/>
            </a:solidFill>
            <a:prstDash val="solid"/>
          </a:ln>
        </p:spPr>
        <p:txBody>
          <a:bodyPr/>
          <a:lstStyle/>
          <a:p>
            <a:endParaRPr dirty="0"/>
          </a:p>
        </p:txBody>
      </p:sp>
      <p:sp>
        <p:nvSpPr>
          <p:cNvPr id="19" name="Shape 14"/>
          <p:cNvSpPr/>
          <p:nvPr/>
        </p:nvSpPr>
        <p:spPr>
          <a:xfrm>
            <a:off x="6549847" y="1371600"/>
            <a:ext cx="5074920" cy="4617720"/>
          </a:xfrm>
          <a:prstGeom prst="roundRect">
            <a:avLst>
              <a:gd name="adj" fmla="val 2376"/>
            </a:avLst>
          </a:prstGeom>
          <a:solidFill>
            <a:srgbClr val="0E2F30"/>
          </a:solidFill>
          <a:ln w="12700">
            <a:solidFill>
              <a:srgbClr val="0E2F30"/>
            </a:solidFill>
            <a:prstDash val="solid"/>
          </a:ln>
          <a:effectLst>
            <a:outerShdw blurRad="127000" dist="25400" dir="5400000" algn="bl" rotWithShape="0">
              <a:srgbClr val="0E2F30">
                <a:alpha val="20000"/>
              </a:srgbClr>
            </a:outerShdw>
          </a:effectLst>
        </p:spPr>
        <p:txBody>
          <a:bodyPr/>
          <a:lstStyle/>
          <a:p>
            <a:endParaRPr dirty="0"/>
          </a:p>
        </p:txBody>
      </p:sp>
      <p:sp>
        <p:nvSpPr>
          <p:cNvPr id="20" name="Text 15"/>
          <p:cNvSpPr txBox="1"/>
          <p:nvPr/>
        </p:nvSpPr>
        <p:spPr>
          <a:xfrm>
            <a:off x="6860743" y="1645920"/>
            <a:ext cx="4453128" cy="274320"/>
          </a:xfrm>
          <a:prstGeom prst="rect">
            <a:avLst/>
          </a:prstGeom>
          <a:noFill/>
          <a:ln/>
        </p:spPr>
        <p:txBody>
          <a:bodyPr wrap="square" lIns="0" tIns="0" rIns="0" bIns="0" rtlCol="0" anchor="ctr"/>
          <a:lstStyle/>
          <a:p>
            <a:pPr marL="0" indent="0">
              <a:buNone/>
            </a:pPr>
            <a:r>
              <a:rPr lang="en-US" sz="1100" b="1" kern="0" spc="180" dirty="0">
                <a:solidFill>
                  <a:srgbClr val="E8A33D"/>
                </a:solidFill>
                <a:latin typeface="Calibri" pitchFamily="34" charset="0"/>
                <a:ea typeface="Calibri" pitchFamily="34" charset="-122"/>
                <a:cs typeface="Calibri" pitchFamily="34" charset="-120"/>
              </a:rPr>
              <a:t>EXPECTED OUTPUT</a:t>
            </a:r>
            <a:endParaRPr lang="en-US" sz="1100" dirty="0"/>
          </a:p>
        </p:txBody>
      </p:sp>
      <p:sp>
        <p:nvSpPr>
          <p:cNvPr id="21" name="Text 16"/>
          <p:cNvSpPr txBox="1"/>
          <p:nvPr/>
        </p:nvSpPr>
        <p:spPr>
          <a:xfrm>
            <a:off x="6860743" y="2103120"/>
            <a:ext cx="4453128" cy="219456"/>
          </a:xfrm>
          <a:prstGeom prst="rect">
            <a:avLst/>
          </a:prstGeom>
          <a:noFill/>
          <a:ln/>
        </p:spPr>
        <p:txBody>
          <a:bodyPr wrap="square" lIns="0" tIns="0" rIns="0" bIns="0" rtlCol="0" anchor="ctr"/>
          <a:lstStyle/>
          <a:p>
            <a:pPr marL="0" indent="0">
              <a:buNone/>
            </a:pPr>
            <a:r>
              <a:rPr lang="en-US" sz="950" b="1" kern="0" spc="130" dirty="0">
                <a:solidFill>
                  <a:srgbClr val="9BCFC7"/>
                </a:solidFill>
                <a:latin typeface="Calibri" pitchFamily="34" charset="0"/>
                <a:ea typeface="Calibri" pitchFamily="34" charset="-122"/>
                <a:cs typeface="Calibri" pitchFamily="34" charset="-120"/>
              </a:rPr>
              <a:t>GENERATED ANSWER</a:t>
            </a:r>
            <a:endParaRPr lang="en-US" sz="950" dirty="0"/>
          </a:p>
        </p:txBody>
      </p:sp>
      <p:sp>
        <p:nvSpPr>
          <p:cNvPr id="22" name="Text 17"/>
          <p:cNvSpPr txBox="1"/>
          <p:nvPr/>
        </p:nvSpPr>
        <p:spPr>
          <a:xfrm>
            <a:off x="6860743" y="2414016"/>
            <a:ext cx="4453128" cy="786384"/>
          </a:xfrm>
          <a:prstGeom prst="rect">
            <a:avLst/>
          </a:prstGeom>
          <a:noFill/>
          <a:ln/>
        </p:spPr>
        <p:txBody>
          <a:bodyPr wrap="square" lIns="0" tIns="0" rIns="0" bIns="0" rtlCol="0" anchor="t"/>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A student must have cleared all backlogs and hold an aggregate of 60 percent to register for placement.</a:t>
            </a:r>
            <a:endParaRPr lang="en-US" sz="1350" dirty="0"/>
          </a:p>
        </p:txBody>
      </p:sp>
      <p:sp>
        <p:nvSpPr>
          <p:cNvPr id="23" name="Text 18"/>
          <p:cNvSpPr txBox="1"/>
          <p:nvPr/>
        </p:nvSpPr>
        <p:spPr>
          <a:xfrm>
            <a:off x="6860743" y="3346704"/>
            <a:ext cx="4453128" cy="219456"/>
          </a:xfrm>
          <a:prstGeom prst="rect">
            <a:avLst/>
          </a:prstGeom>
          <a:noFill/>
          <a:ln/>
        </p:spPr>
        <p:txBody>
          <a:bodyPr wrap="square" lIns="0" tIns="0" rIns="0" bIns="0" rtlCol="0" anchor="ctr"/>
          <a:lstStyle/>
          <a:p>
            <a:pPr marL="0" indent="0">
              <a:buNone/>
            </a:pPr>
            <a:r>
              <a:rPr lang="en-US" sz="950" b="1" kern="0" spc="130" dirty="0">
                <a:solidFill>
                  <a:srgbClr val="9BCFC7"/>
                </a:solidFill>
                <a:latin typeface="Calibri" pitchFamily="34" charset="0"/>
                <a:ea typeface="Calibri" pitchFamily="34" charset="-122"/>
                <a:cs typeface="Calibri" pitchFamily="34" charset="-120"/>
              </a:rPr>
              <a:t>SUPPORTING CITATIONS</a:t>
            </a:r>
            <a:endParaRPr lang="en-US" sz="950" dirty="0"/>
          </a:p>
        </p:txBody>
      </p:sp>
      <p:sp>
        <p:nvSpPr>
          <p:cNvPr id="24" name="Shape 19"/>
          <p:cNvSpPr/>
          <p:nvPr/>
        </p:nvSpPr>
        <p:spPr>
          <a:xfrm>
            <a:off x="6860743" y="3675888"/>
            <a:ext cx="4453128" cy="457200"/>
          </a:xfrm>
          <a:prstGeom prst="roundRect">
            <a:avLst>
              <a:gd name="adj" fmla="val 18000"/>
            </a:avLst>
          </a:prstGeom>
          <a:solidFill>
            <a:srgbClr val="16403F"/>
          </a:solidFill>
          <a:ln w="12700">
            <a:solidFill>
              <a:srgbClr val="12545A"/>
            </a:solidFill>
            <a:prstDash val="solid"/>
          </a:ln>
        </p:spPr>
        <p:txBody>
          <a:bodyPr/>
          <a:lstStyle/>
          <a:p>
            <a:endParaRPr dirty="0"/>
          </a:p>
        </p:txBody>
      </p:sp>
      <p:sp>
        <p:nvSpPr>
          <p:cNvPr id="25" name="Shape 20"/>
          <p:cNvSpPr/>
          <p:nvPr/>
        </p:nvSpPr>
        <p:spPr>
          <a:xfrm>
            <a:off x="6970471" y="3785616"/>
            <a:ext cx="384048" cy="237744"/>
          </a:xfrm>
          <a:prstGeom prst="roundRect">
            <a:avLst>
              <a:gd name="adj" fmla="val 50000"/>
            </a:avLst>
          </a:prstGeom>
          <a:solidFill>
            <a:srgbClr val="E8A33D"/>
          </a:solidFill>
          <a:ln w="12700">
            <a:solidFill>
              <a:srgbClr val="E8A33D"/>
            </a:solidFill>
            <a:prstDash val="solid"/>
          </a:ln>
        </p:spPr>
        <p:txBody>
          <a:bodyPr/>
          <a:lstStyle/>
          <a:p>
            <a:endParaRPr dirty="0"/>
          </a:p>
        </p:txBody>
      </p:sp>
      <p:sp>
        <p:nvSpPr>
          <p:cNvPr id="26" name="Text 21"/>
          <p:cNvSpPr txBox="1"/>
          <p:nvPr/>
        </p:nvSpPr>
        <p:spPr>
          <a:xfrm>
            <a:off x="6970471" y="3785616"/>
            <a:ext cx="384048" cy="237744"/>
          </a:xfrm>
          <a:prstGeom prst="rect">
            <a:avLst/>
          </a:prstGeom>
          <a:noFill/>
          <a:ln/>
        </p:spPr>
        <p:txBody>
          <a:bodyPr wrap="square" lIns="0" tIns="0" rIns="0" bIns="0" rtlCol="0" anchor="ctr"/>
          <a:lstStyle/>
          <a:p>
            <a:pPr marL="0" indent="0" algn="ctr">
              <a:buNone/>
            </a:pPr>
            <a:r>
              <a:rPr lang="en-US" sz="950" b="1" dirty="0">
                <a:solidFill>
                  <a:srgbClr val="0E2F30"/>
                </a:solidFill>
                <a:latin typeface="Calibri" pitchFamily="34" charset="0"/>
                <a:ea typeface="Calibri" pitchFamily="34" charset="-122"/>
                <a:cs typeface="Calibri" pitchFamily="34" charset="-120"/>
              </a:rPr>
              <a:t>S1</a:t>
            </a:r>
            <a:endParaRPr lang="en-US" sz="950" dirty="0"/>
          </a:p>
        </p:txBody>
      </p:sp>
      <p:sp>
        <p:nvSpPr>
          <p:cNvPr id="27" name="Text 22"/>
          <p:cNvSpPr txBox="1"/>
          <p:nvPr/>
        </p:nvSpPr>
        <p:spPr>
          <a:xfrm>
            <a:off x="7445959" y="3675888"/>
            <a:ext cx="3867912"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admissions-policy.pdf  ·  p. 3</a:t>
            </a:r>
            <a:endParaRPr lang="en-US" sz="1100" dirty="0"/>
          </a:p>
        </p:txBody>
      </p:sp>
      <p:sp>
        <p:nvSpPr>
          <p:cNvPr id="28" name="Shape 23"/>
          <p:cNvSpPr/>
          <p:nvPr/>
        </p:nvSpPr>
        <p:spPr>
          <a:xfrm>
            <a:off x="6860743" y="4224528"/>
            <a:ext cx="4453128" cy="457200"/>
          </a:xfrm>
          <a:prstGeom prst="roundRect">
            <a:avLst>
              <a:gd name="adj" fmla="val 18000"/>
            </a:avLst>
          </a:prstGeom>
          <a:solidFill>
            <a:srgbClr val="16403F"/>
          </a:solidFill>
          <a:ln w="12700">
            <a:solidFill>
              <a:srgbClr val="12545A"/>
            </a:solidFill>
            <a:prstDash val="solid"/>
          </a:ln>
        </p:spPr>
        <p:txBody>
          <a:bodyPr/>
          <a:lstStyle/>
          <a:p>
            <a:endParaRPr dirty="0"/>
          </a:p>
        </p:txBody>
      </p:sp>
      <p:sp>
        <p:nvSpPr>
          <p:cNvPr id="29" name="Shape 24"/>
          <p:cNvSpPr/>
          <p:nvPr/>
        </p:nvSpPr>
        <p:spPr>
          <a:xfrm>
            <a:off x="6970471" y="4334256"/>
            <a:ext cx="384048" cy="237744"/>
          </a:xfrm>
          <a:prstGeom prst="roundRect">
            <a:avLst>
              <a:gd name="adj" fmla="val 50000"/>
            </a:avLst>
          </a:prstGeom>
          <a:solidFill>
            <a:srgbClr val="E8A33D"/>
          </a:solidFill>
          <a:ln w="12700">
            <a:solidFill>
              <a:srgbClr val="E8A33D"/>
            </a:solidFill>
            <a:prstDash val="solid"/>
          </a:ln>
        </p:spPr>
        <p:txBody>
          <a:bodyPr/>
          <a:lstStyle/>
          <a:p>
            <a:endParaRPr dirty="0"/>
          </a:p>
        </p:txBody>
      </p:sp>
      <p:sp>
        <p:nvSpPr>
          <p:cNvPr id="30" name="Text 25"/>
          <p:cNvSpPr txBox="1"/>
          <p:nvPr/>
        </p:nvSpPr>
        <p:spPr>
          <a:xfrm>
            <a:off x="6970471" y="4334256"/>
            <a:ext cx="384048" cy="237744"/>
          </a:xfrm>
          <a:prstGeom prst="rect">
            <a:avLst/>
          </a:prstGeom>
          <a:noFill/>
          <a:ln/>
        </p:spPr>
        <p:txBody>
          <a:bodyPr wrap="square" lIns="0" tIns="0" rIns="0" bIns="0" rtlCol="0" anchor="ctr"/>
          <a:lstStyle/>
          <a:p>
            <a:pPr marL="0" indent="0" algn="ctr">
              <a:buNone/>
            </a:pPr>
            <a:r>
              <a:rPr lang="en-US" sz="950" b="1" dirty="0">
                <a:solidFill>
                  <a:srgbClr val="0E2F30"/>
                </a:solidFill>
                <a:latin typeface="Calibri" pitchFamily="34" charset="0"/>
                <a:ea typeface="Calibri" pitchFamily="34" charset="-122"/>
                <a:cs typeface="Calibri" pitchFamily="34" charset="-120"/>
              </a:rPr>
              <a:t>S2</a:t>
            </a:r>
            <a:endParaRPr lang="en-US" sz="950" dirty="0"/>
          </a:p>
        </p:txBody>
      </p:sp>
      <p:sp>
        <p:nvSpPr>
          <p:cNvPr id="31" name="Text 26"/>
          <p:cNvSpPr txBox="1"/>
          <p:nvPr/>
        </p:nvSpPr>
        <p:spPr>
          <a:xfrm>
            <a:off x="7445959" y="4224528"/>
            <a:ext cx="3867912"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programme-handbook.pdf  ·  p. 11</a:t>
            </a:r>
            <a:endParaRPr lang="en-US" sz="1100" dirty="0"/>
          </a:p>
        </p:txBody>
      </p:sp>
      <p:sp>
        <p:nvSpPr>
          <p:cNvPr id="32" name="Shape 27"/>
          <p:cNvSpPr/>
          <p:nvPr/>
        </p:nvSpPr>
        <p:spPr>
          <a:xfrm>
            <a:off x="6860743" y="5047488"/>
            <a:ext cx="420624" cy="420624"/>
          </a:xfrm>
          <a:prstGeom prst="ellipse">
            <a:avLst/>
          </a:prstGeom>
          <a:solidFill>
            <a:srgbClr val="E8A33D"/>
          </a:solidFill>
          <a:ln w="12700">
            <a:solidFill>
              <a:srgbClr val="E8A33D"/>
            </a:solidFill>
            <a:prstDash val="solid"/>
          </a:ln>
        </p:spPr>
        <p:txBody>
          <a:bodyPr/>
          <a:lstStyle/>
          <a:p>
            <a:endParaRPr dirty="0"/>
          </a:p>
        </p:txBody>
      </p:sp>
      <p:pic>
        <p:nvPicPr>
          <p:cNvPr id="33" name="Image 3" descr="preencoded.png"/>
          <p:cNvPicPr>
            <a:picLocks noChangeAspect="1"/>
          </p:cNvPicPr>
          <p:nvPr/>
        </p:nvPicPr>
        <p:blipFill>
          <a:blip r:embed="rId4"/>
          <a:stretch>
            <a:fillRect/>
          </a:stretch>
        </p:blipFill>
        <p:spPr>
          <a:xfrm>
            <a:off x="6970105" y="5156850"/>
            <a:ext cx="201900" cy="201900"/>
          </a:xfrm>
          <a:prstGeom prst="rect">
            <a:avLst/>
          </a:prstGeom>
        </p:spPr>
      </p:pic>
      <p:sp>
        <p:nvSpPr>
          <p:cNvPr id="34" name="Text 28"/>
          <p:cNvSpPr txBox="1"/>
          <p:nvPr/>
        </p:nvSpPr>
        <p:spPr>
          <a:xfrm>
            <a:off x="7391095" y="5047488"/>
            <a:ext cx="3922776" cy="420624"/>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Answer  +  Evidence  +  Verification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TOOLS AND IMPLEMENTATION</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Technology stack</a:t>
            </a:r>
            <a:endParaRPr lang="en-US" sz="3400" dirty="0"/>
          </a:p>
        </p:txBody>
      </p:sp>
      <p:sp>
        <p:nvSpPr>
          <p:cNvPr id="4" name="Shape 2"/>
          <p:cNvSpPr/>
          <p:nvPr/>
        </p:nvSpPr>
        <p:spPr>
          <a:xfrm>
            <a:off x="566928" y="1353312"/>
            <a:ext cx="6720840" cy="493776"/>
          </a:xfrm>
          <a:prstGeom prst="rect">
            <a:avLst/>
          </a:prstGeom>
          <a:solidFill>
            <a:srgbClr val="EFF4F3"/>
          </a:solidFill>
          <a:ln w="12700">
            <a:solidFill>
              <a:srgbClr val="EFF4F3"/>
            </a:solidFill>
            <a:prstDash val="solid"/>
          </a:ln>
        </p:spPr>
        <p:txBody>
          <a:bodyPr/>
          <a:lstStyle/>
          <a:p>
            <a:endParaRPr dirty="0"/>
          </a:p>
        </p:txBody>
      </p:sp>
      <p:sp>
        <p:nvSpPr>
          <p:cNvPr id="5" name="Text 3"/>
          <p:cNvSpPr txBox="1"/>
          <p:nvPr/>
        </p:nvSpPr>
        <p:spPr>
          <a:xfrm>
            <a:off x="768096" y="1353312"/>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Backend</a:t>
            </a:r>
            <a:endParaRPr lang="en-US" sz="1150" dirty="0"/>
          </a:p>
        </p:txBody>
      </p:sp>
      <p:sp>
        <p:nvSpPr>
          <p:cNvPr id="6" name="Text 4"/>
          <p:cNvSpPr txBox="1"/>
          <p:nvPr/>
        </p:nvSpPr>
        <p:spPr>
          <a:xfrm>
            <a:off x="3017520" y="1353312"/>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Python 3.13 with FastAPI</a:t>
            </a:r>
            <a:endParaRPr lang="en-US" sz="1250" dirty="0"/>
          </a:p>
        </p:txBody>
      </p:sp>
      <p:sp>
        <p:nvSpPr>
          <p:cNvPr id="7" name="Text 5"/>
          <p:cNvSpPr txBox="1"/>
          <p:nvPr/>
        </p:nvSpPr>
        <p:spPr>
          <a:xfrm>
            <a:off x="768096" y="1847088"/>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Document processing</a:t>
            </a:r>
            <a:endParaRPr lang="en-US" sz="1150" dirty="0"/>
          </a:p>
        </p:txBody>
      </p:sp>
      <p:sp>
        <p:nvSpPr>
          <p:cNvPr id="8" name="Text 6"/>
          <p:cNvSpPr txBox="1"/>
          <p:nvPr/>
        </p:nvSpPr>
        <p:spPr>
          <a:xfrm>
            <a:off x="3017520" y="1847088"/>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pdfplumber, pypdf, python-docx, Tesseract OCR</a:t>
            </a:r>
            <a:endParaRPr lang="en-US" sz="1250" dirty="0"/>
          </a:p>
        </p:txBody>
      </p:sp>
      <p:sp>
        <p:nvSpPr>
          <p:cNvPr id="9" name="Shape 7"/>
          <p:cNvSpPr/>
          <p:nvPr/>
        </p:nvSpPr>
        <p:spPr>
          <a:xfrm>
            <a:off x="566928" y="2340864"/>
            <a:ext cx="6720840" cy="493776"/>
          </a:xfrm>
          <a:prstGeom prst="rect">
            <a:avLst/>
          </a:prstGeom>
          <a:solidFill>
            <a:srgbClr val="EFF4F3"/>
          </a:solidFill>
          <a:ln w="12700">
            <a:solidFill>
              <a:srgbClr val="EFF4F3"/>
            </a:solidFill>
            <a:prstDash val="solid"/>
          </a:ln>
        </p:spPr>
        <p:txBody>
          <a:bodyPr/>
          <a:lstStyle/>
          <a:p>
            <a:endParaRPr dirty="0"/>
          </a:p>
        </p:txBody>
      </p:sp>
      <p:sp>
        <p:nvSpPr>
          <p:cNvPr id="10" name="Text 8"/>
          <p:cNvSpPr txBox="1"/>
          <p:nvPr/>
        </p:nvSpPr>
        <p:spPr>
          <a:xfrm>
            <a:off x="768096" y="2340864"/>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Chunking</a:t>
            </a:r>
            <a:endParaRPr lang="en-US" sz="1150" dirty="0"/>
          </a:p>
        </p:txBody>
      </p:sp>
      <p:sp>
        <p:nvSpPr>
          <p:cNvPr id="11" name="Text 9"/>
          <p:cNvSpPr txBox="1"/>
          <p:nvPr/>
        </p:nvSpPr>
        <p:spPr>
          <a:xfrm>
            <a:off x="3017520" y="2340864"/>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800-character passages, 150 overlap, page-aware</a:t>
            </a:r>
            <a:endParaRPr lang="en-US" sz="1250" dirty="0"/>
          </a:p>
        </p:txBody>
      </p:sp>
      <p:sp>
        <p:nvSpPr>
          <p:cNvPr id="12" name="Text 10"/>
          <p:cNvSpPr txBox="1"/>
          <p:nvPr/>
        </p:nvSpPr>
        <p:spPr>
          <a:xfrm>
            <a:off x="768096" y="2834640"/>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Embeddings</a:t>
            </a:r>
            <a:endParaRPr lang="en-US" sz="1150" dirty="0"/>
          </a:p>
        </p:txBody>
      </p:sp>
      <p:sp>
        <p:nvSpPr>
          <p:cNvPr id="13" name="Text 11"/>
          <p:cNvSpPr txBox="1"/>
          <p:nvPr/>
        </p:nvSpPr>
        <p:spPr>
          <a:xfrm>
            <a:off x="3017520" y="2834640"/>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nomic-embed-text, 768 dimensions (local)</a:t>
            </a:r>
            <a:endParaRPr lang="en-US" sz="1250" dirty="0"/>
          </a:p>
        </p:txBody>
      </p:sp>
      <p:sp>
        <p:nvSpPr>
          <p:cNvPr id="14" name="Shape 12"/>
          <p:cNvSpPr/>
          <p:nvPr/>
        </p:nvSpPr>
        <p:spPr>
          <a:xfrm>
            <a:off x="566928" y="3328416"/>
            <a:ext cx="6720840" cy="493776"/>
          </a:xfrm>
          <a:prstGeom prst="rect">
            <a:avLst/>
          </a:prstGeom>
          <a:solidFill>
            <a:srgbClr val="EFF4F3"/>
          </a:solidFill>
          <a:ln w="12700">
            <a:solidFill>
              <a:srgbClr val="EFF4F3"/>
            </a:solidFill>
            <a:prstDash val="solid"/>
          </a:ln>
        </p:spPr>
        <p:txBody>
          <a:bodyPr/>
          <a:lstStyle/>
          <a:p>
            <a:endParaRPr dirty="0"/>
          </a:p>
        </p:txBody>
      </p:sp>
      <p:sp>
        <p:nvSpPr>
          <p:cNvPr id="15" name="Text 13"/>
          <p:cNvSpPr txBox="1"/>
          <p:nvPr/>
        </p:nvSpPr>
        <p:spPr>
          <a:xfrm>
            <a:off x="768096" y="3328416"/>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Vector store</a:t>
            </a:r>
            <a:endParaRPr lang="en-US" sz="1150" dirty="0"/>
          </a:p>
        </p:txBody>
      </p:sp>
      <p:sp>
        <p:nvSpPr>
          <p:cNvPr id="16" name="Text 14"/>
          <p:cNvSpPr txBox="1"/>
          <p:nvPr/>
        </p:nvSpPr>
        <p:spPr>
          <a:xfrm>
            <a:off x="3017520" y="3328416"/>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NumPy vectors + BM25 index, saved to disk</a:t>
            </a:r>
            <a:endParaRPr lang="en-US" sz="1250" dirty="0"/>
          </a:p>
        </p:txBody>
      </p:sp>
      <p:sp>
        <p:nvSpPr>
          <p:cNvPr id="17" name="Text 15"/>
          <p:cNvSpPr txBox="1"/>
          <p:nvPr/>
        </p:nvSpPr>
        <p:spPr>
          <a:xfrm>
            <a:off x="768096" y="3822192"/>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Retrieval</a:t>
            </a:r>
            <a:endParaRPr lang="en-US" sz="1150" dirty="0"/>
          </a:p>
        </p:txBody>
      </p:sp>
      <p:sp>
        <p:nvSpPr>
          <p:cNvPr id="18" name="Text 16"/>
          <p:cNvSpPr txBox="1"/>
          <p:nvPr/>
        </p:nvSpPr>
        <p:spPr>
          <a:xfrm>
            <a:off x="3017520" y="3822192"/>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Cosine + BM25, rank fusion, MiniLM reranker</a:t>
            </a:r>
            <a:endParaRPr lang="en-US" sz="1250" dirty="0"/>
          </a:p>
        </p:txBody>
      </p:sp>
      <p:sp>
        <p:nvSpPr>
          <p:cNvPr id="19" name="Shape 17"/>
          <p:cNvSpPr/>
          <p:nvPr/>
        </p:nvSpPr>
        <p:spPr>
          <a:xfrm>
            <a:off x="566928" y="4315968"/>
            <a:ext cx="6720840" cy="493776"/>
          </a:xfrm>
          <a:prstGeom prst="rect">
            <a:avLst/>
          </a:prstGeom>
          <a:solidFill>
            <a:srgbClr val="EFF4F3"/>
          </a:solidFill>
          <a:ln w="12700">
            <a:solidFill>
              <a:srgbClr val="EFF4F3"/>
            </a:solidFill>
            <a:prstDash val="solid"/>
          </a:ln>
        </p:spPr>
        <p:txBody>
          <a:bodyPr/>
          <a:lstStyle/>
          <a:p>
            <a:endParaRPr dirty="0"/>
          </a:p>
        </p:txBody>
      </p:sp>
      <p:sp>
        <p:nvSpPr>
          <p:cNvPr id="20" name="Text 18"/>
          <p:cNvSpPr txBox="1"/>
          <p:nvPr/>
        </p:nvSpPr>
        <p:spPr>
          <a:xfrm>
            <a:off x="768096" y="4315968"/>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Generation</a:t>
            </a:r>
            <a:endParaRPr lang="en-US" sz="1150" dirty="0"/>
          </a:p>
        </p:txBody>
      </p:sp>
      <p:sp>
        <p:nvSpPr>
          <p:cNvPr id="21" name="Text 19"/>
          <p:cNvSpPr txBox="1"/>
          <p:nvPr/>
        </p:nvSpPr>
        <p:spPr>
          <a:xfrm>
            <a:off x="3017520" y="4315968"/>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Qwen 2.5 7B on Ollama (Llama 3.1 8B in jury)</a:t>
            </a:r>
            <a:endParaRPr lang="en-US" sz="1250" dirty="0"/>
          </a:p>
        </p:txBody>
      </p:sp>
      <p:sp>
        <p:nvSpPr>
          <p:cNvPr id="22" name="Text 20"/>
          <p:cNvSpPr txBox="1"/>
          <p:nvPr/>
        </p:nvSpPr>
        <p:spPr>
          <a:xfrm>
            <a:off x="768096" y="4809744"/>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Interface</a:t>
            </a:r>
            <a:endParaRPr lang="en-US" sz="1150" dirty="0"/>
          </a:p>
        </p:txBody>
      </p:sp>
      <p:sp>
        <p:nvSpPr>
          <p:cNvPr id="23" name="Text 21"/>
          <p:cNvSpPr txBox="1"/>
          <p:nvPr/>
        </p:nvSpPr>
        <p:spPr>
          <a:xfrm>
            <a:off x="3017520" y="4809744"/>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React 18, TypeScript, Vite, Tailwind CSS</a:t>
            </a:r>
            <a:endParaRPr lang="en-US" sz="1250" dirty="0"/>
          </a:p>
        </p:txBody>
      </p:sp>
      <p:sp>
        <p:nvSpPr>
          <p:cNvPr id="24" name="Shape 22"/>
          <p:cNvSpPr/>
          <p:nvPr/>
        </p:nvSpPr>
        <p:spPr>
          <a:xfrm>
            <a:off x="566928" y="5303520"/>
            <a:ext cx="6720840" cy="493776"/>
          </a:xfrm>
          <a:prstGeom prst="rect">
            <a:avLst/>
          </a:prstGeom>
          <a:solidFill>
            <a:srgbClr val="EFF4F3"/>
          </a:solidFill>
          <a:ln w="12700">
            <a:solidFill>
              <a:srgbClr val="EFF4F3"/>
            </a:solidFill>
            <a:prstDash val="solid"/>
          </a:ln>
        </p:spPr>
        <p:txBody>
          <a:bodyPr/>
          <a:lstStyle/>
          <a:p>
            <a:endParaRPr dirty="0"/>
          </a:p>
        </p:txBody>
      </p:sp>
      <p:sp>
        <p:nvSpPr>
          <p:cNvPr id="25" name="Text 23"/>
          <p:cNvSpPr txBox="1"/>
          <p:nvPr/>
        </p:nvSpPr>
        <p:spPr>
          <a:xfrm>
            <a:off x="768096" y="5303520"/>
            <a:ext cx="2194560" cy="493776"/>
          </a:xfrm>
          <a:prstGeom prst="rect">
            <a:avLst/>
          </a:prstGeom>
          <a:noFill/>
          <a:ln/>
        </p:spPr>
        <p:txBody>
          <a:bodyPr wrap="square" lIns="0" tIns="0" rIns="0" bIns="0" rtlCol="0" anchor="ctr"/>
          <a:lstStyle/>
          <a:p>
            <a:pPr marL="0" indent="0">
              <a:buNone/>
            </a:pPr>
            <a:r>
              <a:rPr lang="en-US" sz="1150" b="1" dirty="0">
                <a:solidFill>
                  <a:srgbClr val="5F7271"/>
                </a:solidFill>
                <a:latin typeface="Calibri" pitchFamily="34" charset="0"/>
                <a:ea typeface="Calibri" pitchFamily="34" charset="-122"/>
                <a:cs typeface="Calibri" pitchFamily="34" charset="-120"/>
              </a:rPr>
              <a:t>Evaluation</a:t>
            </a:r>
            <a:endParaRPr lang="en-US" sz="1150" dirty="0"/>
          </a:p>
        </p:txBody>
      </p:sp>
      <p:sp>
        <p:nvSpPr>
          <p:cNvPr id="26" name="Text 24"/>
          <p:cNvSpPr txBox="1"/>
          <p:nvPr/>
        </p:nvSpPr>
        <p:spPr>
          <a:xfrm>
            <a:off x="3017520" y="5303520"/>
            <a:ext cx="4069080" cy="493776"/>
          </a:xfrm>
          <a:prstGeom prst="rect">
            <a:avLst/>
          </a:prstGeom>
          <a:noFill/>
          <a:ln/>
        </p:spPr>
        <p:txBody>
          <a:bodyPr wrap="square" lIns="0" tIns="0" rIns="0" bIns="0" rtlCol="0" anchor="ctr"/>
          <a:lstStyle/>
          <a:p>
            <a:pPr marL="0" indent="0">
              <a:buNone/>
            </a:pPr>
            <a:r>
              <a:rPr lang="en-US" sz="1250" dirty="0">
                <a:solidFill>
                  <a:srgbClr val="172B2B"/>
                </a:solidFill>
                <a:latin typeface="Calibri" pitchFamily="34" charset="0"/>
                <a:ea typeface="Calibri" pitchFamily="34" charset="-122"/>
                <a:cs typeface="Calibri" pitchFamily="34" charset="-120"/>
              </a:rPr>
              <a:t>Claim audit, Hit@k and MRR self-tuning</a:t>
            </a:r>
            <a:endParaRPr lang="en-US" sz="1250" dirty="0"/>
          </a:p>
        </p:txBody>
      </p:sp>
      <p:sp>
        <p:nvSpPr>
          <p:cNvPr id="27" name="Shape 25"/>
          <p:cNvSpPr/>
          <p:nvPr/>
        </p:nvSpPr>
        <p:spPr>
          <a:xfrm>
            <a:off x="7653528" y="1353312"/>
            <a:ext cx="3971239" cy="2962656"/>
          </a:xfrm>
          <a:prstGeom prst="roundRect">
            <a:avLst>
              <a:gd name="adj" fmla="val 3704"/>
            </a:avLst>
          </a:prstGeom>
          <a:solidFill>
            <a:srgbClr val="0E2F30"/>
          </a:solidFill>
          <a:ln w="12700">
            <a:solidFill>
              <a:srgbClr val="0E2F30"/>
            </a:solidFill>
            <a:prstDash val="solid"/>
          </a:ln>
          <a:effectLst>
            <a:outerShdw blurRad="127000" dist="25400" dir="5400000" algn="bl" rotWithShape="0">
              <a:srgbClr val="0E2F30">
                <a:alpha val="20000"/>
              </a:srgbClr>
            </a:outerShdw>
          </a:effectLst>
        </p:spPr>
        <p:txBody>
          <a:bodyPr/>
          <a:lstStyle/>
          <a:p>
            <a:endParaRPr dirty="0"/>
          </a:p>
        </p:txBody>
      </p:sp>
      <p:sp>
        <p:nvSpPr>
          <p:cNvPr id="28" name="Text 26"/>
          <p:cNvSpPr txBox="1"/>
          <p:nvPr/>
        </p:nvSpPr>
        <p:spPr>
          <a:xfrm>
            <a:off x="7964424" y="1627632"/>
            <a:ext cx="3349447" cy="256032"/>
          </a:xfrm>
          <a:prstGeom prst="rect">
            <a:avLst/>
          </a:prstGeom>
          <a:noFill/>
          <a:ln/>
        </p:spPr>
        <p:txBody>
          <a:bodyPr wrap="square" lIns="0" tIns="0" rIns="0" bIns="0" rtlCol="0" anchor="ctr"/>
          <a:lstStyle/>
          <a:p>
            <a:pPr marL="0" indent="0">
              <a:buNone/>
            </a:pPr>
            <a:r>
              <a:rPr lang="en-US" sz="1050" b="1" kern="0" spc="150" dirty="0">
                <a:solidFill>
                  <a:srgbClr val="E8A33D"/>
                </a:solidFill>
                <a:latin typeface="Calibri" pitchFamily="34" charset="0"/>
                <a:ea typeface="Calibri" pitchFamily="34" charset="-122"/>
                <a:cs typeface="Calibri" pitchFamily="34" charset="-120"/>
              </a:rPr>
              <a:t>FINAL IMPLEMENTATION</a:t>
            </a:r>
            <a:endParaRPr lang="en-US" sz="1050" dirty="0"/>
          </a:p>
        </p:txBody>
      </p:sp>
      <p:sp>
        <p:nvSpPr>
          <p:cNvPr id="29" name="Text 27"/>
          <p:cNvSpPr txBox="1"/>
          <p:nvPr/>
        </p:nvSpPr>
        <p:spPr>
          <a:xfrm>
            <a:off x="7964424" y="1956816"/>
            <a:ext cx="3349447" cy="256032"/>
          </a:xfrm>
          <a:prstGeom prst="rect">
            <a:avLst/>
          </a:prstGeom>
          <a:noFill/>
          <a:ln/>
        </p:spPr>
        <p:txBody>
          <a:bodyPr wrap="square" lIns="0" tIns="0" rIns="0" bIns="0" rtlCol="0" anchor="ctr"/>
          <a:lstStyle/>
          <a:p>
            <a:pPr marL="0" indent="0">
              <a:buNone/>
            </a:pPr>
            <a:r>
              <a:rPr lang="en-US" sz="1150" dirty="0">
                <a:solidFill>
                  <a:srgbClr val="9BCFC7"/>
                </a:solidFill>
                <a:latin typeface="Calibri" pitchFamily="34" charset="0"/>
                <a:ea typeface="Calibri" pitchFamily="34" charset="-122"/>
                <a:cs typeface="Calibri" pitchFamily="34" charset="-120"/>
              </a:rPr>
              <a:t>A web application where a user can:</a:t>
            </a:r>
            <a:endParaRPr lang="en-US" sz="1150" dirty="0"/>
          </a:p>
        </p:txBody>
      </p:sp>
      <p:pic>
        <p:nvPicPr>
          <p:cNvPr id="30" name="Image 0" descr="preencoded.png"/>
          <p:cNvPicPr>
            <a:picLocks noChangeAspect="1"/>
          </p:cNvPicPr>
          <p:nvPr/>
        </p:nvPicPr>
        <p:blipFill>
          <a:blip r:embed="rId3"/>
          <a:stretch>
            <a:fillRect/>
          </a:stretch>
        </p:blipFill>
        <p:spPr>
          <a:xfrm>
            <a:off x="7982712" y="2478024"/>
            <a:ext cx="201168" cy="201168"/>
          </a:xfrm>
          <a:prstGeom prst="rect">
            <a:avLst/>
          </a:prstGeom>
        </p:spPr>
      </p:pic>
      <p:sp>
        <p:nvSpPr>
          <p:cNvPr id="31" name="Text 28"/>
          <p:cNvSpPr txBox="1"/>
          <p:nvPr/>
        </p:nvSpPr>
        <p:spPr>
          <a:xfrm>
            <a:off x="8293608" y="2395728"/>
            <a:ext cx="3020263"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Upload multiple documents</a:t>
            </a:r>
            <a:endParaRPr lang="en-US" sz="1250" dirty="0"/>
          </a:p>
        </p:txBody>
      </p:sp>
      <p:pic>
        <p:nvPicPr>
          <p:cNvPr id="32" name="Image 1" descr="preencoded.png"/>
          <p:cNvPicPr>
            <a:picLocks noChangeAspect="1"/>
          </p:cNvPicPr>
          <p:nvPr/>
        </p:nvPicPr>
        <p:blipFill>
          <a:blip r:embed="rId3"/>
          <a:stretch>
            <a:fillRect/>
          </a:stretch>
        </p:blipFill>
        <p:spPr>
          <a:xfrm>
            <a:off x="7982712" y="2898648"/>
            <a:ext cx="201168" cy="201168"/>
          </a:xfrm>
          <a:prstGeom prst="rect">
            <a:avLst/>
          </a:prstGeom>
        </p:spPr>
      </p:pic>
      <p:sp>
        <p:nvSpPr>
          <p:cNvPr id="33" name="Text 29"/>
          <p:cNvSpPr txBox="1"/>
          <p:nvPr/>
        </p:nvSpPr>
        <p:spPr>
          <a:xfrm>
            <a:off x="8293608" y="2816352"/>
            <a:ext cx="3020263"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Ask questions in natural language</a:t>
            </a:r>
            <a:endParaRPr lang="en-US" sz="1250" dirty="0"/>
          </a:p>
        </p:txBody>
      </p:sp>
      <p:pic>
        <p:nvPicPr>
          <p:cNvPr id="34" name="Image 2" descr="preencoded.png"/>
          <p:cNvPicPr>
            <a:picLocks noChangeAspect="1"/>
          </p:cNvPicPr>
          <p:nvPr/>
        </p:nvPicPr>
        <p:blipFill>
          <a:blip r:embed="rId3"/>
          <a:stretch>
            <a:fillRect/>
          </a:stretch>
        </p:blipFill>
        <p:spPr>
          <a:xfrm>
            <a:off x="7982712" y="3319272"/>
            <a:ext cx="201168" cy="201168"/>
          </a:xfrm>
          <a:prstGeom prst="rect">
            <a:avLst/>
          </a:prstGeom>
        </p:spPr>
      </p:pic>
      <p:sp>
        <p:nvSpPr>
          <p:cNvPr id="35" name="Text 30"/>
          <p:cNvSpPr txBox="1"/>
          <p:nvPr/>
        </p:nvSpPr>
        <p:spPr>
          <a:xfrm>
            <a:off x="8293608" y="3236976"/>
            <a:ext cx="3020263"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Get streamed, cited answers</a:t>
            </a:r>
            <a:endParaRPr lang="en-US" sz="1250" dirty="0"/>
          </a:p>
        </p:txBody>
      </p:sp>
      <p:pic>
        <p:nvPicPr>
          <p:cNvPr id="36" name="Image 3" descr="preencoded.png"/>
          <p:cNvPicPr>
            <a:picLocks noChangeAspect="1"/>
          </p:cNvPicPr>
          <p:nvPr/>
        </p:nvPicPr>
        <p:blipFill>
          <a:blip r:embed="rId3"/>
          <a:stretch>
            <a:fillRect/>
          </a:stretch>
        </p:blipFill>
        <p:spPr>
          <a:xfrm>
            <a:off x="7982712" y="3739896"/>
            <a:ext cx="201168" cy="201168"/>
          </a:xfrm>
          <a:prstGeom prst="rect">
            <a:avLst/>
          </a:prstGeom>
        </p:spPr>
      </p:pic>
      <p:sp>
        <p:nvSpPr>
          <p:cNvPr id="37" name="Text 31"/>
          <p:cNvSpPr txBox="1"/>
          <p:nvPr/>
        </p:nvSpPr>
        <p:spPr>
          <a:xfrm>
            <a:off x="8293608" y="3657600"/>
            <a:ext cx="3020263"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Open the passage behind a citation</a:t>
            </a:r>
            <a:endParaRPr lang="en-US" sz="1250" dirty="0"/>
          </a:p>
        </p:txBody>
      </p:sp>
      <p:sp>
        <p:nvSpPr>
          <p:cNvPr id="38" name="Shape 32"/>
          <p:cNvSpPr/>
          <p:nvPr/>
        </p:nvSpPr>
        <p:spPr>
          <a:xfrm>
            <a:off x="7653528" y="4590288"/>
            <a:ext cx="3971239" cy="1645920"/>
          </a:xfrm>
          <a:prstGeom prst="roundRect">
            <a:avLst>
              <a:gd name="adj" fmla="val 5556"/>
            </a:avLst>
          </a:prstGeom>
          <a:solidFill>
            <a:srgbClr val="EFF4F3"/>
          </a:solidFill>
          <a:ln w="12700">
            <a:solidFill>
              <a:srgbClr val="EFF4F3"/>
            </a:solidFill>
            <a:prstDash val="solid"/>
          </a:ln>
        </p:spPr>
        <p:txBody>
          <a:bodyPr/>
          <a:lstStyle/>
          <a:p>
            <a:endParaRPr dirty="0"/>
          </a:p>
        </p:txBody>
      </p:sp>
      <p:sp>
        <p:nvSpPr>
          <p:cNvPr id="39" name="Shape 33"/>
          <p:cNvSpPr/>
          <p:nvPr/>
        </p:nvSpPr>
        <p:spPr>
          <a:xfrm>
            <a:off x="7964424" y="4828032"/>
            <a:ext cx="420624" cy="420624"/>
          </a:xfrm>
          <a:prstGeom prst="ellipse">
            <a:avLst/>
          </a:prstGeom>
          <a:solidFill>
            <a:srgbClr val="FFFFFF"/>
          </a:solidFill>
          <a:ln w="12700">
            <a:solidFill>
              <a:srgbClr val="FFFFFF"/>
            </a:solidFill>
            <a:prstDash val="solid"/>
          </a:ln>
        </p:spPr>
        <p:txBody>
          <a:bodyPr/>
          <a:lstStyle/>
          <a:p>
            <a:endParaRPr dirty="0"/>
          </a:p>
        </p:txBody>
      </p:sp>
      <p:pic>
        <p:nvPicPr>
          <p:cNvPr id="40" name="Image 4" descr="preencoded.png"/>
          <p:cNvPicPr>
            <a:picLocks noChangeAspect="1"/>
          </p:cNvPicPr>
          <p:nvPr/>
        </p:nvPicPr>
        <p:blipFill>
          <a:blip r:embed="rId4"/>
          <a:stretch>
            <a:fillRect/>
          </a:stretch>
        </p:blipFill>
        <p:spPr>
          <a:xfrm>
            <a:off x="8073786" y="4937394"/>
            <a:ext cx="201900" cy="201900"/>
          </a:xfrm>
          <a:prstGeom prst="rect">
            <a:avLst/>
          </a:prstGeom>
        </p:spPr>
      </p:pic>
      <p:sp>
        <p:nvSpPr>
          <p:cNvPr id="41" name="Text 34"/>
          <p:cNvSpPr txBox="1"/>
          <p:nvPr/>
        </p:nvSpPr>
        <p:spPr>
          <a:xfrm>
            <a:off x="8494776" y="4828032"/>
            <a:ext cx="2819095" cy="274320"/>
          </a:xfrm>
          <a:prstGeom prst="rect">
            <a:avLst/>
          </a:prstGeom>
          <a:noFill/>
          <a:ln/>
        </p:spPr>
        <p:txBody>
          <a:bodyPr wrap="square" lIns="0" tIns="0" rIns="0" bIns="0" rtlCol="0" anchor="ctr"/>
          <a:lstStyle/>
          <a:p>
            <a:pPr marL="0" indent="0">
              <a:buNone/>
            </a:pPr>
            <a:r>
              <a:rPr lang="en-US" sz="1300" b="1" dirty="0">
                <a:solidFill>
                  <a:srgbClr val="172B2B"/>
                </a:solidFill>
                <a:latin typeface="Calibri" pitchFamily="34" charset="0"/>
                <a:ea typeface="Calibri" pitchFamily="34" charset="-122"/>
                <a:cs typeface="Calibri" pitchFamily="34" charset="-120"/>
              </a:rPr>
              <a:t>Runs entirely offline</a:t>
            </a:r>
            <a:endParaRPr lang="en-US" sz="1300" dirty="0"/>
          </a:p>
        </p:txBody>
      </p:sp>
      <p:sp>
        <p:nvSpPr>
          <p:cNvPr id="42" name="Text 35"/>
          <p:cNvSpPr txBox="1"/>
          <p:nvPr/>
        </p:nvSpPr>
        <p:spPr>
          <a:xfrm>
            <a:off x="7964424" y="5340096"/>
            <a:ext cx="3349447" cy="749808"/>
          </a:xfrm>
          <a:prstGeom prst="rect">
            <a:avLst/>
          </a:prstGeom>
          <a:noFill/>
          <a:ln/>
        </p:spPr>
        <p:txBody>
          <a:bodyPr wrap="square" lIns="0" tIns="0" rIns="0" bIns="0" rtlCol="0" anchor="t"/>
          <a:lstStyle/>
          <a:p>
            <a:pPr marL="0" indent="0">
              <a:lnSpc>
                <a:spcPts val="1500"/>
              </a:lnSpc>
              <a:buNone/>
            </a:pPr>
            <a:r>
              <a:rPr lang="en-US" sz="1100" dirty="0">
                <a:solidFill>
                  <a:srgbClr val="5F7271"/>
                </a:solidFill>
                <a:latin typeface="Calibri" pitchFamily="34" charset="0"/>
                <a:ea typeface="Calibri" pitchFamily="34" charset="-122"/>
                <a:cs typeface="Calibri" pitchFamily="34" charset="-120"/>
              </a:rPr>
              <a:t>The language model, embeddings, reranker and speech-to-text all run on the local machine. No API keys, and no document ever leaves the laptop.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F30"/>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E8A33D"/>
                </a:solidFill>
                <a:latin typeface="Calibri" pitchFamily="34" charset="0"/>
                <a:ea typeface="Calibri" pitchFamily="34" charset="-122"/>
                <a:cs typeface="Calibri" pitchFamily="34" charset="-120"/>
              </a:rPr>
              <a:t>OUTCOME</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What the system delivers</a:t>
            </a:r>
            <a:endParaRPr lang="en-US" sz="3400" dirty="0"/>
          </a:p>
        </p:txBody>
      </p:sp>
      <p:sp>
        <p:nvSpPr>
          <p:cNvPr id="4" name="Shape 2"/>
          <p:cNvSpPr/>
          <p:nvPr/>
        </p:nvSpPr>
        <p:spPr>
          <a:xfrm>
            <a:off x="566928" y="1371600"/>
            <a:ext cx="1992112" cy="2194560"/>
          </a:xfrm>
          <a:prstGeom prst="roundRect">
            <a:avLst>
              <a:gd name="adj" fmla="val 5508"/>
            </a:avLst>
          </a:prstGeom>
          <a:solidFill>
            <a:srgbClr val="16403F"/>
          </a:solidFill>
          <a:ln w="12700">
            <a:solidFill>
              <a:srgbClr val="12545A"/>
            </a:solidFill>
            <a:prstDash val="solid"/>
          </a:ln>
        </p:spPr>
        <p:txBody>
          <a:bodyPr/>
          <a:lstStyle/>
          <a:p>
            <a:endParaRPr dirty="0"/>
          </a:p>
        </p:txBody>
      </p:sp>
      <p:sp>
        <p:nvSpPr>
          <p:cNvPr id="5" name="Shape 3"/>
          <p:cNvSpPr/>
          <p:nvPr/>
        </p:nvSpPr>
        <p:spPr>
          <a:xfrm>
            <a:off x="804672" y="1609344"/>
            <a:ext cx="475488" cy="475488"/>
          </a:xfrm>
          <a:prstGeom prst="ellipse">
            <a:avLst/>
          </a:prstGeom>
          <a:solidFill>
            <a:srgbClr val="E8A33D"/>
          </a:solidFill>
          <a:ln w="12700">
            <a:solidFill>
              <a:srgbClr val="E8A33D"/>
            </a:solidFill>
            <a:prstDash val="solid"/>
          </a:ln>
        </p:spPr>
        <p:txBody>
          <a:bodyPr/>
          <a:lstStyle/>
          <a:p>
            <a:endParaRPr dirty="0"/>
          </a:p>
        </p:txBody>
      </p:sp>
      <p:pic>
        <p:nvPicPr>
          <p:cNvPr id="6" name="Image 0" descr="preencoded.png"/>
          <p:cNvPicPr>
            <a:picLocks noChangeAspect="1"/>
          </p:cNvPicPr>
          <p:nvPr/>
        </p:nvPicPr>
        <p:blipFill>
          <a:blip r:embed="rId3"/>
          <a:stretch>
            <a:fillRect/>
          </a:stretch>
        </p:blipFill>
        <p:spPr>
          <a:xfrm>
            <a:off x="928299" y="1732971"/>
            <a:ext cx="228234" cy="228234"/>
          </a:xfrm>
          <a:prstGeom prst="rect">
            <a:avLst/>
          </a:prstGeom>
        </p:spPr>
      </p:pic>
      <p:sp>
        <p:nvSpPr>
          <p:cNvPr id="7" name="Text 4"/>
          <p:cNvSpPr txBox="1"/>
          <p:nvPr/>
        </p:nvSpPr>
        <p:spPr>
          <a:xfrm>
            <a:off x="786384" y="2231136"/>
            <a:ext cx="1553200" cy="530352"/>
          </a:xfrm>
          <a:prstGeom prst="rect">
            <a:avLst/>
          </a:prstGeom>
          <a:noFill/>
          <a:ln/>
        </p:spPr>
        <p:txBody>
          <a:bodyPr wrap="square" lIns="0" tIns="0" rIns="0" bIns="0" rtlCol="0" anchor="t"/>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Faster retrieval</a:t>
            </a:r>
            <a:endParaRPr lang="en-US" sz="1300" dirty="0"/>
          </a:p>
        </p:txBody>
      </p:sp>
      <p:sp>
        <p:nvSpPr>
          <p:cNvPr id="8" name="Text 5"/>
          <p:cNvSpPr txBox="1"/>
          <p:nvPr/>
        </p:nvSpPr>
        <p:spPr>
          <a:xfrm>
            <a:off x="786384" y="2779776"/>
            <a:ext cx="1553200" cy="566928"/>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Seconds instead of manual reading</a:t>
            </a:r>
            <a:endParaRPr lang="en-US" sz="1050" dirty="0"/>
          </a:p>
        </p:txBody>
      </p:sp>
      <p:sp>
        <p:nvSpPr>
          <p:cNvPr id="9" name="Shape 6"/>
          <p:cNvSpPr/>
          <p:nvPr/>
        </p:nvSpPr>
        <p:spPr>
          <a:xfrm>
            <a:off x="2833360" y="1371600"/>
            <a:ext cx="1992112" cy="2194560"/>
          </a:xfrm>
          <a:prstGeom prst="roundRect">
            <a:avLst>
              <a:gd name="adj" fmla="val 5508"/>
            </a:avLst>
          </a:prstGeom>
          <a:solidFill>
            <a:srgbClr val="16403F"/>
          </a:solidFill>
          <a:ln w="12700">
            <a:solidFill>
              <a:srgbClr val="12545A"/>
            </a:solidFill>
            <a:prstDash val="solid"/>
          </a:ln>
        </p:spPr>
        <p:txBody>
          <a:bodyPr/>
          <a:lstStyle/>
          <a:p>
            <a:endParaRPr dirty="0"/>
          </a:p>
        </p:txBody>
      </p:sp>
      <p:sp>
        <p:nvSpPr>
          <p:cNvPr id="10" name="Shape 7"/>
          <p:cNvSpPr/>
          <p:nvPr/>
        </p:nvSpPr>
        <p:spPr>
          <a:xfrm>
            <a:off x="3071104" y="1609344"/>
            <a:ext cx="475488" cy="475488"/>
          </a:xfrm>
          <a:prstGeom prst="ellipse">
            <a:avLst/>
          </a:prstGeom>
          <a:solidFill>
            <a:srgbClr val="E8A33D"/>
          </a:solidFill>
          <a:ln w="12700">
            <a:solidFill>
              <a:srgbClr val="E8A33D"/>
            </a:solidFill>
            <a:prstDash val="solid"/>
          </a:ln>
        </p:spPr>
        <p:txBody>
          <a:bodyPr/>
          <a:lstStyle/>
          <a:p>
            <a:endParaRPr dirty="0"/>
          </a:p>
        </p:txBody>
      </p:sp>
      <p:pic>
        <p:nvPicPr>
          <p:cNvPr id="11" name="Image 1" descr="preencoded.png"/>
          <p:cNvPicPr>
            <a:picLocks noChangeAspect="1"/>
          </p:cNvPicPr>
          <p:nvPr/>
        </p:nvPicPr>
        <p:blipFill>
          <a:blip r:embed="rId4"/>
          <a:stretch>
            <a:fillRect/>
          </a:stretch>
        </p:blipFill>
        <p:spPr>
          <a:xfrm>
            <a:off x="3194731" y="1732971"/>
            <a:ext cx="228234" cy="228234"/>
          </a:xfrm>
          <a:prstGeom prst="rect">
            <a:avLst/>
          </a:prstGeom>
        </p:spPr>
      </p:pic>
      <p:sp>
        <p:nvSpPr>
          <p:cNvPr id="12" name="Text 8"/>
          <p:cNvSpPr txBox="1"/>
          <p:nvPr/>
        </p:nvSpPr>
        <p:spPr>
          <a:xfrm>
            <a:off x="3052816" y="2231136"/>
            <a:ext cx="1553200" cy="530352"/>
          </a:xfrm>
          <a:prstGeom prst="rect">
            <a:avLst/>
          </a:prstGeom>
          <a:noFill/>
          <a:ln/>
        </p:spPr>
        <p:txBody>
          <a:bodyPr wrap="square" lIns="0" tIns="0" rIns="0" bIns="0" rtlCol="0" anchor="t"/>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Across documents</a:t>
            </a:r>
            <a:endParaRPr lang="en-US" sz="1300" dirty="0"/>
          </a:p>
        </p:txBody>
      </p:sp>
      <p:sp>
        <p:nvSpPr>
          <p:cNvPr id="13" name="Text 9"/>
          <p:cNvSpPr txBox="1"/>
          <p:nvPr/>
        </p:nvSpPr>
        <p:spPr>
          <a:xfrm>
            <a:off x="3052816" y="2779776"/>
            <a:ext cx="1553200" cy="566928"/>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One question, the whole corpus</a:t>
            </a:r>
            <a:endParaRPr lang="en-US" sz="1050" dirty="0"/>
          </a:p>
        </p:txBody>
      </p:sp>
      <p:sp>
        <p:nvSpPr>
          <p:cNvPr id="14" name="Shape 10"/>
          <p:cNvSpPr/>
          <p:nvPr/>
        </p:nvSpPr>
        <p:spPr>
          <a:xfrm>
            <a:off x="5099792" y="1371600"/>
            <a:ext cx="1992112" cy="2194560"/>
          </a:xfrm>
          <a:prstGeom prst="roundRect">
            <a:avLst>
              <a:gd name="adj" fmla="val 5508"/>
            </a:avLst>
          </a:prstGeom>
          <a:solidFill>
            <a:srgbClr val="16403F"/>
          </a:solidFill>
          <a:ln w="12700">
            <a:solidFill>
              <a:srgbClr val="12545A"/>
            </a:solidFill>
            <a:prstDash val="solid"/>
          </a:ln>
        </p:spPr>
        <p:txBody>
          <a:bodyPr/>
          <a:lstStyle/>
          <a:p>
            <a:endParaRPr dirty="0"/>
          </a:p>
        </p:txBody>
      </p:sp>
      <p:sp>
        <p:nvSpPr>
          <p:cNvPr id="15" name="Shape 11"/>
          <p:cNvSpPr/>
          <p:nvPr/>
        </p:nvSpPr>
        <p:spPr>
          <a:xfrm>
            <a:off x="5337536" y="1609344"/>
            <a:ext cx="475488" cy="475488"/>
          </a:xfrm>
          <a:prstGeom prst="ellipse">
            <a:avLst/>
          </a:prstGeom>
          <a:solidFill>
            <a:srgbClr val="E8A33D"/>
          </a:solidFill>
          <a:ln w="12700">
            <a:solidFill>
              <a:srgbClr val="E8A33D"/>
            </a:solidFill>
            <a:prstDash val="solid"/>
          </a:ln>
        </p:spPr>
        <p:txBody>
          <a:bodyPr/>
          <a:lstStyle/>
          <a:p>
            <a:endParaRPr dirty="0"/>
          </a:p>
        </p:txBody>
      </p:sp>
      <p:pic>
        <p:nvPicPr>
          <p:cNvPr id="16" name="Image 2" descr="preencoded.png"/>
          <p:cNvPicPr>
            <a:picLocks noChangeAspect="1"/>
          </p:cNvPicPr>
          <p:nvPr/>
        </p:nvPicPr>
        <p:blipFill>
          <a:blip r:embed="rId5"/>
          <a:stretch>
            <a:fillRect/>
          </a:stretch>
        </p:blipFill>
        <p:spPr>
          <a:xfrm>
            <a:off x="5461163" y="1732971"/>
            <a:ext cx="228234" cy="228234"/>
          </a:xfrm>
          <a:prstGeom prst="rect">
            <a:avLst/>
          </a:prstGeom>
        </p:spPr>
      </p:pic>
      <p:sp>
        <p:nvSpPr>
          <p:cNvPr id="17" name="Text 12"/>
          <p:cNvSpPr txBox="1"/>
          <p:nvPr/>
        </p:nvSpPr>
        <p:spPr>
          <a:xfrm>
            <a:off x="5319248" y="2231136"/>
            <a:ext cx="1553200" cy="530352"/>
          </a:xfrm>
          <a:prstGeom prst="rect">
            <a:avLst/>
          </a:prstGeom>
          <a:noFill/>
          <a:ln/>
        </p:spPr>
        <p:txBody>
          <a:bodyPr wrap="square" lIns="0" tIns="0" rIns="0" bIns="0" rtlCol="0" anchor="t"/>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Grounded answers</a:t>
            </a:r>
            <a:endParaRPr lang="en-US" sz="1300" dirty="0"/>
          </a:p>
        </p:txBody>
      </p:sp>
      <p:sp>
        <p:nvSpPr>
          <p:cNvPr id="18" name="Text 13"/>
          <p:cNvSpPr txBox="1"/>
          <p:nvPr/>
        </p:nvSpPr>
        <p:spPr>
          <a:xfrm>
            <a:off x="5319248" y="2779776"/>
            <a:ext cx="1553200" cy="566928"/>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Generated from retrieved text only</a:t>
            </a:r>
            <a:endParaRPr lang="en-US" sz="1050" dirty="0"/>
          </a:p>
        </p:txBody>
      </p:sp>
      <p:sp>
        <p:nvSpPr>
          <p:cNvPr id="19" name="Shape 14"/>
          <p:cNvSpPr/>
          <p:nvPr/>
        </p:nvSpPr>
        <p:spPr>
          <a:xfrm>
            <a:off x="7366224" y="1371600"/>
            <a:ext cx="1992112" cy="2194560"/>
          </a:xfrm>
          <a:prstGeom prst="roundRect">
            <a:avLst>
              <a:gd name="adj" fmla="val 5508"/>
            </a:avLst>
          </a:prstGeom>
          <a:solidFill>
            <a:srgbClr val="16403F"/>
          </a:solidFill>
          <a:ln w="12700">
            <a:solidFill>
              <a:srgbClr val="12545A"/>
            </a:solidFill>
            <a:prstDash val="solid"/>
          </a:ln>
        </p:spPr>
        <p:txBody>
          <a:bodyPr/>
          <a:lstStyle/>
          <a:p>
            <a:endParaRPr dirty="0"/>
          </a:p>
        </p:txBody>
      </p:sp>
      <p:sp>
        <p:nvSpPr>
          <p:cNvPr id="20" name="Shape 15"/>
          <p:cNvSpPr/>
          <p:nvPr/>
        </p:nvSpPr>
        <p:spPr>
          <a:xfrm>
            <a:off x="7603968" y="1609344"/>
            <a:ext cx="475488" cy="475488"/>
          </a:xfrm>
          <a:prstGeom prst="ellipse">
            <a:avLst/>
          </a:prstGeom>
          <a:solidFill>
            <a:srgbClr val="E8A33D"/>
          </a:solidFill>
          <a:ln w="12700">
            <a:solidFill>
              <a:srgbClr val="E8A33D"/>
            </a:solidFill>
            <a:prstDash val="solid"/>
          </a:ln>
        </p:spPr>
        <p:txBody>
          <a:bodyPr/>
          <a:lstStyle/>
          <a:p>
            <a:endParaRPr dirty="0"/>
          </a:p>
        </p:txBody>
      </p:sp>
      <p:pic>
        <p:nvPicPr>
          <p:cNvPr id="21" name="Image 3" descr="preencoded.png"/>
          <p:cNvPicPr>
            <a:picLocks noChangeAspect="1"/>
          </p:cNvPicPr>
          <p:nvPr/>
        </p:nvPicPr>
        <p:blipFill>
          <a:blip r:embed="rId6"/>
          <a:stretch>
            <a:fillRect/>
          </a:stretch>
        </p:blipFill>
        <p:spPr>
          <a:xfrm>
            <a:off x="7727594" y="1732971"/>
            <a:ext cx="228234" cy="228234"/>
          </a:xfrm>
          <a:prstGeom prst="rect">
            <a:avLst/>
          </a:prstGeom>
        </p:spPr>
      </p:pic>
      <p:sp>
        <p:nvSpPr>
          <p:cNvPr id="22" name="Text 16"/>
          <p:cNvSpPr txBox="1"/>
          <p:nvPr/>
        </p:nvSpPr>
        <p:spPr>
          <a:xfrm>
            <a:off x="7585680" y="2231136"/>
            <a:ext cx="1553200" cy="530352"/>
          </a:xfrm>
          <a:prstGeom prst="rect">
            <a:avLst/>
          </a:prstGeom>
          <a:noFill/>
          <a:ln/>
        </p:spPr>
        <p:txBody>
          <a:bodyPr wrap="square" lIns="0" tIns="0" rIns="0" bIns="0" rtlCol="0" anchor="t"/>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Source-supported</a:t>
            </a:r>
            <a:endParaRPr lang="en-US" sz="1300" dirty="0"/>
          </a:p>
        </p:txBody>
      </p:sp>
      <p:sp>
        <p:nvSpPr>
          <p:cNvPr id="23" name="Text 17"/>
          <p:cNvSpPr txBox="1"/>
          <p:nvPr/>
        </p:nvSpPr>
        <p:spPr>
          <a:xfrm>
            <a:off x="7585680" y="2779776"/>
            <a:ext cx="1553200" cy="566928"/>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Document and page on every claim</a:t>
            </a:r>
            <a:endParaRPr lang="en-US" sz="1050" dirty="0"/>
          </a:p>
        </p:txBody>
      </p:sp>
      <p:sp>
        <p:nvSpPr>
          <p:cNvPr id="24" name="Shape 18"/>
          <p:cNvSpPr/>
          <p:nvPr/>
        </p:nvSpPr>
        <p:spPr>
          <a:xfrm>
            <a:off x="9632655" y="1371600"/>
            <a:ext cx="1992112" cy="2194560"/>
          </a:xfrm>
          <a:prstGeom prst="roundRect">
            <a:avLst>
              <a:gd name="adj" fmla="val 5508"/>
            </a:avLst>
          </a:prstGeom>
          <a:solidFill>
            <a:srgbClr val="16403F"/>
          </a:solidFill>
          <a:ln w="12700">
            <a:solidFill>
              <a:srgbClr val="12545A"/>
            </a:solidFill>
            <a:prstDash val="solid"/>
          </a:ln>
        </p:spPr>
        <p:txBody>
          <a:bodyPr/>
          <a:lstStyle/>
          <a:p>
            <a:endParaRPr dirty="0"/>
          </a:p>
        </p:txBody>
      </p:sp>
      <p:sp>
        <p:nvSpPr>
          <p:cNvPr id="25" name="Shape 19"/>
          <p:cNvSpPr/>
          <p:nvPr/>
        </p:nvSpPr>
        <p:spPr>
          <a:xfrm>
            <a:off x="9870399" y="1609344"/>
            <a:ext cx="475488" cy="475488"/>
          </a:xfrm>
          <a:prstGeom prst="ellipse">
            <a:avLst/>
          </a:prstGeom>
          <a:solidFill>
            <a:srgbClr val="E8A33D"/>
          </a:solidFill>
          <a:ln w="12700">
            <a:solidFill>
              <a:srgbClr val="E8A33D"/>
            </a:solidFill>
            <a:prstDash val="solid"/>
          </a:ln>
        </p:spPr>
        <p:txBody>
          <a:bodyPr/>
          <a:lstStyle/>
          <a:p>
            <a:endParaRPr dirty="0"/>
          </a:p>
        </p:txBody>
      </p:sp>
      <p:pic>
        <p:nvPicPr>
          <p:cNvPr id="26" name="Image 4" descr="preencoded.png"/>
          <p:cNvPicPr>
            <a:picLocks noChangeAspect="1"/>
          </p:cNvPicPr>
          <p:nvPr/>
        </p:nvPicPr>
        <p:blipFill>
          <a:blip r:embed="rId7"/>
          <a:stretch>
            <a:fillRect/>
          </a:stretch>
        </p:blipFill>
        <p:spPr>
          <a:xfrm>
            <a:off x="9994026" y="1732971"/>
            <a:ext cx="228234" cy="228234"/>
          </a:xfrm>
          <a:prstGeom prst="rect">
            <a:avLst/>
          </a:prstGeom>
        </p:spPr>
      </p:pic>
      <p:sp>
        <p:nvSpPr>
          <p:cNvPr id="27" name="Text 20"/>
          <p:cNvSpPr txBox="1"/>
          <p:nvPr/>
        </p:nvSpPr>
        <p:spPr>
          <a:xfrm>
            <a:off x="9852111" y="2231136"/>
            <a:ext cx="1553200" cy="530352"/>
          </a:xfrm>
          <a:prstGeom prst="rect">
            <a:avLst/>
          </a:prstGeom>
          <a:noFill/>
          <a:ln/>
        </p:spPr>
        <p:txBody>
          <a:bodyPr wrap="square" lIns="0" tIns="0" rIns="0" bIns="0" rtlCol="0" anchor="t"/>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Verifiable</a:t>
            </a:r>
            <a:endParaRPr lang="en-US" sz="1300" dirty="0"/>
          </a:p>
        </p:txBody>
      </p:sp>
      <p:sp>
        <p:nvSpPr>
          <p:cNvPr id="28" name="Text 21"/>
          <p:cNvSpPr txBox="1"/>
          <p:nvPr/>
        </p:nvSpPr>
        <p:spPr>
          <a:xfrm>
            <a:off x="9852111" y="2779776"/>
            <a:ext cx="1553200" cy="566928"/>
          </a:xfrm>
          <a:prstGeom prst="rect">
            <a:avLst/>
          </a:prstGeom>
          <a:noFill/>
          <a:ln/>
        </p:spPr>
        <p:txBody>
          <a:bodyPr wrap="square" lIns="0" tIns="0" rIns="0" bIns="0" rtlCol="0" anchor="t"/>
          <a:lstStyle/>
          <a:p>
            <a:pPr marL="0" indent="0">
              <a:lnSpc>
                <a:spcPts val="1400"/>
              </a:lnSpc>
              <a:buNone/>
            </a:pPr>
            <a:r>
              <a:rPr lang="en-US" sz="1050" dirty="0">
                <a:solidFill>
                  <a:srgbClr val="9BCFC7"/>
                </a:solidFill>
                <a:latin typeface="Calibri" pitchFamily="34" charset="0"/>
                <a:ea typeface="Calibri" pitchFamily="34" charset="-122"/>
                <a:cs typeface="Calibri" pitchFamily="34" charset="-120"/>
              </a:rPr>
              <a:t>Answers audited claim by claim</a:t>
            </a:r>
            <a:endParaRPr lang="en-US" sz="1050" dirty="0"/>
          </a:p>
        </p:txBody>
      </p:sp>
      <p:sp>
        <p:nvSpPr>
          <p:cNvPr id="29" name="Text 22"/>
          <p:cNvSpPr txBox="1"/>
          <p:nvPr/>
        </p:nvSpPr>
        <p:spPr>
          <a:xfrm>
            <a:off x="566928" y="3840480"/>
            <a:ext cx="11057839" cy="256032"/>
          </a:xfrm>
          <a:prstGeom prst="rect">
            <a:avLst/>
          </a:prstGeom>
          <a:noFill/>
          <a:ln/>
        </p:spPr>
        <p:txBody>
          <a:bodyPr wrap="square" lIns="0" tIns="0" rIns="0" bIns="0" rtlCol="0" anchor="ctr"/>
          <a:lstStyle/>
          <a:p>
            <a:pPr marL="0" indent="0">
              <a:buNone/>
            </a:pPr>
            <a:r>
              <a:rPr lang="en-US" sz="1050" b="1" kern="0" spc="160" dirty="0">
                <a:solidFill>
                  <a:srgbClr val="9BCFC7"/>
                </a:solidFill>
                <a:latin typeface="Calibri" pitchFamily="34" charset="0"/>
                <a:ea typeface="Calibri" pitchFamily="34" charset="-122"/>
                <a:cs typeface="Calibri" pitchFamily="34" charset="-120"/>
              </a:rPr>
              <a:t>THE COMPLETE JOURNEY</a:t>
            </a:r>
            <a:endParaRPr lang="en-US" sz="1050" dirty="0"/>
          </a:p>
        </p:txBody>
      </p:sp>
      <p:sp>
        <p:nvSpPr>
          <p:cNvPr id="30" name="Shape 23"/>
          <p:cNvSpPr/>
          <p:nvPr/>
        </p:nvSpPr>
        <p:spPr>
          <a:xfrm>
            <a:off x="566928" y="4169664"/>
            <a:ext cx="1644853" cy="658368"/>
          </a:xfrm>
          <a:prstGeom prst="roundRect">
            <a:avLst>
              <a:gd name="adj" fmla="val 13889"/>
            </a:avLst>
          </a:prstGeom>
          <a:solidFill>
            <a:srgbClr val="16403F"/>
          </a:solidFill>
          <a:ln w="12700">
            <a:solidFill>
              <a:srgbClr val="12545A"/>
            </a:solidFill>
            <a:prstDash val="solid"/>
          </a:ln>
        </p:spPr>
        <p:txBody>
          <a:bodyPr/>
          <a:lstStyle/>
          <a:p>
            <a:endParaRPr dirty="0"/>
          </a:p>
        </p:txBody>
      </p:sp>
      <p:sp>
        <p:nvSpPr>
          <p:cNvPr id="31" name="Text 24"/>
          <p:cNvSpPr txBox="1"/>
          <p:nvPr/>
        </p:nvSpPr>
        <p:spPr>
          <a:xfrm>
            <a:off x="621792" y="4169664"/>
            <a:ext cx="1535125"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Documents</a:t>
            </a:r>
            <a:endParaRPr lang="en-US" sz="1150" dirty="0"/>
          </a:p>
        </p:txBody>
      </p:sp>
      <p:sp>
        <p:nvSpPr>
          <p:cNvPr id="32" name="Shape 25"/>
          <p:cNvSpPr/>
          <p:nvPr/>
        </p:nvSpPr>
        <p:spPr>
          <a:xfrm>
            <a:off x="2230069" y="4398264"/>
            <a:ext cx="201168" cy="201168"/>
          </a:xfrm>
          <a:prstGeom prst="rightArrow">
            <a:avLst/>
          </a:prstGeom>
          <a:solidFill>
            <a:srgbClr val="12545A"/>
          </a:solidFill>
          <a:ln w="12700">
            <a:solidFill>
              <a:srgbClr val="12545A"/>
            </a:solidFill>
            <a:prstDash val="solid"/>
          </a:ln>
        </p:spPr>
        <p:txBody>
          <a:bodyPr/>
          <a:lstStyle/>
          <a:p>
            <a:endParaRPr dirty="0"/>
          </a:p>
        </p:txBody>
      </p:sp>
      <p:sp>
        <p:nvSpPr>
          <p:cNvPr id="33" name="Shape 26"/>
          <p:cNvSpPr/>
          <p:nvPr/>
        </p:nvSpPr>
        <p:spPr>
          <a:xfrm>
            <a:off x="2449525" y="4169664"/>
            <a:ext cx="1644853" cy="658368"/>
          </a:xfrm>
          <a:prstGeom prst="roundRect">
            <a:avLst>
              <a:gd name="adj" fmla="val 13889"/>
            </a:avLst>
          </a:prstGeom>
          <a:solidFill>
            <a:srgbClr val="16403F"/>
          </a:solidFill>
          <a:ln w="12700">
            <a:solidFill>
              <a:srgbClr val="12545A"/>
            </a:solidFill>
            <a:prstDash val="solid"/>
          </a:ln>
        </p:spPr>
        <p:txBody>
          <a:bodyPr/>
          <a:lstStyle/>
          <a:p>
            <a:endParaRPr dirty="0"/>
          </a:p>
        </p:txBody>
      </p:sp>
      <p:sp>
        <p:nvSpPr>
          <p:cNvPr id="34" name="Text 27"/>
          <p:cNvSpPr txBox="1"/>
          <p:nvPr/>
        </p:nvSpPr>
        <p:spPr>
          <a:xfrm>
            <a:off x="2504389" y="4169664"/>
            <a:ext cx="1535125"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Processing</a:t>
            </a:r>
            <a:endParaRPr lang="en-US" sz="1150" dirty="0"/>
          </a:p>
        </p:txBody>
      </p:sp>
      <p:sp>
        <p:nvSpPr>
          <p:cNvPr id="35" name="Shape 28"/>
          <p:cNvSpPr/>
          <p:nvPr/>
        </p:nvSpPr>
        <p:spPr>
          <a:xfrm>
            <a:off x="4112666" y="4398264"/>
            <a:ext cx="201168" cy="201168"/>
          </a:xfrm>
          <a:prstGeom prst="rightArrow">
            <a:avLst/>
          </a:prstGeom>
          <a:solidFill>
            <a:srgbClr val="12545A"/>
          </a:solidFill>
          <a:ln w="12700">
            <a:solidFill>
              <a:srgbClr val="12545A"/>
            </a:solidFill>
            <a:prstDash val="solid"/>
          </a:ln>
        </p:spPr>
        <p:txBody>
          <a:bodyPr/>
          <a:lstStyle/>
          <a:p>
            <a:endParaRPr dirty="0"/>
          </a:p>
        </p:txBody>
      </p:sp>
      <p:sp>
        <p:nvSpPr>
          <p:cNvPr id="36" name="Shape 29"/>
          <p:cNvSpPr/>
          <p:nvPr/>
        </p:nvSpPr>
        <p:spPr>
          <a:xfrm>
            <a:off x="4332122" y="4169664"/>
            <a:ext cx="1644853" cy="658368"/>
          </a:xfrm>
          <a:prstGeom prst="roundRect">
            <a:avLst>
              <a:gd name="adj" fmla="val 13889"/>
            </a:avLst>
          </a:prstGeom>
          <a:solidFill>
            <a:srgbClr val="16403F"/>
          </a:solidFill>
          <a:ln w="12700">
            <a:solidFill>
              <a:srgbClr val="12545A"/>
            </a:solidFill>
            <a:prstDash val="solid"/>
          </a:ln>
        </p:spPr>
        <p:txBody>
          <a:bodyPr/>
          <a:lstStyle/>
          <a:p>
            <a:endParaRPr dirty="0"/>
          </a:p>
        </p:txBody>
      </p:sp>
      <p:sp>
        <p:nvSpPr>
          <p:cNvPr id="37" name="Text 30"/>
          <p:cNvSpPr txBox="1"/>
          <p:nvPr/>
        </p:nvSpPr>
        <p:spPr>
          <a:xfrm>
            <a:off x="4386986" y="4169664"/>
            <a:ext cx="1535125"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Embeddings</a:t>
            </a:r>
            <a:endParaRPr lang="en-US" sz="1150" dirty="0"/>
          </a:p>
        </p:txBody>
      </p:sp>
      <p:sp>
        <p:nvSpPr>
          <p:cNvPr id="38" name="Shape 31"/>
          <p:cNvSpPr/>
          <p:nvPr/>
        </p:nvSpPr>
        <p:spPr>
          <a:xfrm>
            <a:off x="5995264" y="4398264"/>
            <a:ext cx="201168" cy="201168"/>
          </a:xfrm>
          <a:prstGeom prst="rightArrow">
            <a:avLst/>
          </a:prstGeom>
          <a:solidFill>
            <a:srgbClr val="12545A"/>
          </a:solidFill>
          <a:ln w="12700">
            <a:solidFill>
              <a:srgbClr val="12545A"/>
            </a:solidFill>
            <a:prstDash val="solid"/>
          </a:ln>
        </p:spPr>
        <p:txBody>
          <a:bodyPr/>
          <a:lstStyle/>
          <a:p>
            <a:endParaRPr dirty="0"/>
          </a:p>
        </p:txBody>
      </p:sp>
      <p:sp>
        <p:nvSpPr>
          <p:cNvPr id="39" name="Shape 32"/>
          <p:cNvSpPr/>
          <p:nvPr/>
        </p:nvSpPr>
        <p:spPr>
          <a:xfrm>
            <a:off x="6214720" y="4169664"/>
            <a:ext cx="1644853" cy="658368"/>
          </a:xfrm>
          <a:prstGeom prst="roundRect">
            <a:avLst>
              <a:gd name="adj" fmla="val 13889"/>
            </a:avLst>
          </a:prstGeom>
          <a:solidFill>
            <a:srgbClr val="16403F"/>
          </a:solidFill>
          <a:ln w="12700">
            <a:solidFill>
              <a:srgbClr val="12545A"/>
            </a:solidFill>
            <a:prstDash val="solid"/>
          </a:ln>
        </p:spPr>
        <p:txBody>
          <a:bodyPr/>
          <a:lstStyle/>
          <a:p>
            <a:endParaRPr dirty="0"/>
          </a:p>
        </p:txBody>
      </p:sp>
      <p:sp>
        <p:nvSpPr>
          <p:cNvPr id="40" name="Text 33"/>
          <p:cNvSpPr txBox="1"/>
          <p:nvPr/>
        </p:nvSpPr>
        <p:spPr>
          <a:xfrm>
            <a:off x="6269584" y="4169664"/>
            <a:ext cx="1535125"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Retrieval</a:t>
            </a:r>
            <a:endParaRPr lang="en-US" sz="1150" dirty="0"/>
          </a:p>
        </p:txBody>
      </p:sp>
      <p:sp>
        <p:nvSpPr>
          <p:cNvPr id="41" name="Shape 34"/>
          <p:cNvSpPr/>
          <p:nvPr/>
        </p:nvSpPr>
        <p:spPr>
          <a:xfrm>
            <a:off x="7877861" y="4398264"/>
            <a:ext cx="201168" cy="201168"/>
          </a:xfrm>
          <a:prstGeom prst="rightArrow">
            <a:avLst/>
          </a:prstGeom>
          <a:solidFill>
            <a:srgbClr val="12545A"/>
          </a:solidFill>
          <a:ln w="12700">
            <a:solidFill>
              <a:srgbClr val="12545A"/>
            </a:solidFill>
            <a:prstDash val="solid"/>
          </a:ln>
        </p:spPr>
        <p:txBody>
          <a:bodyPr/>
          <a:lstStyle/>
          <a:p>
            <a:endParaRPr dirty="0"/>
          </a:p>
        </p:txBody>
      </p:sp>
      <p:sp>
        <p:nvSpPr>
          <p:cNvPr id="42" name="Shape 35"/>
          <p:cNvSpPr/>
          <p:nvPr/>
        </p:nvSpPr>
        <p:spPr>
          <a:xfrm>
            <a:off x="8097317" y="4169664"/>
            <a:ext cx="1644853" cy="658368"/>
          </a:xfrm>
          <a:prstGeom prst="roundRect">
            <a:avLst>
              <a:gd name="adj" fmla="val 13889"/>
            </a:avLst>
          </a:prstGeom>
          <a:solidFill>
            <a:srgbClr val="16403F"/>
          </a:solidFill>
          <a:ln w="12700">
            <a:solidFill>
              <a:srgbClr val="12545A"/>
            </a:solidFill>
            <a:prstDash val="solid"/>
          </a:ln>
        </p:spPr>
        <p:txBody>
          <a:bodyPr/>
          <a:lstStyle/>
          <a:p>
            <a:endParaRPr dirty="0"/>
          </a:p>
        </p:txBody>
      </p:sp>
      <p:sp>
        <p:nvSpPr>
          <p:cNvPr id="43" name="Text 36"/>
          <p:cNvSpPr txBox="1"/>
          <p:nvPr/>
        </p:nvSpPr>
        <p:spPr>
          <a:xfrm>
            <a:off x="8152181" y="4169664"/>
            <a:ext cx="1535125"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LLM</a:t>
            </a:r>
            <a:endParaRPr lang="en-US" sz="1150" dirty="0"/>
          </a:p>
        </p:txBody>
      </p:sp>
      <p:sp>
        <p:nvSpPr>
          <p:cNvPr id="44" name="Shape 37"/>
          <p:cNvSpPr/>
          <p:nvPr/>
        </p:nvSpPr>
        <p:spPr>
          <a:xfrm>
            <a:off x="9760458" y="4398264"/>
            <a:ext cx="201168" cy="201168"/>
          </a:xfrm>
          <a:prstGeom prst="rightArrow">
            <a:avLst/>
          </a:prstGeom>
          <a:solidFill>
            <a:srgbClr val="12545A"/>
          </a:solidFill>
          <a:ln w="12700">
            <a:solidFill>
              <a:srgbClr val="12545A"/>
            </a:solidFill>
            <a:prstDash val="solid"/>
          </a:ln>
        </p:spPr>
        <p:txBody>
          <a:bodyPr/>
          <a:lstStyle/>
          <a:p>
            <a:endParaRPr dirty="0"/>
          </a:p>
        </p:txBody>
      </p:sp>
      <p:sp>
        <p:nvSpPr>
          <p:cNvPr id="45" name="Shape 38"/>
          <p:cNvSpPr/>
          <p:nvPr/>
        </p:nvSpPr>
        <p:spPr>
          <a:xfrm>
            <a:off x="9979914" y="4169664"/>
            <a:ext cx="1644853" cy="658368"/>
          </a:xfrm>
          <a:prstGeom prst="roundRect">
            <a:avLst>
              <a:gd name="adj" fmla="val 13889"/>
            </a:avLst>
          </a:prstGeom>
          <a:solidFill>
            <a:srgbClr val="E8A33D"/>
          </a:solidFill>
          <a:ln w="12700">
            <a:solidFill>
              <a:srgbClr val="E8A33D"/>
            </a:solidFill>
            <a:prstDash val="solid"/>
          </a:ln>
        </p:spPr>
        <p:txBody>
          <a:bodyPr/>
          <a:lstStyle/>
          <a:p>
            <a:endParaRPr dirty="0"/>
          </a:p>
        </p:txBody>
      </p:sp>
      <p:sp>
        <p:nvSpPr>
          <p:cNvPr id="46" name="Text 39"/>
          <p:cNvSpPr txBox="1"/>
          <p:nvPr/>
        </p:nvSpPr>
        <p:spPr>
          <a:xfrm>
            <a:off x="10034778" y="4169664"/>
            <a:ext cx="1535125" cy="658368"/>
          </a:xfrm>
          <a:prstGeom prst="rect">
            <a:avLst/>
          </a:prstGeom>
          <a:noFill/>
          <a:ln/>
        </p:spPr>
        <p:txBody>
          <a:bodyPr wrap="square" lIns="0" tIns="0" rIns="0" bIns="0" rtlCol="0" anchor="ctr"/>
          <a:lstStyle/>
          <a:p>
            <a:pPr marL="0" indent="0" algn="ctr">
              <a:buNone/>
            </a:pPr>
            <a:r>
              <a:rPr lang="en-US" sz="1150" b="1" dirty="0">
                <a:solidFill>
                  <a:srgbClr val="0E2F30"/>
                </a:solidFill>
                <a:latin typeface="Calibri" pitchFamily="34" charset="0"/>
                <a:ea typeface="Calibri" pitchFamily="34" charset="-122"/>
                <a:cs typeface="Calibri" pitchFamily="34" charset="-120"/>
              </a:rPr>
              <a:t>Answer + Citations</a:t>
            </a:r>
            <a:endParaRPr lang="en-US" sz="1150" dirty="0"/>
          </a:p>
        </p:txBody>
      </p:sp>
      <p:sp>
        <p:nvSpPr>
          <p:cNvPr id="47" name="Shape 40"/>
          <p:cNvSpPr/>
          <p:nvPr/>
        </p:nvSpPr>
        <p:spPr>
          <a:xfrm>
            <a:off x="566928" y="5175504"/>
            <a:ext cx="11057839" cy="1243584"/>
          </a:xfrm>
          <a:prstGeom prst="roundRect">
            <a:avLst>
              <a:gd name="adj" fmla="val 8824"/>
            </a:avLst>
          </a:prstGeom>
          <a:solidFill>
            <a:srgbClr val="16403F"/>
          </a:solidFill>
          <a:ln w="15875">
            <a:solidFill>
              <a:srgbClr val="E8A33D"/>
            </a:solidFill>
            <a:prstDash val="solid"/>
          </a:ln>
        </p:spPr>
        <p:txBody>
          <a:bodyPr/>
          <a:lstStyle/>
          <a:p>
            <a:endParaRPr dirty="0"/>
          </a:p>
        </p:txBody>
      </p:sp>
      <p:sp>
        <p:nvSpPr>
          <p:cNvPr id="48" name="Text 41"/>
          <p:cNvSpPr txBox="1"/>
          <p:nvPr/>
        </p:nvSpPr>
        <p:spPr>
          <a:xfrm>
            <a:off x="932688" y="5358384"/>
            <a:ext cx="10326319" cy="237744"/>
          </a:xfrm>
          <a:prstGeom prst="rect">
            <a:avLst/>
          </a:prstGeom>
          <a:noFill/>
          <a:ln/>
        </p:spPr>
        <p:txBody>
          <a:bodyPr wrap="square" lIns="0" tIns="0" rIns="0" bIns="0" rtlCol="0" anchor="ctr"/>
          <a:lstStyle/>
          <a:p>
            <a:pPr marL="0" indent="0">
              <a:buNone/>
            </a:pPr>
            <a:r>
              <a:rPr lang="en-US" sz="1000" b="1" kern="0" spc="150" dirty="0">
                <a:solidFill>
                  <a:srgbClr val="E8A33D"/>
                </a:solidFill>
                <a:latin typeface="Calibri" pitchFamily="34" charset="0"/>
                <a:ea typeface="Calibri" pitchFamily="34" charset="-122"/>
                <a:cs typeface="Calibri" pitchFamily="34" charset="-120"/>
              </a:rPr>
              <a:t>FINAL GOAL</a:t>
            </a:r>
            <a:endParaRPr lang="en-US" sz="1000" dirty="0"/>
          </a:p>
        </p:txBody>
      </p:sp>
      <p:sp>
        <p:nvSpPr>
          <p:cNvPr id="49" name="Text 42"/>
          <p:cNvSpPr txBox="1"/>
          <p:nvPr/>
        </p:nvSpPr>
        <p:spPr>
          <a:xfrm>
            <a:off x="932688" y="5650992"/>
            <a:ext cx="10326319" cy="621792"/>
          </a:xfrm>
          <a:prstGeom prst="rect">
            <a:avLst/>
          </a:prstGeom>
          <a:noFill/>
          <a:ln/>
        </p:spPr>
        <p:txBody>
          <a:bodyPr wrap="square" lIns="0" tIns="0" rIns="0" bIns="0" rtlCol="0" anchor="ctr"/>
          <a:lstStyle/>
          <a:p>
            <a:pPr marL="0" indent="0">
              <a:lnSpc>
                <a:spcPts val="2400"/>
              </a:lnSpc>
              <a:buNone/>
            </a:pPr>
            <a:r>
              <a:rPr lang="en-US" sz="1750" b="1" dirty="0">
                <a:solidFill>
                  <a:srgbClr val="FFFFFF"/>
                </a:solidFill>
                <a:latin typeface="Cambria" pitchFamily="34" charset="0"/>
                <a:ea typeface="Cambria" pitchFamily="34" charset="-122"/>
                <a:cs typeface="Cambria" pitchFamily="34" charset="-120"/>
              </a:rPr>
              <a:t>To build a reliable GenAI system that helps users obtain accurate and verifiable information from multiple documents.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19456"/>
            <a:ext cx="11057839" cy="237744"/>
          </a:xfrm>
          <a:prstGeom prst="rect">
            <a:avLst/>
          </a:prstGeom>
          <a:noFill/>
          <a:ln/>
        </p:spPr>
        <p:txBody>
          <a:bodyPr wrap="square" lIns="0" tIns="0" rIns="0" bIns="0" rtlCol="0" anchor="ctr"/>
          <a:lstStyle/>
          <a:p>
            <a:pPr marL="0" indent="0">
              <a:buNone/>
            </a:pPr>
            <a:r>
              <a:rPr lang="en-US" sz="1150" b="1" kern="0" spc="160" dirty="0">
                <a:solidFill>
                  <a:srgbClr val="1C7C7C"/>
                </a:solidFill>
                <a:latin typeface="Calibri" pitchFamily="34" charset="0"/>
                <a:ea typeface="Calibri" pitchFamily="34" charset="-122"/>
                <a:cs typeface="Calibri" pitchFamily="34" charset="-120"/>
              </a:rPr>
              <a:t>BEYOND QUESTION ANSWERING</a:t>
            </a:r>
            <a:endParaRPr lang="en-US" sz="1150" dirty="0"/>
          </a:p>
        </p:txBody>
      </p:sp>
      <p:sp>
        <p:nvSpPr>
          <p:cNvPr id="3" name="Text 1"/>
          <p:cNvSpPr txBox="1"/>
          <p:nvPr/>
        </p:nvSpPr>
        <p:spPr>
          <a:xfrm>
            <a:off x="566928" y="384048"/>
            <a:ext cx="11057839" cy="658368"/>
          </a:xfrm>
          <a:prstGeom prst="rect">
            <a:avLst/>
          </a:prstGeom>
          <a:noFill/>
          <a:ln/>
        </p:spPr>
        <p:txBody>
          <a:bodyPr wrap="square" lIns="0" tIns="0" rIns="0" bIns="0" rtlCol="0" anchor="ctr"/>
          <a:lstStyle/>
          <a:p>
            <a:pPr marL="0" indent="0">
              <a:buNone/>
            </a:pPr>
            <a:r>
              <a:rPr lang="en-US" sz="3400" b="1" dirty="0">
                <a:solidFill>
                  <a:srgbClr val="172B2B"/>
                </a:solidFill>
                <a:latin typeface="Cambria" pitchFamily="34" charset="0"/>
                <a:ea typeface="Cambria" pitchFamily="34" charset="-122"/>
                <a:cs typeface="Cambria" pitchFamily="34" charset="-120"/>
              </a:rPr>
              <a:t>Features built on top of the pipeline</a:t>
            </a:r>
            <a:endParaRPr lang="en-US" sz="3400" dirty="0"/>
          </a:p>
        </p:txBody>
      </p:sp>
      <p:sp>
        <p:nvSpPr>
          <p:cNvPr id="4" name="Shape 2"/>
          <p:cNvSpPr/>
          <p:nvPr/>
        </p:nvSpPr>
        <p:spPr>
          <a:xfrm>
            <a:off x="566928" y="1371600"/>
            <a:ext cx="5373472" cy="1737360"/>
          </a:xfrm>
          <a:prstGeom prst="roundRect">
            <a:avLst>
              <a:gd name="adj" fmla="val 5263"/>
            </a:avLst>
          </a:prstGeom>
          <a:solidFill>
            <a:srgbClr val="EFF4F3"/>
          </a:solidFill>
          <a:ln w="12700">
            <a:solidFill>
              <a:srgbClr val="EFF4F3"/>
            </a:solidFill>
            <a:prstDash val="solid"/>
          </a:ln>
        </p:spPr>
        <p:txBody>
          <a:bodyPr/>
          <a:lstStyle/>
          <a:p>
            <a:endParaRPr dirty="0"/>
          </a:p>
        </p:txBody>
      </p:sp>
      <p:sp>
        <p:nvSpPr>
          <p:cNvPr id="5" name="Shape 3"/>
          <p:cNvSpPr/>
          <p:nvPr/>
        </p:nvSpPr>
        <p:spPr>
          <a:xfrm>
            <a:off x="859536" y="1664208"/>
            <a:ext cx="493776" cy="493776"/>
          </a:xfrm>
          <a:prstGeom prst="ellipse">
            <a:avLst/>
          </a:prstGeom>
          <a:solidFill>
            <a:srgbClr val="FFFFFF"/>
          </a:solidFill>
          <a:ln w="12700">
            <a:solidFill>
              <a:srgbClr val="FFFFFF"/>
            </a:solidFill>
            <a:prstDash val="solid"/>
          </a:ln>
        </p:spPr>
        <p:txBody>
          <a:bodyPr/>
          <a:lstStyle/>
          <a:p>
            <a:endParaRPr dirty="0"/>
          </a:p>
        </p:txBody>
      </p:sp>
      <p:pic>
        <p:nvPicPr>
          <p:cNvPr id="6" name="Image 0" descr="preencoded.png"/>
          <p:cNvPicPr>
            <a:picLocks noChangeAspect="1"/>
          </p:cNvPicPr>
          <p:nvPr/>
        </p:nvPicPr>
        <p:blipFill>
          <a:blip r:embed="rId3"/>
          <a:stretch>
            <a:fillRect/>
          </a:stretch>
        </p:blipFill>
        <p:spPr>
          <a:xfrm>
            <a:off x="987918" y="1792590"/>
            <a:ext cx="237012" cy="237012"/>
          </a:xfrm>
          <a:prstGeom prst="rect">
            <a:avLst/>
          </a:prstGeom>
        </p:spPr>
      </p:pic>
      <p:sp>
        <p:nvSpPr>
          <p:cNvPr id="7" name="Shape 4"/>
          <p:cNvSpPr/>
          <p:nvPr/>
        </p:nvSpPr>
        <p:spPr>
          <a:xfrm>
            <a:off x="5336896" y="1664208"/>
            <a:ext cx="347472" cy="347472"/>
          </a:xfrm>
          <a:prstGeom prst="ellipse">
            <a:avLst/>
          </a:prstGeom>
          <a:solidFill>
            <a:srgbClr val="FFFFFF"/>
          </a:solidFill>
          <a:ln w="12700">
            <a:solidFill>
              <a:srgbClr val="FFFFFF"/>
            </a:solidFill>
            <a:prstDash val="solid"/>
          </a:ln>
        </p:spPr>
        <p:txBody>
          <a:bodyPr/>
          <a:lstStyle/>
          <a:p>
            <a:endParaRPr dirty="0"/>
          </a:p>
        </p:txBody>
      </p:sp>
      <p:sp>
        <p:nvSpPr>
          <p:cNvPr id="8" name="Text 5"/>
          <p:cNvSpPr txBox="1"/>
          <p:nvPr/>
        </p:nvSpPr>
        <p:spPr>
          <a:xfrm>
            <a:off x="5336896" y="1664208"/>
            <a:ext cx="347472" cy="347472"/>
          </a:xfrm>
          <a:prstGeom prst="rect">
            <a:avLst/>
          </a:prstGeom>
          <a:noFill/>
          <a:ln/>
        </p:spPr>
        <p:txBody>
          <a:bodyPr wrap="square" lIns="0" tIns="0" rIns="0" bIns="0" rtlCol="0" anchor="ctr"/>
          <a:lstStyle/>
          <a:p>
            <a:pPr marL="0" indent="0" algn="ctr">
              <a:buNone/>
            </a:pPr>
            <a:r>
              <a:rPr lang="en-US" sz="1100" b="1" dirty="0">
                <a:solidFill>
                  <a:srgbClr val="1C7C7C"/>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499616" y="1700784"/>
            <a:ext cx="3764128" cy="347472"/>
          </a:xfrm>
          <a:prstGeom prst="rect">
            <a:avLst/>
          </a:prstGeom>
          <a:noFill/>
          <a:ln/>
        </p:spPr>
        <p:txBody>
          <a:bodyPr wrap="square" lIns="0" tIns="0" rIns="0" bIns="0" rtlCol="0" anchor="ctr"/>
          <a:lstStyle/>
          <a:p>
            <a:pPr marL="0" indent="0">
              <a:buNone/>
            </a:pPr>
            <a:r>
              <a:rPr lang="en-US" sz="1500" b="1" dirty="0">
                <a:solidFill>
                  <a:srgbClr val="172B2B"/>
                </a:solidFill>
                <a:latin typeface="Calibri" pitchFamily="34" charset="0"/>
                <a:ea typeface="Calibri" pitchFamily="34" charset="-122"/>
                <a:cs typeface="Calibri" pitchFamily="34" charset="-120"/>
              </a:rPr>
              <a:t>Answer Audit</a:t>
            </a:r>
            <a:endParaRPr lang="en-US" sz="1500" dirty="0"/>
          </a:p>
        </p:txBody>
      </p:sp>
      <p:sp>
        <p:nvSpPr>
          <p:cNvPr id="10" name="Text 7"/>
          <p:cNvSpPr txBox="1"/>
          <p:nvPr/>
        </p:nvSpPr>
        <p:spPr>
          <a:xfrm>
            <a:off x="859536" y="2267712"/>
            <a:ext cx="4788256" cy="731520"/>
          </a:xfrm>
          <a:prstGeom prst="rect">
            <a:avLst/>
          </a:prstGeom>
          <a:noFill/>
          <a:ln/>
        </p:spPr>
        <p:txBody>
          <a:bodyPr wrap="square" lIns="0" tIns="0" rIns="0" bIns="0" rtlCol="0" anchor="t"/>
          <a:lstStyle/>
          <a:p>
            <a:pPr marL="0" indent="0">
              <a:lnSpc>
                <a:spcPts val="1500"/>
              </a:lnSpc>
              <a:buNone/>
            </a:pPr>
            <a:r>
              <a:rPr lang="en-US" sz="1150" dirty="0">
                <a:solidFill>
                  <a:srgbClr val="5F7271"/>
                </a:solidFill>
                <a:latin typeface="Calibri" pitchFamily="34" charset="0"/>
                <a:ea typeface="Calibri" pitchFamily="34" charset="-122"/>
                <a:cs typeface="Calibri" pitchFamily="34" charset="-120"/>
              </a:rPr>
              <a:t>Each answer is split into claims and checked against its sources. It gets a faithfulness score, and unsupported claims are removed.</a:t>
            </a:r>
            <a:endParaRPr lang="en-US" sz="1150" dirty="0"/>
          </a:p>
        </p:txBody>
      </p:sp>
      <p:sp>
        <p:nvSpPr>
          <p:cNvPr id="11" name="Shape 8"/>
          <p:cNvSpPr/>
          <p:nvPr/>
        </p:nvSpPr>
        <p:spPr>
          <a:xfrm>
            <a:off x="6251296" y="1371600"/>
            <a:ext cx="5373472" cy="1737360"/>
          </a:xfrm>
          <a:prstGeom prst="roundRect">
            <a:avLst>
              <a:gd name="adj" fmla="val 5263"/>
            </a:avLst>
          </a:prstGeom>
          <a:solidFill>
            <a:srgbClr val="EFF4F3"/>
          </a:solidFill>
          <a:ln w="12700">
            <a:solidFill>
              <a:srgbClr val="EFF4F3"/>
            </a:solidFill>
            <a:prstDash val="solid"/>
          </a:ln>
        </p:spPr>
        <p:txBody>
          <a:bodyPr/>
          <a:lstStyle/>
          <a:p>
            <a:endParaRPr dirty="0"/>
          </a:p>
        </p:txBody>
      </p:sp>
      <p:sp>
        <p:nvSpPr>
          <p:cNvPr id="12" name="Shape 9"/>
          <p:cNvSpPr/>
          <p:nvPr/>
        </p:nvSpPr>
        <p:spPr>
          <a:xfrm>
            <a:off x="6543904" y="1664208"/>
            <a:ext cx="493776" cy="493776"/>
          </a:xfrm>
          <a:prstGeom prst="ellipse">
            <a:avLst/>
          </a:prstGeom>
          <a:solidFill>
            <a:srgbClr val="FFFFFF"/>
          </a:solidFill>
          <a:ln w="12700">
            <a:solidFill>
              <a:srgbClr val="FFFFFF"/>
            </a:solidFill>
            <a:prstDash val="solid"/>
          </a:ln>
        </p:spPr>
        <p:txBody>
          <a:bodyPr/>
          <a:lstStyle/>
          <a:p>
            <a:endParaRPr dirty="0"/>
          </a:p>
        </p:txBody>
      </p:sp>
      <p:pic>
        <p:nvPicPr>
          <p:cNvPr id="13" name="Image 1" descr="preencoded.png"/>
          <p:cNvPicPr>
            <a:picLocks noChangeAspect="1"/>
          </p:cNvPicPr>
          <p:nvPr/>
        </p:nvPicPr>
        <p:blipFill>
          <a:blip r:embed="rId4"/>
          <a:stretch>
            <a:fillRect/>
          </a:stretch>
        </p:blipFill>
        <p:spPr>
          <a:xfrm>
            <a:off x="6672285" y="1792590"/>
            <a:ext cx="237012" cy="237012"/>
          </a:xfrm>
          <a:prstGeom prst="rect">
            <a:avLst/>
          </a:prstGeom>
        </p:spPr>
      </p:pic>
      <p:sp>
        <p:nvSpPr>
          <p:cNvPr id="14" name="Shape 10"/>
          <p:cNvSpPr/>
          <p:nvPr/>
        </p:nvSpPr>
        <p:spPr>
          <a:xfrm>
            <a:off x="11021263" y="1664208"/>
            <a:ext cx="347472" cy="347472"/>
          </a:xfrm>
          <a:prstGeom prst="ellipse">
            <a:avLst/>
          </a:prstGeom>
          <a:solidFill>
            <a:srgbClr val="FFFFFF"/>
          </a:solidFill>
          <a:ln w="12700">
            <a:solidFill>
              <a:srgbClr val="FFFFFF"/>
            </a:solidFill>
            <a:prstDash val="solid"/>
          </a:ln>
        </p:spPr>
        <p:txBody>
          <a:bodyPr/>
          <a:lstStyle/>
          <a:p>
            <a:endParaRPr dirty="0"/>
          </a:p>
        </p:txBody>
      </p:sp>
      <p:sp>
        <p:nvSpPr>
          <p:cNvPr id="15" name="Text 11"/>
          <p:cNvSpPr txBox="1"/>
          <p:nvPr/>
        </p:nvSpPr>
        <p:spPr>
          <a:xfrm>
            <a:off x="11021263" y="1664208"/>
            <a:ext cx="347472" cy="347472"/>
          </a:xfrm>
          <a:prstGeom prst="rect">
            <a:avLst/>
          </a:prstGeom>
          <a:noFill/>
          <a:ln/>
        </p:spPr>
        <p:txBody>
          <a:bodyPr wrap="square" lIns="0" tIns="0" rIns="0" bIns="0" rtlCol="0" anchor="ctr"/>
          <a:lstStyle/>
          <a:p>
            <a:pPr marL="0" indent="0" algn="ctr">
              <a:buNone/>
            </a:pPr>
            <a:r>
              <a:rPr lang="en-US" sz="1100" b="1" dirty="0">
                <a:solidFill>
                  <a:srgbClr val="1C7C7C"/>
                </a:solidFill>
                <a:latin typeface="Calibri" pitchFamily="34" charset="0"/>
                <a:ea typeface="Calibri" pitchFamily="34" charset="-122"/>
                <a:cs typeface="Calibri" pitchFamily="34" charset="-120"/>
              </a:rPr>
              <a:t>2</a:t>
            </a:r>
            <a:endParaRPr lang="en-US" sz="1100" dirty="0"/>
          </a:p>
        </p:txBody>
      </p:sp>
      <p:sp>
        <p:nvSpPr>
          <p:cNvPr id="16" name="Text 12"/>
          <p:cNvSpPr txBox="1"/>
          <p:nvPr/>
        </p:nvSpPr>
        <p:spPr>
          <a:xfrm>
            <a:off x="7183984" y="1700784"/>
            <a:ext cx="3764128" cy="347472"/>
          </a:xfrm>
          <a:prstGeom prst="rect">
            <a:avLst/>
          </a:prstGeom>
          <a:noFill/>
          <a:ln/>
        </p:spPr>
        <p:txBody>
          <a:bodyPr wrap="square" lIns="0" tIns="0" rIns="0" bIns="0" rtlCol="0" anchor="ctr"/>
          <a:lstStyle/>
          <a:p>
            <a:pPr marL="0" indent="0">
              <a:buNone/>
            </a:pPr>
            <a:r>
              <a:rPr lang="en-US" sz="1500" b="1" dirty="0">
                <a:solidFill>
                  <a:srgbClr val="172B2B"/>
                </a:solidFill>
                <a:latin typeface="Calibri" pitchFamily="34" charset="0"/>
                <a:ea typeface="Calibri" pitchFamily="34" charset="-122"/>
                <a:cs typeface="Calibri" pitchFamily="34" charset="-120"/>
              </a:rPr>
              <a:t>Model Jury</a:t>
            </a:r>
            <a:endParaRPr lang="en-US" sz="1500" dirty="0"/>
          </a:p>
        </p:txBody>
      </p:sp>
      <p:sp>
        <p:nvSpPr>
          <p:cNvPr id="17" name="Text 13"/>
          <p:cNvSpPr txBox="1"/>
          <p:nvPr/>
        </p:nvSpPr>
        <p:spPr>
          <a:xfrm>
            <a:off x="6543904" y="2267712"/>
            <a:ext cx="4788256" cy="731520"/>
          </a:xfrm>
          <a:prstGeom prst="rect">
            <a:avLst/>
          </a:prstGeom>
          <a:noFill/>
          <a:ln/>
        </p:spPr>
        <p:txBody>
          <a:bodyPr wrap="square" lIns="0" tIns="0" rIns="0" bIns="0" rtlCol="0" anchor="t"/>
          <a:lstStyle/>
          <a:p>
            <a:pPr marL="0" indent="0">
              <a:lnSpc>
                <a:spcPts val="1500"/>
              </a:lnSpc>
              <a:buNone/>
            </a:pPr>
            <a:r>
              <a:rPr lang="en-US" sz="1150" dirty="0">
                <a:solidFill>
                  <a:srgbClr val="5F7271"/>
                </a:solidFill>
                <a:latin typeface="Calibri" pitchFamily="34" charset="0"/>
                <a:ea typeface="Calibri" pitchFamily="34" charset="-122"/>
                <a:cs typeface="Calibri" pitchFamily="34" charset="-120"/>
              </a:rPr>
              <a:t>Qwen 2.5 7B and Llama 3.1 8B answer from the same passages, and a judge model reports where the two agree or differ.</a:t>
            </a:r>
            <a:endParaRPr lang="en-US" sz="1150" dirty="0"/>
          </a:p>
        </p:txBody>
      </p:sp>
      <p:sp>
        <p:nvSpPr>
          <p:cNvPr id="18" name="Shape 14"/>
          <p:cNvSpPr/>
          <p:nvPr/>
        </p:nvSpPr>
        <p:spPr>
          <a:xfrm>
            <a:off x="566928" y="3419856"/>
            <a:ext cx="5373472" cy="1737360"/>
          </a:xfrm>
          <a:prstGeom prst="roundRect">
            <a:avLst>
              <a:gd name="adj" fmla="val 5263"/>
            </a:avLst>
          </a:prstGeom>
          <a:solidFill>
            <a:srgbClr val="EFF4F3"/>
          </a:solidFill>
          <a:ln w="12700">
            <a:solidFill>
              <a:srgbClr val="EFF4F3"/>
            </a:solidFill>
            <a:prstDash val="solid"/>
          </a:ln>
        </p:spPr>
        <p:txBody>
          <a:bodyPr/>
          <a:lstStyle/>
          <a:p>
            <a:endParaRPr dirty="0"/>
          </a:p>
        </p:txBody>
      </p:sp>
      <p:sp>
        <p:nvSpPr>
          <p:cNvPr id="19" name="Shape 15"/>
          <p:cNvSpPr/>
          <p:nvPr/>
        </p:nvSpPr>
        <p:spPr>
          <a:xfrm>
            <a:off x="859536" y="3712464"/>
            <a:ext cx="493776" cy="493776"/>
          </a:xfrm>
          <a:prstGeom prst="ellipse">
            <a:avLst/>
          </a:prstGeom>
          <a:solidFill>
            <a:srgbClr val="FFFFFF"/>
          </a:solidFill>
          <a:ln w="12700">
            <a:solidFill>
              <a:srgbClr val="FFFFFF"/>
            </a:solidFill>
            <a:prstDash val="solid"/>
          </a:ln>
        </p:spPr>
        <p:txBody>
          <a:bodyPr/>
          <a:lstStyle/>
          <a:p>
            <a:endParaRPr dirty="0"/>
          </a:p>
        </p:txBody>
      </p:sp>
      <p:pic>
        <p:nvPicPr>
          <p:cNvPr id="20" name="Image 2" descr="preencoded.png"/>
          <p:cNvPicPr>
            <a:picLocks noChangeAspect="1"/>
          </p:cNvPicPr>
          <p:nvPr/>
        </p:nvPicPr>
        <p:blipFill>
          <a:blip r:embed="rId5"/>
          <a:stretch>
            <a:fillRect/>
          </a:stretch>
        </p:blipFill>
        <p:spPr>
          <a:xfrm>
            <a:off x="987918" y="3840846"/>
            <a:ext cx="237012" cy="237012"/>
          </a:xfrm>
          <a:prstGeom prst="rect">
            <a:avLst/>
          </a:prstGeom>
        </p:spPr>
      </p:pic>
      <p:sp>
        <p:nvSpPr>
          <p:cNvPr id="21" name="Shape 16"/>
          <p:cNvSpPr/>
          <p:nvPr/>
        </p:nvSpPr>
        <p:spPr>
          <a:xfrm>
            <a:off x="5336896" y="3712464"/>
            <a:ext cx="347472" cy="347472"/>
          </a:xfrm>
          <a:prstGeom prst="ellipse">
            <a:avLst/>
          </a:prstGeom>
          <a:solidFill>
            <a:srgbClr val="FFFFFF"/>
          </a:solidFill>
          <a:ln w="12700">
            <a:solidFill>
              <a:srgbClr val="FFFFFF"/>
            </a:solidFill>
            <a:prstDash val="solid"/>
          </a:ln>
        </p:spPr>
        <p:txBody>
          <a:bodyPr/>
          <a:lstStyle/>
          <a:p>
            <a:endParaRPr dirty="0"/>
          </a:p>
        </p:txBody>
      </p:sp>
      <p:sp>
        <p:nvSpPr>
          <p:cNvPr id="22" name="Text 17"/>
          <p:cNvSpPr txBox="1"/>
          <p:nvPr/>
        </p:nvSpPr>
        <p:spPr>
          <a:xfrm>
            <a:off x="5336896" y="3712464"/>
            <a:ext cx="347472" cy="347472"/>
          </a:xfrm>
          <a:prstGeom prst="rect">
            <a:avLst/>
          </a:prstGeom>
          <a:noFill/>
          <a:ln/>
        </p:spPr>
        <p:txBody>
          <a:bodyPr wrap="square" lIns="0" tIns="0" rIns="0" bIns="0" rtlCol="0" anchor="ctr"/>
          <a:lstStyle/>
          <a:p>
            <a:pPr marL="0" indent="0" algn="ctr">
              <a:buNone/>
            </a:pPr>
            <a:r>
              <a:rPr lang="en-US" sz="1100" b="1" dirty="0">
                <a:solidFill>
                  <a:srgbClr val="1C7C7C"/>
                </a:solidFill>
                <a:latin typeface="Calibri" pitchFamily="34" charset="0"/>
                <a:ea typeface="Calibri" pitchFamily="34" charset="-122"/>
                <a:cs typeface="Calibri" pitchFamily="34" charset="-120"/>
              </a:rPr>
              <a:t>3</a:t>
            </a:r>
            <a:endParaRPr lang="en-US" sz="1100" dirty="0"/>
          </a:p>
        </p:txBody>
      </p:sp>
      <p:sp>
        <p:nvSpPr>
          <p:cNvPr id="23" name="Text 18"/>
          <p:cNvSpPr txBox="1"/>
          <p:nvPr/>
        </p:nvSpPr>
        <p:spPr>
          <a:xfrm>
            <a:off x="1499616" y="3749040"/>
            <a:ext cx="3764128" cy="347472"/>
          </a:xfrm>
          <a:prstGeom prst="rect">
            <a:avLst/>
          </a:prstGeom>
          <a:noFill/>
          <a:ln/>
        </p:spPr>
        <p:txBody>
          <a:bodyPr wrap="square" lIns="0" tIns="0" rIns="0" bIns="0" rtlCol="0" anchor="ctr"/>
          <a:lstStyle/>
          <a:p>
            <a:pPr marL="0" indent="0">
              <a:buNone/>
            </a:pPr>
            <a:r>
              <a:rPr lang="en-US" sz="1500" b="1" dirty="0">
                <a:solidFill>
                  <a:srgbClr val="172B2B"/>
                </a:solidFill>
                <a:latin typeface="Calibri" pitchFamily="34" charset="0"/>
                <a:ea typeface="Calibri" pitchFamily="34" charset="-122"/>
                <a:cs typeface="Calibri" pitchFamily="34" charset="-120"/>
              </a:rPr>
              <a:t>Document Insights</a:t>
            </a:r>
            <a:endParaRPr lang="en-US" sz="1500" dirty="0"/>
          </a:p>
        </p:txBody>
      </p:sp>
      <p:sp>
        <p:nvSpPr>
          <p:cNvPr id="24" name="Text 19"/>
          <p:cNvSpPr txBox="1"/>
          <p:nvPr/>
        </p:nvSpPr>
        <p:spPr>
          <a:xfrm>
            <a:off x="859536" y="4315968"/>
            <a:ext cx="4788256" cy="731520"/>
          </a:xfrm>
          <a:prstGeom prst="rect">
            <a:avLst/>
          </a:prstGeom>
          <a:noFill/>
          <a:ln/>
        </p:spPr>
        <p:txBody>
          <a:bodyPr wrap="square" lIns="0" tIns="0" rIns="0" bIns="0" rtlCol="0" anchor="t"/>
          <a:lstStyle/>
          <a:p>
            <a:pPr marL="0" indent="0">
              <a:lnSpc>
                <a:spcPts val="1500"/>
              </a:lnSpc>
              <a:buNone/>
            </a:pPr>
            <a:r>
              <a:rPr lang="en-US" sz="1150" dirty="0">
                <a:solidFill>
                  <a:srgbClr val="5F7271"/>
                </a:solidFill>
                <a:latin typeface="Calibri" pitchFamily="34" charset="0"/>
                <a:ea typeface="Calibri" pitchFamily="34" charset="-122"/>
                <a:cs typeface="Calibri" pitchFamily="34" charset="-120"/>
              </a:rPr>
              <a:t>After upload, each file gets a summary, FAQ, quiz, timeline and knowledge graph, and is checked for clashes with other files.</a:t>
            </a:r>
            <a:endParaRPr lang="en-US" sz="1150" dirty="0"/>
          </a:p>
        </p:txBody>
      </p:sp>
      <p:sp>
        <p:nvSpPr>
          <p:cNvPr id="25" name="Shape 20"/>
          <p:cNvSpPr/>
          <p:nvPr/>
        </p:nvSpPr>
        <p:spPr>
          <a:xfrm>
            <a:off x="6251296" y="3419856"/>
            <a:ext cx="5373472" cy="1737360"/>
          </a:xfrm>
          <a:prstGeom prst="roundRect">
            <a:avLst>
              <a:gd name="adj" fmla="val 5263"/>
            </a:avLst>
          </a:prstGeom>
          <a:solidFill>
            <a:srgbClr val="EFF4F3"/>
          </a:solidFill>
          <a:ln w="12700">
            <a:solidFill>
              <a:srgbClr val="EFF4F3"/>
            </a:solidFill>
            <a:prstDash val="solid"/>
          </a:ln>
        </p:spPr>
        <p:txBody>
          <a:bodyPr/>
          <a:lstStyle/>
          <a:p>
            <a:endParaRPr dirty="0"/>
          </a:p>
        </p:txBody>
      </p:sp>
      <p:sp>
        <p:nvSpPr>
          <p:cNvPr id="26" name="Shape 21"/>
          <p:cNvSpPr/>
          <p:nvPr/>
        </p:nvSpPr>
        <p:spPr>
          <a:xfrm>
            <a:off x="6543904" y="3712464"/>
            <a:ext cx="493776" cy="493776"/>
          </a:xfrm>
          <a:prstGeom prst="ellipse">
            <a:avLst/>
          </a:prstGeom>
          <a:solidFill>
            <a:srgbClr val="FFFFFF"/>
          </a:solidFill>
          <a:ln w="12700">
            <a:solidFill>
              <a:srgbClr val="FFFFFF"/>
            </a:solidFill>
            <a:prstDash val="solid"/>
          </a:ln>
        </p:spPr>
        <p:txBody>
          <a:bodyPr/>
          <a:lstStyle/>
          <a:p>
            <a:endParaRPr dirty="0"/>
          </a:p>
        </p:txBody>
      </p:sp>
      <p:pic>
        <p:nvPicPr>
          <p:cNvPr id="27" name="Image 3" descr="preencoded.png"/>
          <p:cNvPicPr>
            <a:picLocks noChangeAspect="1"/>
          </p:cNvPicPr>
          <p:nvPr/>
        </p:nvPicPr>
        <p:blipFill>
          <a:blip r:embed="rId6"/>
          <a:stretch>
            <a:fillRect/>
          </a:stretch>
        </p:blipFill>
        <p:spPr>
          <a:xfrm>
            <a:off x="6672285" y="3840846"/>
            <a:ext cx="237012" cy="237012"/>
          </a:xfrm>
          <a:prstGeom prst="rect">
            <a:avLst/>
          </a:prstGeom>
        </p:spPr>
      </p:pic>
      <p:sp>
        <p:nvSpPr>
          <p:cNvPr id="28" name="Shape 22"/>
          <p:cNvSpPr/>
          <p:nvPr/>
        </p:nvSpPr>
        <p:spPr>
          <a:xfrm>
            <a:off x="11021263" y="3712464"/>
            <a:ext cx="347472" cy="347472"/>
          </a:xfrm>
          <a:prstGeom prst="ellipse">
            <a:avLst/>
          </a:prstGeom>
          <a:solidFill>
            <a:srgbClr val="FFFFFF"/>
          </a:solidFill>
          <a:ln w="12700">
            <a:solidFill>
              <a:srgbClr val="FFFFFF"/>
            </a:solidFill>
            <a:prstDash val="solid"/>
          </a:ln>
        </p:spPr>
        <p:txBody>
          <a:bodyPr/>
          <a:lstStyle/>
          <a:p>
            <a:endParaRPr dirty="0"/>
          </a:p>
        </p:txBody>
      </p:sp>
      <p:sp>
        <p:nvSpPr>
          <p:cNvPr id="29" name="Text 23"/>
          <p:cNvSpPr txBox="1"/>
          <p:nvPr/>
        </p:nvSpPr>
        <p:spPr>
          <a:xfrm>
            <a:off x="11021263" y="3712464"/>
            <a:ext cx="347472" cy="347472"/>
          </a:xfrm>
          <a:prstGeom prst="rect">
            <a:avLst/>
          </a:prstGeom>
          <a:noFill/>
          <a:ln/>
        </p:spPr>
        <p:txBody>
          <a:bodyPr wrap="square" lIns="0" tIns="0" rIns="0" bIns="0" rtlCol="0" anchor="ctr"/>
          <a:lstStyle/>
          <a:p>
            <a:pPr marL="0" indent="0" algn="ctr">
              <a:buNone/>
            </a:pPr>
            <a:r>
              <a:rPr lang="en-US" sz="1100" b="1" dirty="0">
                <a:solidFill>
                  <a:srgbClr val="1C7C7C"/>
                </a:solidFill>
                <a:latin typeface="Calibri" pitchFamily="34" charset="0"/>
                <a:ea typeface="Calibri" pitchFamily="34" charset="-122"/>
                <a:cs typeface="Calibri" pitchFamily="34" charset="-120"/>
              </a:rPr>
              <a:t>4</a:t>
            </a:r>
            <a:endParaRPr lang="en-US" sz="1100" dirty="0"/>
          </a:p>
        </p:txBody>
      </p:sp>
      <p:sp>
        <p:nvSpPr>
          <p:cNvPr id="30" name="Text 24"/>
          <p:cNvSpPr txBox="1"/>
          <p:nvPr/>
        </p:nvSpPr>
        <p:spPr>
          <a:xfrm>
            <a:off x="7183984" y="3749040"/>
            <a:ext cx="3764128" cy="347472"/>
          </a:xfrm>
          <a:prstGeom prst="rect">
            <a:avLst/>
          </a:prstGeom>
          <a:noFill/>
          <a:ln/>
        </p:spPr>
        <p:txBody>
          <a:bodyPr wrap="square" lIns="0" tIns="0" rIns="0" bIns="0" rtlCol="0" anchor="ctr"/>
          <a:lstStyle/>
          <a:p>
            <a:pPr marL="0" indent="0">
              <a:buNone/>
            </a:pPr>
            <a:r>
              <a:rPr lang="en-US" sz="1500" b="1" dirty="0">
                <a:solidFill>
                  <a:srgbClr val="172B2B"/>
                </a:solidFill>
                <a:latin typeface="Calibri" pitchFamily="34" charset="0"/>
                <a:ea typeface="Calibri" pitchFamily="34" charset="-122"/>
                <a:cs typeface="Calibri" pitchFamily="34" charset="-120"/>
              </a:rPr>
              <a:t>Voice and Telegram</a:t>
            </a:r>
            <a:endParaRPr lang="en-US" sz="1500" dirty="0"/>
          </a:p>
        </p:txBody>
      </p:sp>
      <p:sp>
        <p:nvSpPr>
          <p:cNvPr id="31" name="Text 25"/>
          <p:cNvSpPr txBox="1"/>
          <p:nvPr/>
        </p:nvSpPr>
        <p:spPr>
          <a:xfrm>
            <a:off x="6543904" y="4315968"/>
            <a:ext cx="4788256" cy="731520"/>
          </a:xfrm>
          <a:prstGeom prst="rect">
            <a:avLst/>
          </a:prstGeom>
          <a:noFill/>
          <a:ln/>
        </p:spPr>
        <p:txBody>
          <a:bodyPr wrap="square" lIns="0" tIns="0" rIns="0" bIns="0" rtlCol="0" anchor="t"/>
          <a:lstStyle/>
          <a:p>
            <a:pPr marL="0" indent="0">
              <a:lnSpc>
                <a:spcPts val="1500"/>
              </a:lnSpc>
              <a:buNone/>
            </a:pPr>
            <a:r>
              <a:rPr lang="en-US" sz="1150" dirty="0">
                <a:solidFill>
                  <a:srgbClr val="5F7271"/>
                </a:solidFill>
                <a:latin typeface="Calibri" pitchFamily="34" charset="0"/>
                <a:ea typeface="Calibri" pitchFamily="34" charset="-122"/>
                <a:cs typeface="Calibri" pitchFamily="34" charset="-120"/>
              </a:rPr>
              <a:t>Questions can be spoken in English, Hindi or Marathi and transcribed locally by Whisper, or sent through a Telegram bot.</a:t>
            </a:r>
            <a:endParaRPr lang="en-US" sz="1150" dirty="0"/>
          </a:p>
        </p:txBody>
      </p:sp>
      <p:sp>
        <p:nvSpPr>
          <p:cNvPr id="32" name="Shape 26"/>
          <p:cNvSpPr/>
          <p:nvPr/>
        </p:nvSpPr>
        <p:spPr>
          <a:xfrm>
            <a:off x="566928" y="5285232"/>
            <a:ext cx="11057839" cy="1042416"/>
          </a:xfrm>
          <a:prstGeom prst="roundRect">
            <a:avLst>
              <a:gd name="adj" fmla="val 10526"/>
            </a:avLst>
          </a:prstGeom>
          <a:solidFill>
            <a:srgbClr val="12545A"/>
          </a:solidFill>
          <a:ln w="12700">
            <a:solidFill>
              <a:srgbClr val="12545A"/>
            </a:solidFill>
            <a:prstDash val="solid"/>
          </a:ln>
        </p:spPr>
        <p:txBody>
          <a:bodyPr/>
          <a:lstStyle/>
          <a:p>
            <a:endParaRPr dirty="0"/>
          </a:p>
        </p:txBody>
      </p:sp>
      <p:sp>
        <p:nvSpPr>
          <p:cNvPr id="33" name="Shape 27"/>
          <p:cNvSpPr/>
          <p:nvPr/>
        </p:nvSpPr>
        <p:spPr>
          <a:xfrm>
            <a:off x="896112" y="5568696"/>
            <a:ext cx="475488" cy="475488"/>
          </a:xfrm>
          <a:prstGeom prst="ellipse">
            <a:avLst/>
          </a:prstGeom>
          <a:solidFill>
            <a:srgbClr val="E8A33D"/>
          </a:solidFill>
          <a:ln w="12700">
            <a:solidFill>
              <a:srgbClr val="E8A33D"/>
            </a:solidFill>
            <a:prstDash val="solid"/>
          </a:ln>
        </p:spPr>
        <p:txBody>
          <a:bodyPr/>
          <a:lstStyle/>
          <a:p>
            <a:endParaRPr dirty="0"/>
          </a:p>
        </p:txBody>
      </p:sp>
      <p:pic>
        <p:nvPicPr>
          <p:cNvPr id="34" name="Image 4" descr="preencoded.png"/>
          <p:cNvPicPr>
            <a:picLocks noChangeAspect="1"/>
          </p:cNvPicPr>
          <p:nvPr/>
        </p:nvPicPr>
        <p:blipFill>
          <a:blip r:embed="rId7"/>
          <a:stretch>
            <a:fillRect/>
          </a:stretch>
        </p:blipFill>
        <p:spPr>
          <a:xfrm>
            <a:off x="1019739" y="5692323"/>
            <a:ext cx="228234" cy="228234"/>
          </a:xfrm>
          <a:prstGeom prst="rect">
            <a:avLst/>
          </a:prstGeom>
        </p:spPr>
      </p:pic>
      <p:sp>
        <p:nvSpPr>
          <p:cNvPr id="35" name="Text 28"/>
          <p:cNvSpPr txBox="1"/>
          <p:nvPr/>
        </p:nvSpPr>
        <p:spPr>
          <a:xfrm>
            <a:off x="1517904" y="5431536"/>
            <a:ext cx="9741103" cy="749808"/>
          </a:xfrm>
          <a:prstGeom prst="rect">
            <a:avLst/>
          </a:prstGeom>
          <a:noFill/>
          <a:ln/>
        </p:spPr>
        <p:txBody>
          <a:bodyPr wrap="square" lIns="0" tIns="0" rIns="0" bIns="0" rtlCol="0" anchor="ctr"/>
          <a:lstStyle/>
          <a:p>
            <a:pPr marL="0" indent="0">
              <a:lnSpc>
                <a:spcPts val="2000"/>
              </a:lnSpc>
              <a:buNone/>
            </a:pPr>
            <a:r>
              <a:rPr lang="en-US" sz="1400" b="1" dirty="0">
                <a:solidFill>
                  <a:srgbClr val="E8A33D"/>
                </a:solidFill>
                <a:latin typeface="Calibri" pitchFamily="34" charset="0"/>
                <a:ea typeface="Calibri" pitchFamily="34" charset="-122"/>
                <a:cs typeface="Calibri" pitchFamily="34" charset="-120"/>
              </a:rPr>
              <a:t>Self-tuning:  </a:t>
            </a:r>
            <a:r>
              <a:rPr lang="en-US" sz="1400" dirty="0">
                <a:solidFill>
                  <a:srgbClr val="FFFFFF"/>
                </a:solidFill>
                <a:latin typeface="Calibri" pitchFamily="34" charset="0"/>
                <a:ea typeface="Calibri" pitchFamily="34" charset="-122"/>
                <a:cs typeface="Calibri" pitchFamily="34" charset="-120"/>
              </a:rPr>
              <a:t>user feedback builds a test set every night, and retrieval settings change only when Hit@k or MRR clearly improves.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