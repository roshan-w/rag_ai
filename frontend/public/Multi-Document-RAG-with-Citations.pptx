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11" d="100"/>
          <a:sy n="111" d="100"/>
        </p:scale>
        <p:origin x="55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872042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dirty="0"/>
          </a:p>
        </p:txBody>
      </p:sp>
      <p:sp>
        <p:nvSpPr>
          <p:cNvPr id="3" name="Notes Placeholder 2"/>
          <p:cNvSpPr>
            <a:spLocks noGrp="1"/>
          </p:cNvSpPr>
          <p:nvPr>
            <p:ph type="body" idx="1"/>
          </p:nvPr>
        </p:nvSpPr>
        <p:spPr/>
        <p:txBody>
          <a:bodyPr/>
          <a:lstStyle/>
          <a:p>
            <a:r>
              <a:rPr lang="en-US" dirty="0"/>
              <a:t>Introduce the team and the problem number. One line to set up the deck: large language models answer fluently but cannot show you where an answer came from. Our system makes every sentence traceable to a document and a page, as shown in the example on the right.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dirty="0"/>
          </a:p>
        </p:txBody>
      </p:sp>
      <p:sp>
        <p:nvSpPr>
          <p:cNvPr id="3" name="Notes Placeholder 2"/>
          <p:cNvSpPr>
            <a:spLocks noGrp="1"/>
          </p:cNvSpPr>
          <p:nvPr>
            <p:ph type="body" idx="1"/>
          </p:nvPr>
        </p:nvSpPr>
        <p:spPr/>
        <p:txBody>
          <a:bodyPr/>
          <a:lstStyle/>
          <a:p>
            <a:r>
              <a:rPr lang="en-US" dirty="0"/>
              <a:t>Give a concrete example the audience knows — placement eligibility rules sit in one document, the deadline in another, the fee structure in a third. The fourth challenge is the important one: a plain chatbot gives you an answer with no way to check it, which is unusable for anything official.</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dirty="0"/>
          </a:p>
        </p:txBody>
      </p:sp>
      <p:sp>
        <p:nvSpPr>
          <p:cNvPr id="3" name="Notes Placeholder 2"/>
          <p:cNvSpPr>
            <a:spLocks noGrp="1"/>
          </p:cNvSpPr>
          <p:nvPr>
            <p:ph type="body" idx="1"/>
          </p:nvPr>
        </p:nvSpPr>
        <p:spPr/>
        <p:txBody>
          <a:bodyPr/>
          <a:lstStyle/>
          <a:p>
            <a:r>
              <a:rPr lang="en-US" dirty="0"/>
              <a:t>The five points are the contract the system keeps. Emphasise the last one — citations are what separate this from a chatbot. The refusal card is worth a sentence: a system that cannot say 'I don't know' will always hallucinate when pushed.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dirty="0"/>
          </a:p>
        </p:txBody>
      </p:sp>
      <p:sp>
        <p:nvSpPr>
          <p:cNvPr id="3" name="Notes Placeholder 2"/>
          <p:cNvSpPr>
            <a:spLocks noGrp="1"/>
          </p:cNvSpPr>
          <p:nvPr>
            <p:ph type="body" idx="1"/>
          </p:nvPr>
        </p:nvSpPr>
        <p:spPr/>
        <p:txBody>
          <a:bodyPr/>
          <a:lstStyle/>
          <a:p>
            <a:r>
              <a:rPr lang="en-US" dirty="0"/>
              <a:t>The single most important slide for the concept. The top row is what a normal chatbot does — the answer comes out of the model's weights and there is nothing to verify. The bottom row inserts a retrieval step, so the model is reading, not remembering.</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dirty="0"/>
          </a:p>
        </p:txBody>
      </p:sp>
      <p:sp>
        <p:nvSpPr>
          <p:cNvPr id="3" name="Notes Placeholder 2"/>
          <p:cNvSpPr>
            <a:spLocks noGrp="1"/>
          </p:cNvSpPr>
          <p:nvPr>
            <p:ph type="body" idx="1"/>
          </p:nvPr>
        </p:nvSpPr>
        <p:spPr/>
        <p:txBody>
          <a:bodyPr/>
          <a:lstStyle/>
          <a:p>
            <a:r>
              <a:rPr lang="en-US" dirty="0"/>
              <a:t>Walk the top row left to right, then the bottom row. The amber connector is the point of the slide: the first pipeline runs once when documents are added, the second runs on every question, and the vector database is the bridge between them.</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dirty="0"/>
          </a:p>
        </p:txBody>
      </p:sp>
      <p:sp>
        <p:nvSpPr>
          <p:cNvPr id="3" name="Notes Placeholder 2"/>
          <p:cNvSpPr>
            <a:spLocks noGrp="1"/>
          </p:cNvSpPr>
          <p:nvPr>
            <p:ph type="body" idx="1"/>
          </p:nvPr>
        </p:nvSpPr>
        <p:spPr/>
        <p:txBody>
          <a:bodyPr/>
          <a:lstStyle/>
          <a:p>
            <a:r>
              <a:rPr lang="en-US" dirty="0"/>
              <a:t>Step 4 is the one examiners ask about: the citation is only possible because the page number and document name are stored alongside the vector. If you store just the text, you can retrieve it but you can never say where it came from.</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dirty="0"/>
          </a:p>
        </p:txBody>
      </p:sp>
      <p:sp>
        <p:nvSpPr>
          <p:cNvPr id="3" name="Notes Placeholder 2"/>
          <p:cNvSpPr>
            <a:spLocks noGrp="1"/>
          </p:cNvSpPr>
          <p:nvPr>
            <p:ph type="body" idx="1"/>
          </p:nvPr>
        </p:nvSpPr>
        <p:spPr/>
        <p:txBody>
          <a:bodyPr/>
          <a:lstStyle/>
          <a:p>
            <a:r>
              <a:rPr lang="en-US" dirty="0"/>
              <a:t>Use the example on the right to make step 3 concrete: the three passages come from three different files, which is exactly the case a single-document search tool cannot handle. Mention that the system deliberately caps how many passages come from any one document, so one long file cannot crowd out the others.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dirty="0"/>
          </a:p>
        </p:txBody>
      </p:sp>
      <p:sp>
        <p:nvSpPr>
          <p:cNvPr id="3" name="Notes Placeholder 2"/>
          <p:cNvSpPr>
            <a:spLocks noGrp="1"/>
          </p:cNvSpPr>
          <p:nvPr>
            <p:ph type="body" idx="1"/>
          </p:nvPr>
        </p:nvSpPr>
        <p:spPr/>
        <p:txBody>
          <a:bodyPr/>
          <a:lstStyle/>
          <a:p>
            <a:r>
              <a:rPr lang="en-US" dirty="0"/>
              <a:t>Keep this slide short — it is the promise of the project in one picture. Three documents and a question go in; an answer, its sources and the ability to check them come out. The example is illustrative; the working demo uses a real document set.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dirty="0"/>
          </a:p>
        </p:txBody>
      </p:sp>
      <p:sp>
        <p:nvSpPr>
          <p:cNvPr id="3" name="Notes Placeholder 2"/>
          <p:cNvSpPr>
            <a:spLocks noGrp="1"/>
          </p:cNvSpPr>
          <p:nvPr>
            <p:ph type="body" idx="1"/>
          </p:nvPr>
        </p:nvSpPr>
        <p:spPr/>
        <p:txBody>
          <a:bodyPr/>
          <a:lstStyle/>
          <a:p>
            <a:r>
              <a:rPr lang="en-US" dirty="0"/>
              <a:t>Two choices worth defending. First, running locally through Ollama means no API cost and no data leaving the machine, which matters for policy or student records. Second, retrieval is hybrid — pure vector search misses exact strings like scheme codes and section numbers, which is precisely what people search for.</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dirty="0"/>
          </a:p>
        </p:txBody>
      </p:sp>
      <p:sp>
        <p:nvSpPr>
          <p:cNvPr id="3" name="Notes Placeholder 2"/>
          <p:cNvSpPr>
            <a:spLocks noGrp="1"/>
          </p:cNvSpPr>
          <p:nvPr>
            <p:ph type="body" idx="1"/>
          </p:nvPr>
        </p:nvSpPr>
        <p:spPr/>
        <p:txBody>
          <a:bodyPr/>
          <a:lstStyle/>
          <a:p>
            <a:r>
              <a:rPr lang="en-US" dirty="0"/>
              <a:t>Close on verification. The measurable claim is that every sentence can be traced to a document and a page, and that the system refuses rather than guesses when the documents do not cover the question. Invite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dirty="0"/>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 Id="rId9" Type="http://schemas.openxmlformats.org/officeDocument/2006/relationships/image" Target="../media/image7.png"/></Relationships>
</file>

<file path=ppt/slides/_rels/slide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8" Type="http://schemas.openxmlformats.org/officeDocument/2006/relationships/image" Target="../media/image14.png"/><Relationship Id="rId13" Type="http://schemas.openxmlformats.org/officeDocument/2006/relationships/image" Target="../media/image19.png"/><Relationship Id="rId3" Type="http://schemas.openxmlformats.org/officeDocument/2006/relationships/image" Target="../media/image1.png"/><Relationship Id="rId7" Type="http://schemas.openxmlformats.org/officeDocument/2006/relationships/image" Target="../media/image13.png"/><Relationship Id="rId12" Type="http://schemas.openxmlformats.org/officeDocument/2006/relationships/image" Target="../media/image18.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2.png"/><Relationship Id="rId11" Type="http://schemas.openxmlformats.org/officeDocument/2006/relationships/image" Target="../media/image17.png"/><Relationship Id="rId5" Type="http://schemas.openxmlformats.org/officeDocument/2006/relationships/image" Target="../media/image11.png"/><Relationship Id="rId10" Type="http://schemas.openxmlformats.org/officeDocument/2006/relationships/image" Target="../media/image16.png"/><Relationship Id="rId4" Type="http://schemas.openxmlformats.org/officeDocument/2006/relationships/image" Target="../media/image10.png"/><Relationship Id="rId9" Type="http://schemas.openxmlformats.org/officeDocument/2006/relationships/image" Target="../media/image15.png"/></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7" Type="http://schemas.openxmlformats.org/officeDocument/2006/relationships/image" Target="../media/image20.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21.png"/></Relationships>
</file>

<file path=ppt/slides/_rels/slide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23.png"/></Relationships>
</file>

<file path=ppt/slides/_rels/slide10.xml.rels><?xml version="1.0" encoding="UTF-8" standalone="yes"?>
<Relationships xmlns="http://schemas.openxmlformats.org/package/2006/relationships"><Relationship Id="rId3" Type="http://schemas.openxmlformats.org/officeDocument/2006/relationships/image" Target="../media/image24.png"/><Relationship Id="rId7" Type="http://schemas.openxmlformats.org/officeDocument/2006/relationships/image" Target="../media/image27.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0.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2F30"/>
        </a:solidFill>
        <a:effectLst/>
      </p:bgPr>
    </p:bg>
    <p:spTree>
      <p:nvGrpSpPr>
        <p:cNvPr id="1" name=""/>
        <p:cNvGrpSpPr/>
        <p:nvPr/>
      </p:nvGrpSpPr>
      <p:grpSpPr>
        <a:xfrm>
          <a:off x="0" y="0"/>
          <a:ext cx="0" cy="0"/>
          <a:chOff x="0" y="0"/>
          <a:chExt cx="0" cy="0"/>
        </a:xfrm>
      </p:grpSpPr>
      <p:sp>
        <p:nvSpPr>
          <p:cNvPr id="2" name="Text 0"/>
          <p:cNvSpPr txBox="1"/>
          <p:nvPr/>
        </p:nvSpPr>
        <p:spPr>
          <a:xfrm>
            <a:off x="566928" y="566928"/>
            <a:ext cx="6766560" cy="274320"/>
          </a:xfrm>
          <a:prstGeom prst="rect">
            <a:avLst/>
          </a:prstGeom>
          <a:noFill/>
          <a:ln/>
        </p:spPr>
        <p:txBody>
          <a:bodyPr wrap="square" lIns="0" tIns="0" rIns="0" bIns="0" rtlCol="0" anchor="ctr"/>
          <a:lstStyle/>
          <a:p>
            <a:pPr marL="0" indent="0">
              <a:buNone/>
            </a:pPr>
            <a:r>
              <a:rPr lang="en-US" sz="1150" b="1" kern="0" spc="180" dirty="0">
                <a:solidFill>
                  <a:srgbClr val="E8A33D"/>
                </a:solidFill>
                <a:latin typeface="Calibri" pitchFamily="34" charset="0"/>
                <a:ea typeface="Calibri" pitchFamily="34" charset="-122"/>
                <a:cs typeface="Calibri" pitchFamily="34" charset="-120"/>
              </a:rPr>
              <a:t>PROBLEM STATEMENT NO. 183   ·   CATEGORY: MODEL MAKING</a:t>
            </a:r>
            <a:endParaRPr lang="en-US" sz="1150" dirty="0"/>
          </a:p>
        </p:txBody>
      </p:sp>
      <p:sp>
        <p:nvSpPr>
          <p:cNvPr id="3" name="Text 1"/>
          <p:cNvSpPr txBox="1"/>
          <p:nvPr/>
        </p:nvSpPr>
        <p:spPr>
          <a:xfrm>
            <a:off x="566928" y="1691640"/>
            <a:ext cx="6675120" cy="1737360"/>
          </a:xfrm>
          <a:prstGeom prst="rect">
            <a:avLst/>
          </a:prstGeom>
          <a:noFill/>
          <a:ln/>
        </p:spPr>
        <p:txBody>
          <a:bodyPr wrap="square" lIns="0" tIns="0" rIns="0" bIns="0" rtlCol="0" anchor="t"/>
          <a:lstStyle/>
          <a:p>
            <a:pPr marL="0" indent="0">
              <a:lnSpc>
                <a:spcPts val="5000"/>
              </a:lnSpc>
              <a:buNone/>
            </a:pPr>
            <a:r>
              <a:rPr lang="en-US" sz="4300" b="1" dirty="0">
                <a:solidFill>
                  <a:srgbClr val="FFFFFF"/>
                </a:solidFill>
                <a:latin typeface="Cambria" pitchFamily="34" charset="0"/>
                <a:ea typeface="Cambria" pitchFamily="34" charset="-122"/>
                <a:cs typeface="Cambria" pitchFamily="34" charset="-120"/>
              </a:rPr>
              <a:t>Multi-Document RAG</a:t>
            </a:r>
            <a:endParaRPr lang="en-US" sz="4300" dirty="0"/>
          </a:p>
          <a:p>
            <a:pPr marL="0" indent="0">
              <a:lnSpc>
                <a:spcPts val="5000"/>
              </a:lnSpc>
              <a:buNone/>
            </a:pPr>
            <a:r>
              <a:rPr lang="en-US" sz="4300" b="1" dirty="0">
                <a:solidFill>
                  <a:srgbClr val="FFFFFF"/>
                </a:solidFill>
                <a:latin typeface="Cambria" pitchFamily="34" charset="0"/>
                <a:ea typeface="Cambria" pitchFamily="34" charset="-122"/>
                <a:cs typeface="Cambria" pitchFamily="34" charset="-120"/>
              </a:rPr>
              <a:t>with Citations</a:t>
            </a:r>
            <a:endParaRPr lang="en-US" sz="4300" dirty="0"/>
          </a:p>
        </p:txBody>
      </p:sp>
      <p:sp>
        <p:nvSpPr>
          <p:cNvPr id="4" name="Text 2"/>
          <p:cNvSpPr txBox="1"/>
          <p:nvPr/>
        </p:nvSpPr>
        <p:spPr>
          <a:xfrm>
            <a:off x="566928" y="3566160"/>
            <a:ext cx="6309360" cy="822960"/>
          </a:xfrm>
          <a:prstGeom prst="rect">
            <a:avLst/>
          </a:prstGeom>
          <a:noFill/>
          <a:ln/>
        </p:spPr>
        <p:txBody>
          <a:bodyPr wrap="square" lIns="0" tIns="0" rIns="0" bIns="0" rtlCol="0" anchor="t"/>
          <a:lstStyle/>
          <a:p>
            <a:pPr marL="0" indent="0">
              <a:lnSpc>
                <a:spcPts val="2400"/>
              </a:lnSpc>
              <a:buNone/>
            </a:pPr>
            <a:r>
              <a:rPr lang="en-US" sz="1650" dirty="0">
                <a:solidFill>
                  <a:srgbClr val="5AA39C"/>
                </a:solidFill>
                <a:latin typeface="Calibri" pitchFamily="34" charset="0"/>
                <a:ea typeface="Calibri" pitchFamily="34" charset="-122"/>
                <a:cs typeface="Calibri" pitchFamily="34" charset="-120"/>
              </a:rPr>
              <a:t>An AI-powered system for reliable, source-verified question answering across multiple documents</a:t>
            </a:r>
            <a:endParaRPr lang="en-US" sz="1650" dirty="0"/>
          </a:p>
        </p:txBody>
      </p:sp>
      <p:sp>
        <p:nvSpPr>
          <p:cNvPr id="5" name="Text 3"/>
          <p:cNvSpPr txBox="1"/>
          <p:nvPr/>
        </p:nvSpPr>
        <p:spPr>
          <a:xfrm>
            <a:off x="566928" y="5029200"/>
            <a:ext cx="4572000" cy="237744"/>
          </a:xfrm>
          <a:prstGeom prst="rect">
            <a:avLst/>
          </a:prstGeom>
          <a:noFill/>
          <a:ln/>
        </p:spPr>
        <p:txBody>
          <a:bodyPr wrap="square" lIns="0" tIns="0" rIns="0" bIns="0" rtlCol="0" anchor="ctr"/>
          <a:lstStyle/>
          <a:p>
            <a:pPr marL="0" indent="0">
              <a:buNone/>
            </a:pPr>
            <a:r>
              <a:rPr lang="en-US" sz="1050" b="1" kern="0" spc="160" dirty="0">
                <a:solidFill>
                  <a:srgbClr val="5AA39C"/>
                </a:solidFill>
                <a:latin typeface="Calibri" pitchFamily="34" charset="0"/>
                <a:ea typeface="Calibri" pitchFamily="34" charset="-122"/>
                <a:cs typeface="Calibri" pitchFamily="34" charset="-120"/>
              </a:rPr>
              <a:t>PRESENTED BY</a:t>
            </a:r>
            <a:endParaRPr lang="en-US" sz="1050" dirty="0"/>
          </a:p>
        </p:txBody>
      </p:sp>
      <p:sp>
        <p:nvSpPr>
          <p:cNvPr id="6" name="Text 4"/>
          <p:cNvSpPr txBox="1"/>
          <p:nvPr/>
        </p:nvSpPr>
        <p:spPr>
          <a:xfrm>
            <a:off x="566928" y="5733288"/>
            <a:ext cx="5943600" cy="384048"/>
          </a:xfrm>
          <a:prstGeom prst="rect">
            <a:avLst/>
          </a:prstGeom>
          <a:noFill/>
          <a:ln/>
        </p:spPr>
        <p:txBody>
          <a:bodyPr wrap="square" lIns="0" tIns="0" rIns="0" bIns="0" rtlCol="0" anchor="ctr"/>
          <a:lstStyle/>
          <a:p>
            <a:r>
              <a:rPr lang="en-US" sz="1800" b="1" dirty="0">
                <a:solidFill>
                  <a:srgbClr val="FFFFFF"/>
                </a:solidFill>
                <a:latin typeface="Calibri" pitchFamily="34" charset="0"/>
                <a:ea typeface="Calibri" pitchFamily="34" charset="-122"/>
                <a:cs typeface="Calibri" pitchFamily="34" charset="-120"/>
              </a:rPr>
              <a:t>Honey Soni (24, </a:t>
            </a:r>
            <a:r>
              <a:rPr lang="en-US" b="1" dirty="0">
                <a:solidFill>
                  <a:srgbClr val="FFFFFF"/>
                </a:solidFill>
                <a:latin typeface="Calibri" pitchFamily="34" charset="0"/>
                <a:ea typeface="Calibri" pitchFamily="34" charset="-122"/>
                <a:cs typeface="Calibri" pitchFamily="34" charset="-120"/>
              </a:rPr>
              <a:t>ADT23SOCB0444)</a:t>
            </a:r>
            <a:br>
              <a:rPr lang="en-US" sz="1800" b="1" dirty="0">
                <a:solidFill>
                  <a:srgbClr val="FFFFFF"/>
                </a:solidFill>
                <a:latin typeface="Calibri" pitchFamily="34" charset="0"/>
                <a:ea typeface="Calibri" pitchFamily="34" charset="-122"/>
                <a:cs typeface="Calibri" pitchFamily="34" charset="-120"/>
              </a:rPr>
            </a:br>
            <a:r>
              <a:rPr lang="en-US" sz="1800" b="1" dirty="0">
                <a:solidFill>
                  <a:srgbClr val="FFFFFF"/>
                </a:solidFill>
                <a:latin typeface="Calibri" pitchFamily="34" charset="0"/>
                <a:ea typeface="Calibri" pitchFamily="34" charset="-122"/>
                <a:cs typeface="Calibri" pitchFamily="34" charset="-120"/>
              </a:rPr>
              <a:t>Roshan Warade (35, </a:t>
            </a:r>
            <a:r>
              <a:rPr lang="en-US" b="1" dirty="0">
                <a:solidFill>
                  <a:srgbClr val="FFFFFF"/>
                </a:solidFill>
                <a:latin typeface="Calibri" pitchFamily="34" charset="0"/>
                <a:ea typeface="Calibri" pitchFamily="34" charset="-122"/>
                <a:cs typeface="Calibri" pitchFamily="34" charset="-120"/>
              </a:rPr>
              <a:t>ADT23SOCB0883)</a:t>
            </a:r>
            <a:br>
              <a:rPr lang="en-US" sz="1800" b="1" dirty="0">
                <a:solidFill>
                  <a:srgbClr val="FFFFFF"/>
                </a:solidFill>
                <a:latin typeface="Calibri" pitchFamily="34" charset="0"/>
                <a:ea typeface="Calibri" pitchFamily="34" charset="-122"/>
                <a:cs typeface="Calibri" pitchFamily="34" charset="-120"/>
              </a:rPr>
            </a:br>
            <a:r>
              <a:rPr lang="en-US" sz="1800" b="1" dirty="0">
                <a:solidFill>
                  <a:srgbClr val="FFFFFF"/>
                </a:solidFill>
                <a:latin typeface="Calibri" pitchFamily="34" charset="0"/>
                <a:ea typeface="Calibri" pitchFamily="34" charset="-122"/>
                <a:cs typeface="Calibri" pitchFamily="34" charset="-120"/>
              </a:rPr>
              <a:t>Virendra Mahajan (41, </a:t>
            </a:r>
            <a:r>
              <a:rPr lang="en-US" b="1" dirty="0">
                <a:solidFill>
                  <a:srgbClr val="FFFFFF"/>
                </a:solidFill>
                <a:latin typeface="Calibri" pitchFamily="34" charset="0"/>
                <a:ea typeface="Calibri" pitchFamily="34" charset="-122"/>
                <a:cs typeface="Calibri" pitchFamily="34" charset="-120"/>
              </a:rPr>
              <a:t>ADT23SOCB1322)</a:t>
            </a:r>
            <a:br>
              <a:rPr lang="en-US" sz="1800" b="1" dirty="0">
                <a:solidFill>
                  <a:srgbClr val="FFFFFF"/>
                </a:solidFill>
                <a:latin typeface="Calibri" pitchFamily="34" charset="0"/>
                <a:ea typeface="Calibri" pitchFamily="34" charset="-122"/>
                <a:cs typeface="Calibri" pitchFamily="34" charset="-120"/>
              </a:rPr>
            </a:br>
            <a:r>
              <a:rPr lang="en-US" sz="1800" b="1" dirty="0">
                <a:solidFill>
                  <a:srgbClr val="FFFFFF"/>
                </a:solidFill>
                <a:latin typeface="Calibri" pitchFamily="34" charset="0"/>
                <a:ea typeface="Calibri" pitchFamily="34" charset="-122"/>
                <a:cs typeface="Calibri" pitchFamily="34" charset="-120"/>
              </a:rPr>
              <a:t>Poornima Rayavarapu (31, </a:t>
            </a:r>
            <a:r>
              <a:rPr lang="en-US" b="1" dirty="0">
                <a:solidFill>
                  <a:srgbClr val="FFFFFF"/>
                </a:solidFill>
                <a:latin typeface="Calibri" pitchFamily="34" charset="0"/>
                <a:ea typeface="Calibri" pitchFamily="34" charset="-122"/>
                <a:cs typeface="Calibri" pitchFamily="34" charset="-120"/>
              </a:rPr>
              <a:t>ADT23SOCB0727)</a:t>
            </a:r>
            <a:br>
              <a:rPr lang="en-US" sz="1800" b="1" dirty="0">
                <a:solidFill>
                  <a:srgbClr val="FFFFFF"/>
                </a:solidFill>
                <a:latin typeface="Calibri" pitchFamily="34" charset="0"/>
                <a:ea typeface="Calibri" pitchFamily="34" charset="-122"/>
                <a:cs typeface="Calibri" pitchFamily="34" charset="-120"/>
              </a:rPr>
            </a:br>
            <a:r>
              <a:rPr lang="en-US" sz="1800" b="1" dirty="0">
                <a:solidFill>
                  <a:srgbClr val="FFFFFF"/>
                </a:solidFill>
                <a:latin typeface="Calibri" pitchFamily="34" charset="0"/>
                <a:ea typeface="Calibri" pitchFamily="34" charset="-122"/>
                <a:cs typeface="Calibri" pitchFamily="34" charset="-120"/>
              </a:rPr>
              <a:t>Sujal Jadhavar </a:t>
            </a:r>
            <a:r>
              <a:rPr lang="en-US" b="1" dirty="0">
                <a:solidFill>
                  <a:srgbClr val="FFFFFF"/>
                </a:solidFill>
                <a:latin typeface="Calibri" pitchFamily="34" charset="0"/>
                <a:ea typeface="Calibri" pitchFamily="34" charset="-122"/>
                <a:cs typeface="Calibri" pitchFamily="34" charset="-120"/>
              </a:rPr>
              <a:t>(37 , ADT23SOCB1167)</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219456"/>
            <a:ext cx="11057839" cy="237744"/>
          </a:xfrm>
          <a:prstGeom prst="rect">
            <a:avLst/>
          </a:prstGeom>
          <a:noFill/>
          <a:ln/>
        </p:spPr>
        <p:txBody>
          <a:bodyPr wrap="square" lIns="0" tIns="0" rIns="0" bIns="0" rtlCol="0" anchor="ctr"/>
          <a:lstStyle/>
          <a:p>
            <a:pPr marL="0" indent="0">
              <a:buNone/>
            </a:pPr>
            <a:r>
              <a:rPr lang="en-US" sz="1150" b="1" kern="0" spc="160" dirty="0">
                <a:solidFill>
                  <a:srgbClr val="1C7C7C"/>
                </a:solidFill>
                <a:latin typeface="Calibri" pitchFamily="34" charset="0"/>
                <a:ea typeface="Calibri" pitchFamily="34" charset="-122"/>
                <a:cs typeface="Calibri" pitchFamily="34" charset="-120"/>
              </a:rPr>
              <a:t>THE PROBLEM</a:t>
            </a:r>
            <a:endParaRPr lang="en-US" sz="1150" dirty="0"/>
          </a:p>
        </p:txBody>
      </p:sp>
      <p:sp>
        <p:nvSpPr>
          <p:cNvPr id="3" name="Text 1"/>
          <p:cNvSpPr txBox="1"/>
          <p:nvPr/>
        </p:nvSpPr>
        <p:spPr>
          <a:xfrm>
            <a:off x="566928" y="384048"/>
            <a:ext cx="11057839" cy="658368"/>
          </a:xfrm>
          <a:prstGeom prst="rect">
            <a:avLst/>
          </a:prstGeom>
          <a:noFill/>
          <a:ln/>
        </p:spPr>
        <p:txBody>
          <a:bodyPr wrap="square" lIns="0" tIns="0" rIns="0" bIns="0" rtlCol="0" anchor="ctr"/>
          <a:lstStyle/>
          <a:p>
            <a:pPr marL="0" indent="0">
              <a:buNone/>
            </a:pPr>
            <a:r>
              <a:rPr lang="en-US" sz="3400" b="1" dirty="0">
                <a:solidFill>
                  <a:srgbClr val="172B2B"/>
                </a:solidFill>
                <a:latin typeface="Cambria" pitchFamily="34" charset="0"/>
                <a:ea typeface="Cambria" pitchFamily="34" charset="-122"/>
                <a:cs typeface="Cambria" pitchFamily="34" charset="-120"/>
              </a:rPr>
              <a:t>Answers live in many documents at once</a:t>
            </a:r>
            <a:endParaRPr lang="en-US" sz="3400" dirty="0"/>
          </a:p>
        </p:txBody>
      </p:sp>
      <p:sp>
        <p:nvSpPr>
          <p:cNvPr id="4" name="Text 2"/>
          <p:cNvSpPr txBox="1"/>
          <p:nvPr/>
        </p:nvSpPr>
        <p:spPr>
          <a:xfrm>
            <a:off x="566928" y="1298448"/>
            <a:ext cx="6766560" cy="566928"/>
          </a:xfrm>
          <a:prstGeom prst="rect">
            <a:avLst/>
          </a:prstGeom>
          <a:noFill/>
          <a:ln/>
        </p:spPr>
        <p:txBody>
          <a:bodyPr wrap="square" lIns="0" tIns="0" rIns="0" bIns="0" rtlCol="0" anchor="t"/>
          <a:lstStyle/>
          <a:p>
            <a:pPr marL="0" indent="0">
              <a:lnSpc>
                <a:spcPts val="2000"/>
              </a:lnSpc>
              <a:buNone/>
            </a:pPr>
            <a:r>
              <a:rPr lang="en-US" sz="1450" dirty="0">
                <a:solidFill>
                  <a:srgbClr val="5F7271"/>
                </a:solidFill>
                <a:latin typeface="Calibri" pitchFamily="34" charset="0"/>
                <a:ea typeface="Calibri" pitchFamily="34" charset="-122"/>
                <a:cs typeface="Calibri" pitchFamily="34" charset="-120"/>
              </a:rPr>
              <a:t>Information that answers a single question is rarely in one file. It is spread across policies, reports, manuals and research papers.</a:t>
            </a:r>
            <a:endParaRPr lang="en-US" sz="1450" dirty="0"/>
          </a:p>
        </p:txBody>
      </p:sp>
      <p:sp>
        <p:nvSpPr>
          <p:cNvPr id="5" name="Shape 3"/>
          <p:cNvSpPr/>
          <p:nvPr/>
        </p:nvSpPr>
        <p:spPr>
          <a:xfrm>
            <a:off x="566928" y="2212848"/>
            <a:ext cx="6766560" cy="1024128"/>
          </a:xfrm>
          <a:prstGeom prst="roundRect">
            <a:avLst>
              <a:gd name="adj" fmla="val 8929"/>
            </a:avLst>
          </a:prstGeom>
          <a:solidFill>
            <a:srgbClr val="EFF4F3"/>
          </a:solidFill>
          <a:ln w="12700">
            <a:solidFill>
              <a:srgbClr val="EFF4F3"/>
            </a:solidFill>
            <a:prstDash val="solid"/>
          </a:ln>
        </p:spPr>
        <p:txBody>
          <a:bodyPr/>
          <a:lstStyle/>
          <a:p>
            <a:endParaRPr dirty="0"/>
          </a:p>
        </p:txBody>
      </p:sp>
      <p:sp>
        <p:nvSpPr>
          <p:cNvPr id="6" name="Shape 4"/>
          <p:cNvSpPr/>
          <p:nvPr/>
        </p:nvSpPr>
        <p:spPr>
          <a:xfrm>
            <a:off x="841248" y="2478024"/>
            <a:ext cx="493776" cy="493776"/>
          </a:xfrm>
          <a:prstGeom prst="ellipse">
            <a:avLst/>
          </a:prstGeom>
          <a:solidFill>
            <a:srgbClr val="FFFFFF"/>
          </a:solidFill>
          <a:ln w="12700">
            <a:solidFill>
              <a:srgbClr val="FFFFFF"/>
            </a:solidFill>
            <a:prstDash val="solid"/>
          </a:ln>
        </p:spPr>
        <p:txBody>
          <a:bodyPr/>
          <a:lstStyle/>
          <a:p>
            <a:endParaRPr dirty="0"/>
          </a:p>
        </p:txBody>
      </p:sp>
      <p:pic>
        <p:nvPicPr>
          <p:cNvPr id="7" name="Image 0" descr="preencoded.png"/>
          <p:cNvPicPr>
            <a:picLocks noChangeAspect="1"/>
          </p:cNvPicPr>
          <p:nvPr/>
        </p:nvPicPr>
        <p:blipFill>
          <a:blip r:embed="rId3"/>
          <a:stretch>
            <a:fillRect/>
          </a:stretch>
        </p:blipFill>
        <p:spPr>
          <a:xfrm>
            <a:off x="969630" y="2606406"/>
            <a:ext cx="237012" cy="237012"/>
          </a:xfrm>
          <a:prstGeom prst="rect">
            <a:avLst/>
          </a:prstGeom>
        </p:spPr>
      </p:pic>
      <p:sp>
        <p:nvSpPr>
          <p:cNvPr id="8" name="Text 5"/>
          <p:cNvSpPr txBox="1"/>
          <p:nvPr/>
        </p:nvSpPr>
        <p:spPr>
          <a:xfrm>
            <a:off x="1499616" y="2414016"/>
            <a:ext cx="5577840" cy="310896"/>
          </a:xfrm>
          <a:prstGeom prst="rect">
            <a:avLst/>
          </a:prstGeom>
          <a:noFill/>
          <a:ln/>
        </p:spPr>
        <p:txBody>
          <a:bodyPr wrap="square" lIns="0" tIns="0" rIns="0" bIns="0" rtlCol="0" anchor="ctr"/>
          <a:lstStyle/>
          <a:p>
            <a:pPr marL="0" indent="0">
              <a:buNone/>
            </a:pPr>
            <a:r>
              <a:rPr lang="en-US" sz="1450" b="1" dirty="0">
                <a:solidFill>
                  <a:srgbClr val="172B2B"/>
                </a:solidFill>
                <a:latin typeface="Calibri" pitchFamily="34" charset="0"/>
                <a:ea typeface="Calibri" pitchFamily="34" charset="-122"/>
                <a:cs typeface="Calibri" pitchFamily="34" charset="-120"/>
              </a:rPr>
              <a:t>Policies and guidelines</a:t>
            </a:r>
            <a:endParaRPr lang="en-US" sz="1450" dirty="0"/>
          </a:p>
        </p:txBody>
      </p:sp>
      <p:sp>
        <p:nvSpPr>
          <p:cNvPr id="9" name="Text 6"/>
          <p:cNvSpPr txBox="1"/>
          <p:nvPr/>
        </p:nvSpPr>
        <p:spPr>
          <a:xfrm>
            <a:off x="1499616" y="2743200"/>
            <a:ext cx="5577840" cy="292608"/>
          </a:xfrm>
          <a:prstGeom prst="rect">
            <a:avLst/>
          </a:prstGeom>
          <a:noFill/>
          <a:ln/>
        </p:spPr>
        <p:txBody>
          <a:bodyPr wrap="square" lIns="0" tIns="0" rIns="0" bIns="0" rtlCol="0" anchor="ctr"/>
          <a:lstStyle/>
          <a:p>
            <a:pPr marL="0" indent="0">
              <a:buNone/>
            </a:pPr>
            <a:r>
              <a:rPr lang="en-US" sz="1150" dirty="0">
                <a:solidFill>
                  <a:srgbClr val="5F7271"/>
                </a:solidFill>
                <a:latin typeface="Calibri" pitchFamily="34" charset="0"/>
                <a:ea typeface="Calibri" pitchFamily="34" charset="-122"/>
                <a:cs typeface="Calibri" pitchFamily="34" charset="-120"/>
              </a:rPr>
              <a:t>Rules, eligibility criteria, approval routes</a:t>
            </a:r>
            <a:endParaRPr lang="en-US" sz="1150" dirty="0"/>
          </a:p>
        </p:txBody>
      </p:sp>
      <p:sp>
        <p:nvSpPr>
          <p:cNvPr id="10" name="Shape 7"/>
          <p:cNvSpPr/>
          <p:nvPr/>
        </p:nvSpPr>
        <p:spPr>
          <a:xfrm>
            <a:off x="566928" y="3392424"/>
            <a:ext cx="6766560" cy="1024128"/>
          </a:xfrm>
          <a:prstGeom prst="roundRect">
            <a:avLst>
              <a:gd name="adj" fmla="val 8929"/>
            </a:avLst>
          </a:prstGeom>
          <a:solidFill>
            <a:srgbClr val="EFF4F3"/>
          </a:solidFill>
          <a:ln w="12700">
            <a:solidFill>
              <a:srgbClr val="EFF4F3"/>
            </a:solidFill>
            <a:prstDash val="solid"/>
          </a:ln>
        </p:spPr>
        <p:txBody>
          <a:bodyPr/>
          <a:lstStyle/>
          <a:p>
            <a:endParaRPr dirty="0"/>
          </a:p>
        </p:txBody>
      </p:sp>
      <p:sp>
        <p:nvSpPr>
          <p:cNvPr id="11" name="Shape 8"/>
          <p:cNvSpPr/>
          <p:nvPr/>
        </p:nvSpPr>
        <p:spPr>
          <a:xfrm>
            <a:off x="841248" y="3657600"/>
            <a:ext cx="493776" cy="493776"/>
          </a:xfrm>
          <a:prstGeom prst="ellipse">
            <a:avLst/>
          </a:prstGeom>
          <a:solidFill>
            <a:srgbClr val="FFFFFF"/>
          </a:solidFill>
          <a:ln w="12700">
            <a:solidFill>
              <a:srgbClr val="FFFFFF"/>
            </a:solidFill>
            <a:prstDash val="solid"/>
          </a:ln>
        </p:spPr>
        <p:txBody>
          <a:bodyPr/>
          <a:lstStyle/>
          <a:p>
            <a:endParaRPr dirty="0"/>
          </a:p>
        </p:txBody>
      </p:sp>
      <p:pic>
        <p:nvPicPr>
          <p:cNvPr id="12" name="Image 1" descr="preencoded.png"/>
          <p:cNvPicPr>
            <a:picLocks noChangeAspect="1"/>
          </p:cNvPicPr>
          <p:nvPr/>
        </p:nvPicPr>
        <p:blipFill>
          <a:blip r:embed="rId4"/>
          <a:stretch>
            <a:fillRect/>
          </a:stretch>
        </p:blipFill>
        <p:spPr>
          <a:xfrm>
            <a:off x="969630" y="3785982"/>
            <a:ext cx="237012" cy="237012"/>
          </a:xfrm>
          <a:prstGeom prst="rect">
            <a:avLst/>
          </a:prstGeom>
        </p:spPr>
      </p:pic>
      <p:sp>
        <p:nvSpPr>
          <p:cNvPr id="13" name="Text 9"/>
          <p:cNvSpPr txBox="1"/>
          <p:nvPr/>
        </p:nvSpPr>
        <p:spPr>
          <a:xfrm>
            <a:off x="1499616" y="3593592"/>
            <a:ext cx="5577840" cy="310896"/>
          </a:xfrm>
          <a:prstGeom prst="rect">
            <a:avLst/>
          </a:prstGeom>
          <a:noFill/>
          <a:ln/>
        </p:spPr>
        <p:txBody>
          <a:bodyPr wrap="square" lIns="0" tIns="0" rIns="0" bIns="0" rtlCol="0" anchor="ctr"/>
          <a:lstStyle/>
          <a:p>
            <a:pPr marL="0" indent="0">
              <a:buNone/>
            </a:pPr>
            <a:r>
              <a:rPr lang="en-US" sz="1450" b="1" dirty="0">
                <a:solidFill>
                  <a:srgbClr val="172B2B"/>
                </a:solidFill>
                <a:latin typeface="Calibri" pitchFamily="34" charset="0"/>
                <a:ea typeface="Calibri" pitchFamily="34" charset="-122"/>
                <a:cs typeface="Calibri" pitchFamily="34" charset="-120"/>
              </a:rPr>
              <a:t>Academic and research documents</a:t>
            </a:r>
            <a:endParaRPr lang="en-US" sz="1450" dirty="0"/>
          </a:p>
        </p:txBody>
      </p:sp>
      <p:sp>
        <p:nvSpPr>
          <p:cNvPr id="14" name="Text 10"/>
          <p:cNvSpPr txBox="1"/>
          <p:nvPr/>
        </p:nvSpPr>
        <p:spPr>
          <a:xfrm>
            <a:off x="1499616" y="3922776"/>
            <a:ext cx="5577840" cy="292608"/>
          </a:xfrm>
          <a:prstGeom prst="rect">
            <a:avLst/>
          </a:prstGeom>
          <a:noFill/>
          <a:ln/>
        </p:spPr>
        <p:txBody>
          <a:bodyPr wrap="square" lIns="0" tIns="0" rIns="0" bIns="0" rtlCol="0" anchor="ctr"/>
          <a:lstStyle/>
          <a:p>
            <a:pPr marL="0" indent="0">
              <a:buNone/>
            </a:pPr>
            <a:r>
              <a:rPr lang="en-US" sz="1150" dirty="0">
                <a:solidFill>
                  <a:srgbClr val="5F7271"/>
                </a:solidFill>
                <a:latin typeface="Calibri" pitchFamily="34" charset="0"/>
                <a:ea typeface="Calibri" pitchFamily="34" charset="-122"/>
                <a:cs typeface="Calibri" pitchFamily="34" charset="-120"/>
              </a:rPr>
              <a:t>Papers, syllabi, standards, technical notes</a:t>
            </a:r>
            <a:endParaRPr lang="en-US" sz="1150" dirty="0"/>
          </a:p>
        </p:txBody>
      </p:sp>
      <p:sp>
        <p:nvSpPr>
          <p:cNvPr id="15" name="Shape 11"/>
          <p:cNvSpPr/>
          <p:nvPr/>
        </p:nvSpPr>
        <p:spPr>
          <a:xfrm>
            <a:off x="566928" y="4572000"/>
            <a:ext cx="6766560" cy="1024128"/>
          </a:xfrm>
          <a:prstGeom prst="roundRect">
            <a:avLst>
              <a:gd name="adj" fmla="val 8929"/>
            </a:avLst>
          </a:prstGeom>
          <a:solidFill>
            <a:srgbClr val="EFF4F3"/>
          </a:solidFill>
          <a:ln w="12700">
            <a:solidFill>
              <a:srgbClr val="EFF4F3"/>
            </a:solidFill>
            <a:prstDash val="solid"/>
          </a:ln>
        </p:spPr>
        <p:txBody>
          <a:bodyPr/>
          <a:lstStyle/>
          <a:p>
            <a:endParaRPr dirty="0"/>
          </a:p>
        </p:txBody>
      </p:sp>
      <p:sp>
        <p:nvSpPr>
          <p:cNvPr id="16" name="Shape 12"/>
          <p:cNvSpPr/>
          <p:nvPr/>
        </p:nvSpPr>
        <p:spPr>
          <a:xfrm>
            <a:off x="841248" y="4837176"/>
            <a:ext cx="493776" cy="493776"/>
          </a:xfrm>
          <a:prstGeom prst="ellipse">
            <a:avLst/>
          </a:prstGeom>
          <a:solidFill>
            <a:srgbClr val="FFFFFF"/>
          </a:solidFill>
          <a:ln w="12700">
            <a:solidFill>
              <a:srgbClr val="FFFFFF"/>
            </a:solidFill>
            <a:prstDash val="solid"/>
          </a:ln>
        </p:spPr>
        <p:txBody>
          <a:bodyPr/>
          <a:lstStyle/>
          <a:p>
            <a:endParaRPr dirty="0"/>
          </a:p>
        </p:txBody>
      </p:sp>
      <p:pic>
        <p:nvPicPr>
          <p:cNvPr id="17" name="Image 2" descr="preencoded.png"/>
          <p:cNvPicPr>
            <a:picLocks noChangeAspect="1"/>
          </p:cNvPicPr>
          <p:nvPr/>
        </p:nvPicPr>
        <p:blipFill>
          <a:blip r:embed="rId5"/>
          <a:stretch>
            <a:fillRect/>
          </a:stretch>
        </p:blipFill>
        <p:spPr>
          <a:xfrm>
            <a:off x="969630" y="4965558"/>
            <a:ext cx="237012" cy="237012"/>
          </a:xfrm>
          <a:prstGeom prst="rect">
            <a:avLst/>
          </a:prstGeom>
        </p:spPr>
      </p:pic>
      <p:sp>
        <p:nvSpPr>
          <p:cNvPr id="18" name="Text 13"/>
          <p:cNvSpPr txBox="1"/>
          <p:nvPr/>
        </p:nvSpPr>
        <p:spPr>
          <a:xfrm>
            <a:off x="1499616" y="4773168"/>
            <a:ext cx="5577840" cy="310896"/>
          </a:xfrm>
          <a:prstGeom prst="rect">
            <a:avLst/>
          </a:prstGeom>
          <a:noFill/>
          <a:ln/>
        </p:spPr>
        <p:txBody>
          <a:bodyPr wrap="square" lIns="0" tIns="0" rIns="0" bIns="0" rtlCol="0" anchor="ctr"/>
          <a:lstStyle/>
          <a:p>
            <a:pPr marL="0" indent="0">
              <a:buNone/>
            </a:pPr>
            <a:r>
              <a:rPr lang="en-US" sz="1450" b="1" dirty="0">
                <a:solidFill>
                  <a:srgbClr val="172B2B"/>
                </a:solidFill>
                <a:latin typeface="Calibri" pitchFamily="34" charset="0"/>
                <a:ea typeface="Calibri" pitchFamily="34" charset="-122"/>
                <a:cs typeface="Calibri" pitchFamily="34" charset="-120"/>
              </a:rPr>
              <a:t>Reports and manuals</a:t>
            </a:r>
            <a:endParaRPr lang="en-US" sz="1450" dirty="0"/>
          </a:p>
        </p:txBody>
      </p:sp>
      <p:sp>
        <p:nvSpPr>
          <p:cNvPr id="19" name="Text 14"/>
          <p:cNvSpPr txBox="1"/>
          <p:nvPr/>
        </p:nvSpPr>
        <p:spPr>
          <a:xfrm>
            <a:off x="1499616" y="5102352"/>
            <a:ext cx="5577840" cy="292608"/>
          </a:xfrm>
          <a:prstGeom prst="rect">
            <a:avLst/>
          </a:prstGeom>
          <a:noFill/>
          <a:ln/>
        </p:spPr>
        <p:txBody>
          <a:bodyPr wrap="square" lIns="0" tIns="0" rIns="0" bIns="0" rtlCol="0" anchor="ctr"/>
          <a:lstStyle/>
          <a:p>
            <a:pPr marL="0" indent="0">
              <a:buNone/>
            </a:pPr>
            <a:r>
              <a:rPr lang="en-US" sz="1150" dirty="0">
                <a:solidFill>
                  <a:srgbClr val="5F7271"/>
                </a:solidFill>
                <a:latin typeface="Calibri" pitchFamily="34" charset="0"/>
                <a:ea typeface="Calibri" pitchFamily="34" charset="-122"/>
                <a:cs typeface="Calibri" pitchFamily="34" charset="-120"/>
              </a:rPr>
              <a:t>Annual figures, procedures, operating handbooks</a:t>
            </a:r>
            <a:endParaRPr lang="en-US" sz="1150" dirty="0"/>
          </a:p>
        </p:txBody>
      </p:sp>
      <p:sp>
        <p:nvSpPr>
          <p:cNvPr id="20" name="Shape 15"/>
          <p:cNvSpPr/>
          <p:nvPr/>
        </p:nvSpPr>
        <p:spPr>
          <a:xfrm>
            <a:off x="7635240" y="1298448"/>
            <a:ext cx="3989527" cy="4434840"/>
          </a:xfrm>
          <a:prstGeom prst="roundRect">
            <a:avLst>
              <a:gd name="adj" fmla="val 2750"/>
            </a:avLst>
          </a:prstGeom>
          <a:solidFill>
            <a:srgbClr val="0E2F30"/>
          </a:solidFill>
          <a:ln w="12700">
            <a:solidFill>
              <a:srgbClr val="0E2F30"/>
            </a:solidFill>
            <a:prstDash val="solid"/>
          </a:ln>
          <a:effectLst>
            <a:outerShdw blurRad="127000" dist="25400" dir="5400000" algn="bl" rotWithShape="0">
              <a:srgbClr val="0E2F30">
                <a:alpha val="20000"/>
              </a:srgbClr>
            </a:outerShdw>
          </a:effectLst>
        </p:spPr>
        <p:txBody>
          <a:bodyPr/>
          <a:lstStyle/>
          <a:p>
            <a:endParaRPr dirty="0"/>
          </a:p>
        </p:txBody>
      </p:sp>
      <p:sp>
        <p:nvSpPr>
          <p:cNvPr id="21" name="Text 16"/>
          <p:cNvSpPr txBox="1"/>
          <p:nvPr/>
        </p:nvSpPr>
        <p:spPr>
          <a:xfrm>
            <a:off x="7964424" y="1627632"/>
            <a:ext cx="3331159" cy="274320"/>
          </a:xfrm>
          <a:prstGeom prst="rect">
            <a:avLst/>
          </a:prstGeom>
          <a:noFill/>
          <a:ln/>
        </p:spPr>
        <p:txBody>
          <a:bodyPr wrap="square" lIns="0" tIns="0" rIns="0" bIns="0" rtlCol="0" anchor="ctr"/>
          <a:lstStyle/>
          <a:p>
            <a:pPr marL="0" indent="0">
              <a:buNone/>
            </a:pPr>
            <a:r>
              <a:rPr lang="en-US" sz="1050" b="1" kern="0" spc="160" dirty="0">
                <a:solidFill>
                  <a:srgbClr val="E8A33D"/>
                </a:solidFill>
                <a:latin typeface="Calibri" pitchFamily="34" charset="0"/>
                <a:ea typeface="Calibri" pitchFamily="34" charset="-122"/>
                <a:cs typeface="Calibri" pitchFamily="34" charset="-120"/>
              </a:rPr>
              <a:t>WHY THIS IS HARD</a:t>
            </a:r>
            <a:endParaRPr lang="en-US" sz="1050" dirty="0"/>
          </a:p>
        </p:txBody>
      </p:sp>
      <p:sp>
        <p:nvSpPr>
          <p:cNvPr id="22" name="Shape 17"/>
          <p:cNvSpPr/>
          <p:nvPr/>
        </p:nvSpPr>
        <p:spPr>
          <a:xfrm>
            <a:off x="7964424" y="2203704"/>
            <a:ext cx="420624" cy="420624"/>
          </a:xfrm>
          <a:prstGeom prst="ellipse">
            <a:avLst/>
          </a:prstGeom>
          <a:solidFill>
            <a:srgbClr val="16403F"/>
          </a:solidFill>
          <a:ln w="12700">
            <a:solidFill>
              <a:srgbClr val="16403F"/>
            </a:solidFill>
            <a:prstDash val="solid"/>
          </a:ln>
        </p:spPr>
        <p:txBody>
          <a:bodyPr/>
          <a:lstStyle/>
          <a:p>
            <a:endParaRPr dirty="0"/>
          </a:p>
        </p:txBody>
      </p:sp>
      <p:pic>
        <p:nvPicPr>
          <p:cNvPr id="23" name="Image 3" descr="preencoded.png"/>
          <p:cNvPicPr>
            <a:picLocks noChangeAspect="1"/>
          </p:cNvPicPr>
          <p:nvPr/>
        </p:nvPicPr>
        <p:blipFill>
          <a:blip r:embed="rId6"/>
          <a:stretch>
            <a:fillRect/>
          </a:stretch>
        </p:blipFill>
        <p:spPr>
          <a:xfrm>
            <a:off x="8073786" y="2313066"/>
            <a:ext cx="201900" cy="201900"/>
          </a:xfrm>
          <a:prstGeom prst="rect">
            <a:avLst/>
          </a:prstGeom>
        </p:spPr>
      </p:pic>
      <p:sp>
        <p:nvSpPr>
          <p:cNvPr id="24" name="Text 18"/>
          <p:cNvSpPr txBox="1"/>
          <p:nvPr/>
        </p:nvSpPr>
        <p:spPr>
          <a:xfrm>
            <a:off x="8513064" y="2157984"/>
            <a:ext cx="2782519" cy="27432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Manual search is slow</a:t>
            </a:r>
            <a:endParaRPr lang="en-US" sz="1300" dirty="0"/>
          </a:p>
        </p:txBody>
      </p:sp>
      <p:sp>
        <p:nvSpPr>
          <p:cNvPr id="25" name="Text 19"/>
          <p:cNvSpPr txBox="1"/>
          <p:nvPr/>
        </p:nvSpPr>
        <p:spPr>
          <a:xfrm>
            <a:off x="8513064" y="2441448"/>
            <a:ext cx="2782519" cy="402336"/>
          </a:xfrm>
          <a:prstGeom prst="rect">
            <a:avLst/>
          </a:prstGeom>
          <a:noFill/>
          <a:ln/>
        </p:spPr>
        <p:txBody>
          <a:bodyPr wrap="square" lIns="0" tIns="0" rIns="0" bIns="0" rtlCol="0" anchor="t"/>
          <a:lstStyle/>
          <a:p>
            <a:pPr marL="0" indent="0">
              <a:lnSpc>
                <a:spcPts val="1400"/>
              </a:lnSpc>
              <a:buNone/>
            </a:pPr>
            <a:r>
              <a:rPr lang="en-US" sz="1050" dirty="0">
                <a:solidFill>
                  <a:srgbClr val="9BCFC7"/>
                </a:solidFill>
                <a:latin typeface="Calibri" pitchFamily="34" charset="0"/>
                <a:ea typeface="Calibri" pitchFamily="34" charset="-122"/>
                <a:cs typeface="Calibri" pitchFamily="34" charset="-120"/>
              </a:rPr>
              <a:t>Reading four documents to find one line</a:t>
            </a:r>
            <a:endParaRPr lang="en-US" sz="1050" dirty="0"/>
          </a:p>
        </p:txBody>
      </p:sp>
      <p:sp>
        <p:nvSpPr>
          <p:cNvPr id="26" name="Shape 20"/>
          <p:cNvSpPr/>
          <p:nvPr/>
        </p:nvSpPr>
        <p:spPr>
          <a:xfrm>
            <a:off x="7964424" y="3099816"/>
            <a:ext cx="420624" cy="420624"/>
          </a:xfrm>
          <a:prstGeom prst="ellipse">
            <a:avLst/>
          </a:prstGeom>
          <a:solidFill>
            <a:srgbClr val="16403F"/>
          </a:solidFill>
          <a:ln w="12700">
            <a:solidFill>
              <a:srgbClr val="16403F"/>
            </a:solidFill>
            <a:prstDash val="solid"/>
          </a:ln>
        </p:spPr>
        <p:txBody>
          <a:bodyPr/>
          <a:lstStyle/>
          <a:p>
            <a:endParaRPr dirty="0"/>
          </a:p>
        </p:txBody>
      </p:sp>
      <p:pic>
        <p:nvPicPr>
          <p:cNvPr id="27" name="Image 4" descr="preencoded.png"/>
          <p:cNvPicPr>
            <a:picLocks noChangeAspect="1"/>
          </p:cNvPicPr>
          <p:nvPr/>
        </p:nvPicPr>
        <p:blipFill>
          <a:blip r:embed="rId7"/>
          <a:stretch>
            <a:fillRect/>
          </a:stretch>
        </p:blipFill>
        <p:spPr>
          <a:xfrm>
            <a:off x="8073786" y="3209178"/>
            <a:ext cx="201900" cy="201900"/>
          </a:xfrm>
          <a:prstGeom prst="rect">
            <a:avLst/>
          </a:prstGeom>
        </p:spPr>
      </p:pic>
      <p:sp>
        <p:nvSpPr>
          <p:cNvPr id="28" name="Text 21"/>
          <p:cNvSpPr txBox="1"/>
          <p:nvPr/>
        </p:nvSpPr>
        <p:spPr>
          <a:xfrm>
            <a:off x="8513064" y="3054096"/>
            <a:ext cx="2782519" cy="27432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Relevant details get missed</a:t>
            </a:r>
            <a:endParaRPr lang="en-US" sz="1300" dirty="0"/>
          </a:p>
        </p:txBody>
      </p:sp>
      <p:sp>
        <p:nvSpPr>
          <p:cNvPr id="29" name="Text 22"/>
          <p:cNvSpPr txBox="1"/>
          <p:nvPr/>
        </p:nvSpPr>
        <p:spPr>
          <a:xfrm>
            <a:off x="8513064" y="3337560"/>
            <a:ext cx="2782519" cy="402336"/>
          </a:xfrm>
          <a:prstGeom prst="rect">
            <a:avLst/>
          </a:prstGeom>
          <a:noFill/>
          <a:ln/>
        </p:spPr>
        <p:txBody>
          <a:bodyPr wrap="square" lIns="0" tIns="0" rIns="0" bIns="0" rtlCol="0" anchor="t"/>
          <a:lstStyle/>
          <a:p>
            <a:pPr marL="0" indent="0">
              <a:lnSpc>
                <a:spcPts val="1400"/>
              </a:lnSpc>
              <a:buNone/>
            </a:pPr>
            <a:r>
              <a:rPr lang="en-US" sz="1050" dirty="0">
                <a:solidFill>
                  <a:srgbClr val="9BCFC7"/>
                </a:solidFill>
                <a:latin typeface="Calibri" pitchFamily="34" charset="0"/>
                <a:ea typeface="Calibri" pitchFamily="34" charset="-122"/>
                <a:cs typeface="Calibri" pitchFamily="34" charset="-120"/>
              </a:rPr>
              <a:t>The answer may sit in the file you skipped</a:t>
            </a:r>
            <a:endParaRPr lang="en-US" sz="1050" dirty="0"/>
          </a:p>
        </p:txBody>
      </p:sp>
      <p:sp>
        <p:nvSpPr>
          <p:cNvPr id="30" name="Shape 23"/>
          <p:cNvSpPr/>
          <p:nvPr/>
        </p:nvSpPr>
        <p:spPr>
          <a:xfrm>
            <a:off x="7964424" y="3995928"/>
            <a:ext cx="420624" cy="420624"/>
          </a:xfrm>
          <a:prstGeom prst="ellipse">
            <a:avLst/>
          </a:prstGeom>
          <a:solidFill>
            <a:srgbClr val="16403F"/>
          </a:solidFill>
          <a:ln w="12700">
            <a:solidFill>
              <a:srgbClr val="16403F"/>
            </a:solidFill>
            <a:prstDash val="solid"/>
          </a:ln>
        </p:spPr>
        <p:txBody>
          <a:bodyPr/>
          <a:lstStyle/>
          <a:p>
            <a:endParaRPr dirty="0"/>
          </a:p>
        </p:txBody>
      </p:sp>
      <p:pic>
        <p:nvPicPr>
          <p:cNvPr id="31" name="Image 5" descr="preencoded.png"/>
          <p:cNvPicPr>
            <a:picLocks noChangeAspect="1"/>
          </p:cNvPicPr>
          <p:nvPr/>
        </p:nvPicPr>
        <p:blipFill>
          <a:blip r:embed="rId8"/>
          <a:stretch>
            <a:fillRect/>
          </a:stretch>
        </p:blipFill>
        <p:spPr>
          <a:xfrm>
            <a:off x="8073786" y="4105290"/>
            <a:ext cx="201900" cy="201900"/>
          </a:xfrm>
          <a:prstGeom prst="rect">
            <a:avLst/>
          </a:prstGeom>
        </p:spPr>
      </p:pic>
      <p:sp>
        <p:nvSpPr>
          <p:cNvPr id="32" name="Text 24"/>
          <p:cNvSpPr txBox="1"/>
          <p:nvPr/>
        </p:nvSpPr>
        <p:spPr>
          <a:xfrm>
            <a:off x="8513064" y="3950208"/>
            <a:ext cx="2782519" cy="27432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AI can answer without evidence</a:t>
            </a:r>
            <a:endParaRPr lang="en-US" sz="1300" dirty="0"/>
          </a:p>
        </p:txBody>
      </p:sp>
      <p:sp>
        <p:nvSpPr>
          <p:cNvPr id="33" name="Text 25"/>
          <p:cNvSpPr txBox="1"/>
          <p:nvPr/>
        </p:nvSpPr>
        <p:spPr>
          <a:xfrm>
            <a:off x="8513064" y="4233672"/>
            <a:ext cx="2782519" cy="402336"/>
          </a:xfrm>
          <a:prstGeom prst="rect">
            <a:avLst/>
          </a:prstGeom>
          <a:noFill/>
          <a:ln/>
        </p:spPr>
        <p:txBody>
          <a:bodyPr wrap="square" lIns="0" tIns="0" rIns="0" bIns="0" rtlCol="0" anchor="t"/>
          <a:lstStyle/>
          <a:p>
            <a:pPr marL="0" indent="0">
              <a:lnSpc>
                <a:spcPts val="1400"/>
              </a:lnSpc>
              <a:buNone/>
            </a:pPr>
            <a:r>
              <a:rPr lang="en-US" sz="1050" dirty="0">
                <a:solidFill>
                  <a:srgbClr val="9BCFC7"/>
                </a:solidFill>
                <a:latin typeface="Calibri" pitchFamily="34" charset="0"/>
                <a:ea typeface="Calibri" pitchFamily="34" charset="-122"/>
                <a:cs typeface="Calibri" pitchFamily="34" charset="-120"/>
              </a:rPr>
              <a:t>Fluent, confident and sometimes invented</a:t>
            </a:r>
            <a:endParaRPr lang="en-US" sz="1050" dirty="0"/>
          </a:p>
        </p:txBody>
      </p:sp>
      <p:sp>
        <p:nvSpPr>
          <p:cNvPr id="34" name="Shape 26"/>
          <p:cNvSpPr/>
          <p:nvPr/>
        </p:nvSpPr>
        <p:spPr>
          <a:xfrm>
            <a:off x="7964424" y="4892040"/>
            <a:ext cx="420624" cy="420624"/>
          </a:xfrm>
          <a:prstGeom prst="ellipse">
            <a:avLst/>
          </a:prstGeom>
          <a:solidFill>
            <a:srgbClr val="16403F"/>
          </a:solidFill>
          <a:ln w="12700">
            <a:solidFill>
              <a:srgbClr val="16403F"/>
            </a:solidFill>
            <a:prstDash val="solid"/>
          </a:ln>
        </p:spPr>
        <p:txBody>
          <a:bodyPr/>
          <a:lstStyle/>
          <a:p>
            <a:endParaRPr dirty="0"/>
          </a:p>
        </p:txBody>
      </p:sp>
      <p:pic>
        <p:nvPicPr>
          <p:cNvPr id="35" name="Image 6" descr="preencoded.png"/>
          <p:cNvPicPr>
            <a:picLocks noChangeAspect="1"/>
          </p:cNvPicPr>
          <p:nvPr/>
        </p:nvPicPr>
        <p:blipFill>
          <a:blip r:embed="rId9"/>
          <a:stretch>
            <a:fillRect/>
          </a:stretch>
        </p:blipFill>
        <p:spPr>
          <a:xfrm>
            <a:off x="8073786" y="5001402"/>
            <a:ext cx="201900" cy="201900"/>
          </a:xfrm>
          <a:prstGeom prst="rect">
            <a:avLst/>
          </a:prstGeom>
        </p:spPr>
      </p:pic>
      <p:sp>
        <p:nvSpPr>
          <p:cNvPr id="36" name="Text 27"/>
          <p:cNvSpPr txBox="1"/>
          <p:nvPr/>
        </p:nvSpPr>
        <p:spPr>
          <a:xfrm>
            <a:off x="8513064" y="4846320"/>
            <a:ext cx="2782519" cy="27432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The source cannot be checked</a:t>
            </a:r>
            <a:endParaRPr lang="en-US" sz="1300" dirty="0"/>
          </a:p>
        </p:txBody>
      </p:sp>
      <p:sp>
        <p:nvSpPr>
          <p:cNvPr id="37" name="Text 28"/>
          <p:cNvSpPr txBox="1"/>
          <p:nvPr/>
        </p:nvSpPr>
        <p:spPr>
          <a:xfrm>
            <a:off x="8513064" y="5129784"/>
            <a:ext cx="2782519" cy="402336"/>
          </a:xfrm>
          <a:prstGeom prst="rect">
            <a:avLst/>
          </a:prstGeom>
          <a:noFill/>
          <a:ln/>
        </p:spPr>
        <p:txBody>
          <a:bodyPr wrap="square" lIns="0" tIns="0" rIns="0" bIns="0" rtlCol="0" anchor="t"/>
          <a:lstStyle/>
          <a:p>
            <a:pPr marL="0" indent="0">
              <a:lnSpc>
                <a:spcPts val="1400"/>
              </a:lnSpc>
              <a:buNone/>
            </a:pPr>
            <a:r>
              <a:rPr lang="en-US" sz="1050" dirty="0">
                <a:solidFill>
                  <a:srgbClr val="9BCFC7"/>
                </a:solidFill>
                <a:latin typeface="Calibri" pitchFamily="34" charset="0"/>
                <a:ea typeface="Calibri" pitchFamily="34" charset="-122"/>
                <a:cs typeface="Calibri" pitchFamily="34" charset="-120"/>
              </a:rPr>
              <a:t>No way to confirm where an answer came from</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219456"/>
            <a:ext cx="11057839" cy="237744"/>
          </a:xfrm>
          <a:prstGeom prst="rect">
            <a:avLst/>
          </a:prstGeom>
          <a:noFill/>
          <a:ln/>
        </p:spPr>
        <p:txBody>
          <a:bodyPr wrap="square" lIns="0" tIns="0" rIns="0" bIns="0" rtlCol="0" anchor="ctr"/>
          <a:lstStyle/>
          <a:p>
            <a:pPr marL="0" indent="0">
              <a:buNone/>
            </a:pPr>
            <a:r>
              <a:rPr lang="en-US" sz="1150" b="1" kern="0" spc="160" dirty="0">
                <a:solidFill>
                  <a:srgbClr val="1C7C7C"/>
                </a:solidFill>
                <a:latin typeface="Calibri" pitchFamily="34" charset="0"/>
                <a:ea typeface="Calibri" pitchFamily="34" charset="-122"/>
                <a:cs typeface="Calibri" pitchFamily="34" charset="-120"/>
              </a:rPr>
              <a:t>PROPOSED SOLUTION</a:t>
            </a:r>
            <a:endParaRPr lang="en-US" sz="1150" dirty="0"/>
          </a:p>
        </p:txBody>
      </p:sp>
      <p:sp>
        <p:nvSpPr>
          <p:cNvPr id="3" name="Text 1"/>
          <p:cNvSpPr txBox="1"/>
          <p:nvPr/>
        </p:nvSpPr>
        <p:spPr>
          <a:xfrm>
            <a:off x="566928" y="384048"/>
            <a:ext cx="11057839" cy="658368"/>
          </a:xfrm>
          <a:prstGeom prst="rect">
            <a:avLst/>
          </a:prstGeom>
          <a:noFill/>
          <a:ln/>
        </p:spPr>
        <p:txBody>
          <a:bodyPr wrap="square" lIns="0" tIns="0" rIns="0" bIns="0" rtlCol="0" anchor="ctr"/>
          <a:lstStyle/>
          <a:p>
            <a:pPr marL="0" indent="0">
              <a:buNone/>
            </a:pPr>
            <a:r>
              <a:rPr lang="en-US" sz="3400" b="1" dirty="0">
                <a:solidFill>
                  <a:srgbClr val="172B2B"/>
                </a:solidFill>
                <a:latin typeface="Cambria" pitchFamily="34" charset="0"/>
                <a:ea typeface="Cambria" pitchFamily="34" charset="-122"/>
                <a:cs typeface="Cambria" pitchFamily="34" charset="-120"/>
              </a:rPr>
              <a:t>A Multi-Document RAG system with citations</a:t>
            </a:r>
            <a:endParaRPr lang="en-US" sz="3400" dirty="0"/>
          </a:p>
        </p:txBody>
      </p:sp>
      <p:sp>
        <p:nvSpPr>
          <p:cNvPr id="4" name="Shape 2"/>
          <p:cNvSpPr/>
          <p:nvPr/>
        </p:nvSpPr>
        <p:spPr>
          <a:xfrm>
            <a:off x="566928" y="1517904"/>
            <a:ext cx="402336" cy="402336"/>
          </a:xfrm>
          <a:prstGeom prst="ellipse">
            <a:avLst/>
          </a:prstGeom>
          <a:solidFill>
            <a:srgbClr val="1C7C7C"/>
          </a:solidFill>
          <a:ln w="12700">
            <a:solidFill>
              <a:srgbClr val="1C7C7C"/>
            </a:solidFill>
            <a:prstDash val="solid"/>
          </a:ln>
        </p:spPr>
        <p:txBody>
          <a:bodyPr/>
          <a:lstStyle/>
          <a:p>
            <a:endParaRPr dirty="0"/>
          </a:p>
        </p:txBody>
      </p:sp>
      <p:sp>
        <p:nvSpPr>
          <p:cNvPr id="5" name="Text 3"/>
          <p:cNvSpPr txBox="1"/>
          <p:nvPr/>
        </p:nvSpPr>
        <p:spPr>
          <a:xfrm>
            <a:off x="566928" y="1517904"/>
            <a:ext cx="402336" cy="402336"/>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6" name="Text 4"/>
          <p:cNvSpPr txBox="1"/>
          <p:nvPr/>
        </p:nvSpPr>
        <p:spPr>
          <a:xfrm>
            <a:off x="1207008" y="1463040"/>
            <a:ext cx="6400800" cy="292608"/>
          </a:xfrm>
          <a:prstGeom prst="rect">
            <a:avLst/>
          </a:prstGeom>
          <a:noFill/>
          <a:ln/>
        </p:spPr>
        <p:txBody>
          <a:bodyPr wrap="square" lIns="0" tIns="0" rIns="0" bIns="0" rtlCol="0" anchor="ctr"/>
          <a:lstStyle/>
          <a:p>
            <a:pPr marL="0" indent="0">
              <a:buNone/>
            </a:pPr>
            <a:r>
              <a:rPr lang="en-US" sz="1450" b="1" dirty="0">
                <a:solidFill>
                  <a:srgbClr val="172B2B"/>
                </a:solidFill>
                <a:latin typeface="Calibri" pitchFamily="34" charset="0"/>
                <a:ea typeface="Calibri" pitchFamily="34" charset="-122"/>
                <a:cs typeface="Calibri" pitchFamily="34" charset="-120"/>
              </a:rPr>
              <a:t>Accept multiple documents as one knowledge source</a:t>
            </a:r>
            <a:endParaRPr lang="en-US" sz="1450" dirty="0"/>
          </a:p>
        </p:txBody>
      </p:sp>
      <p:sp>
        <p:nvSpPr>
          <p:cNvPr id="7" name="Text 5"/>
          <p:cNvSpPr txBox="1"/>
          <p:nvPr/>
        </p:nvSpPr>
        <p:spPr>
          <a:xfrm>
            <a:off x="1207008" y="1773936"/>
            <a:ext cx="6400800" cy="274320"/>
          </a:xfrm>
          <a:prstGeom prst="rect">
            <a:avLst/>
          </a:prstGeom>
          <a:noFill/>
          <a:ln/>
        </p:spPr>
        <p:txBody>
          <a:bodyPr wrap="square" lIns="0" tIns="0" rIns="0" bIns="0" rtlCol="0" anchor="ctr"/>
          <a:lstStyle/>
          <a:p>
            <a:pPr marL="0" indent="0">
              <a:buNone/>
            </a:pPr>
            <a:r>
              <a:rPr lang="en-US" sz="1150" dirty="0">
                <a:solidFill>
                  <a:srgbClr val="5F7271"/>
                </a:solidFill>
                <a:latin typeface="Calibri" pitchFamily="34" charset="0"/>
                <a:ea typeface="Calibri" pitchFamily="34" charset="-122"/>
                <a:cs typeface="Calibri" pitchFamily="34" charset="-120"/>
              </a:rPr>
              <a:t>PDFs, reports, notes — mixed formats in a single corpus</a:t>
            </a:r>
            <a:endParaRPr lang="en-US" sz="1150" dirty="0"/>
          </a:p>
        </p:txBody>
      </p:sp>
      <p:sp>
        <p:nvSpPr>
          <p:cNvPr id="8" name="Shape 6"/>
          <p:cNvSpPr/>
          <p:nvPr/>
        </p:nvSpPr>
        <p:spPr>
          <a:xfrm>
            <a:off x="566928" y="2423160"/>
            <a:ext cx="402336" cy="402336"/>
          </a:xfrm>
          <a:prstGeom prst="ellipse">
            <a:avLst/>
          </a:prstGeom>
          <a:solidFill>
            <a:srgbClr val="1C7C7C"/>
          </a:solidFill>
          <a:ln w="12700">
            <a:solidFill>
              <a:srgbClr val="1C7C7C"/>
            </a:solidFill>
            <a:prstDash val="solid"/>
          </a:ln>
        </p:spPr>
        <p:txBody>
          <a:bodyPr/>
          <a:lstStyle/>
          <a:p>
            <a:endParaRPr dirty="0"/>
          </a:p>
        </p:txBody>
      </p:sp>
      <p:sp>
        <p:nvSpPr>
          <p:cNvPr id="9" name="Text 7"/>
          <p:cNvSpPr txBox="1"/>
          <p:nvPr/>
        </p:nvSpPr>
        <p:spPr>
          <a:xfrm>
            <a:off x="566928" y="2423160"/>
            <a:ext cx="402336" cy="402336"/>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Text 8"/>
          <p:cNvSpPr txBox="1"/>
          <p:nvPr/>
        </p:nvSpPr>
        <p:spPr>
          <a:xfrm>
            <a:off x="1207008" y="2368296"/>
            <a:ext cx="6400800" cy="292608"/>
          </a:xfrm>
          <a:prstGeom prst="rect">
            <a:avLst/>
          </a:prstGeom>
          <a:noFill/>
          <a:ln/>
        </p:spPr>
        <p:txBody>
          <a:bodyPr wrap="square" lIns="0" tIns="0" rIns="0" bIns="0" rtlCol="0" anchor="ctr"/>
          <a:lstStyle/>
          <a:p>
            <a:pPr marL="0" indent="0">
              <a:buNone/>
            </a:pPr>
            <a:r>
              <a:rPr lang="en-US" sz="1450" b="1" dirty="0">
                <a:solidFill>
                  <a:srgbClr val="172B2B"/>
                </a:solidFill>
                <a:latin typeface="Calibri" pitchFamily="34" charset="0"/>
                <a:ea typeface="Calibri" pitchFamily="34" charset="-122"/>
                <a:cs typeface="Calibri" pitchFamily="34" charset="-120"/>
              </a:rPr>
              <a:t>Understand and process document content</a:t>
            </a:r>
            <a:endParaRPr lang="en-US" sz="1450" dirty="0"/>
          </a:p>
        </p:txBody>
      </p:sp>
      <p:sp>
        <p:nvSpPr>
          <p:cNvPr id="11" name="Text 9"/>
          <p:cNvSpPr txBox="1"/>
          <p:nvPr/>
        </p:nvSpPr>
        <p:spPr>
          <a:xfrm>
            <a:off x="1207008" y="2679192"/>
            <a:ext cx="6400800" cy="274320"/>
          </a:xfrm>
          <a:prstGeom prst="rect">
            <a:avLst/>
          </a:prstGeom>
          <a:noFill/>
          <a:ln/>
        </p:spPr>
        <p:txBody>
          <a:bodyPr wrap="square" lIns="0" tIns="0" rIns="0" bIns="0" rtlCol="0" anchor="ctr"/>
          <a:lstStyle/>
          <a:p>
            <a:pPr marL="0" indent="0">
              <a:buNone/>
            </a:pPr>
            <a:r>
              <a:rPr lang="en-US" sz="1150" dirty="0">
                <a:solidFill>
                  <a:srgbClr val="5F7271"/>
                </a:solidFill>
                <a:latin typeface="Calibri" pitchFamily="34" charset="0"/>
                <a:ea typeface="Calibri" pitchFamily="34" charset="-122"/>
                <a:cs typeface="Calibri" pitchFamily="34" charset="-120"/>
              </a:rPr>
              <a:t>Text extraction, cleaning and page-aware segmentation</a:t>
            </a:r>
            <a:endParaRPr lang="en-US" sz="1150" dirty="0"/>
          </a:p>
        </p:txBody>
      </p:sp>
      <p:sp>
        <p:nvSpPr>
          <p:cNvPr id="12" name="Shape 10"/>
          <p:cNvSpPr/>
          <p:nvPr/>
        </p:nvSpPr>
        <p:spPr>
          <a:xfrm>
            <a:off x="566928" y="3328416"/>
            <a:ext cx="402336" cy="402336"/>
          </a:xfrm>
          <a:prstGeom prst="ellipse">
            <a:avLst/>
          </a:prstGeom>
          <a:solidFill>
            <a:srgbClr val="1C7C7C"/>
          </a:solidFill>
          <a:ln w="12700">
            <a:solidFill>
              <a:srgbClr val="1C7C7C"/>
            </a:solidFill>
            <a:prstDash val="solid"/>
          </a:ln>
        </p:spPr>
        <p:txBody>
          <a:bodyPr/>
          <a:lstStyle/>
          <a:p>
            <a:endParaRPr dirty="0"/>
          </a:p>
        </p:txBody>
      </p:sp>
      <p:sp>
        <p:nvSpPr>
          <p:cNvPr id="13" name="Text 11"/>
          <p:cNvSpPr txBox="1"/>
          <p:nvPr/>
        </p:nvSpPr>
        <p:spPr>
          <a:xfrm>
            <a:off x="566928" y="3328416"/>
            <a:ext cx="402336" cy="402336"/>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4" name="Text 12"/>
          <p:cNvSpPr txBox="1"/>
          <p:nvPr/>
        </p:nvSpPr>
        <p:spPr>
          <a:xfrm>
            <a:off x="1207008" y="3273552"/>
            <a:ext cx="6400800" cy="292608"/>
          </a:xfrm>
          <a:prstGeom prst="rect">
            <a:avLst/>
          </a:prstGeom>
          <a:noFill/>
          <a:ln/>
        </p:spPr>
        <p:txBody>
          <a:bodyPr wrap="square" lIns="0" tIns="0" rIns="0" bIns="0" rtlCol="0" anchor="ctr"/>
          <a:lstStyle/>
          <a:p>
            <a:pPr marL="0" indent="0">
              <a:buNone/>
            </a:pPr>
            <a:r>
              <a:rPr lang="en-US" sz="1450" b="1" dirty="0">
                <a:solidFill>
                  <a:srgbClr val="172B2B"/>
                </a:solidFill>
                <a:latin typeface="Calibri" pitchFamily="34" charset="0"/>
                <a:ea typeface="Calibri" pitchFamily="34" charset="-122"/>
                <a:cs typeface="Calibri" pitchFamily="34" charset="-120"/>
              </a:rPr>
              <a:t>Retrieve only what is relevant to the query</a:t>
            </a:r>
            <a:endParaRPr lang="en-US" sz="1450" dirty="0"/>
          </a:p>
        </p:txBody>
      </p:sp>
      <p:sp>
        <p:nvSpPr>
          <p:cNvPr id="15" name="Text 13"/>
          <p:cNvSpPr txBox="1"/>
          <p:nvPr/>
        </p:nvSpPr>
        <p:spPr>
          <a:xfrm>
            <a:off x="1207008" y="3584448"/>
            <a:ext cx="6400800" cy="274320"/>
          </a:xfrm>
          <a:prstGeom prst="rect">
            <a:avLst/>
          </a:prstGeom>
          <a:noFill/>
          <a:ln/>
        </p:spPr>
        <p:txBody>
          <a:bodyPr wrap="square" lIns="0" tIns="0" rIns="0" bIns="0" rtlCol="0" anchor="ctr"/>
          <a:lstStyle/>
          <a:p>
            <a:pPr marL="0" indent="0">
              <a:buNone/>
            </a:pPr>
            <a:r>
              <a:rPr lang="en-US" sz="1150" dirty="0">
                <a:solidFill>
                  <a:srgbClr val="5F7271"/>
                </a:solidFill>
                <a:latin typeface="Calibri" pitchFamily="34" charset="0"/>
                <a:ea typeface="Calibri" pitchFamily="34" charset="-122"/>
                <a:cs typeface="Calibri" pitchFamily="34" charset="-120"/>
              </a:rPr>
              <a:t>Semantic and keyword search over every document at once</a:t>
            </a:r>
            <a:endParaRPr lang="en-US" sz="1150" dirty="0"/>
          </a:p>
        </p:txBody>
      </p:sp>
      <p:sp>
        <p:nvSpPr>
          <p:cNvPr id="16" name="Shape 14"/>
          <p:cNvSpPr/>
          <p:nvPr/>
        </p:nvSpPr>
        <p:spPr>
          <a:xfrm>
            <a:off x="566928" y="4233672"/>
            <a:ext cx="402336" cy="402336"/>
          </a:xfrm>
          <a:prstGeom prst="ellipse">
            <a:avLst/>
          </a:prstGeom>
          <a:solidFill>
            <a:srgbClr val="1C7C7C"/>
          </a:solidFill>
          <a:ln w="12700">
            <a:solidFill>
              <a:srgbClr val="1C7C7C"/>
            </a:solidFill>
            <a:prstDash val="solid"/>
          </a:ln>
        </p:spPr>
        <p:txBody>
          <a:bodyPr/>
          <a:lstStyle/>
          <a:p>
            <a:endParaRPr dirty="0"/>
          </a:p>
        </p:txBody>
      </p:sp>
      <p:sp>
        <p:nvSpPr>
          <p:cNvPr id="17" name="Text 15"/>
          <p:cNvSpPr txBox="1"/>
          <p:nvPr/>
        </p:nvSpPr>
        <p:spPr>
          <a:xfrm>
            <a:off x="566928" y="4233672"/>
            <a:ext cx="402336" cy="402336"/>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8" name="Text 16"/>
          <p:cNvSpPr txBox="1"/>
          <p:nvPr/>
        </p:nvSpPr>
        <p:spPr>
          <a:xfrm>
            <a:off x="1207008" y="4178808"/>
            <a:ext cx="6400800" cy="292608"/>
          </a:xfrm>
          <a:prstGeom prst="rect">
            <a:avLst/>
          </a:prstGeom>
          <a:noFill/>
          <a:ln/>
        </p:spPr>
        <p:txBody>
          <a:bodyPr wrap="square" lIns="0" tIns="0" rIns="0" bIns="0" rtlCol="0" anchor="ctr"/>
          <a:lstStyle/>
          <a:p>
            <a:pPr marL="0" indent="0">
              <a:buNone/>
            </a:pPr>
            <a:r>
              <a:rPr lang="en-US" sz="1450" b="1" dirty="0">
                <a:solidFill>
                  <a:srgbClr val="172B2B"/>
                </a:solidFill>
                <a:latin typeface="Calibri" pitchFamily="34" charset="0"/>
                <a:ea typeface="Calibri" pitchFamily="34" charset="-122"/>
                <a:cs typeface="Calibri" pitchFamily="34" charset="-120"/>
              </a:rPr>
              <a:t>Generate the answer from that retrieved context</a:t>
            </a:r>
            <a:endParaRPr lang="en-US" sz="1450" dirty="0"/>
          </a:p>
        </p:txBody>
      </p:sp>
      <p:sp>
        <p:nvSpPr>
          <p:cNvPr id="19" name="Text 17"/>
          <p:cNvSpPr txBox="1"/>
          <p:nvPr/>
        </p:nvSpPr>
        <p:spPr>
          <a:xfrm>
            <a:off x="1207008" y="4489704"/>
            <a:ext cx="6400800" cy="274320"/>
          </a:xfrm>
          <a:prstGeom prst="rect">
            <a:avLst/>
          </a:prstGeom>
          <a:noFill/>
          <a:ln/>
        </p:spPr>
        <p:txBody>
          <a:bodyPr wrap="square" lIns="0" tIns="0" rIns="0" bIns="0" rtlCol="0" anchor="ctr"/>
          <a:lstStyle/>
          <a:p>
            <a:pPr marL="0" indent="0">
              <a:buNone/>
            </a:pPr>
            <a:r>
              <a:rPr lang="en-US" sz="1150" dirty="0">
                <a:solidFill>
                  <a:srgbClr val="5F7271"/>
                </a:solidFill>
                <a:latin typeface="Calibri" pitchFamily="34" charset="0"/>
                <a:ea typeface="Calibri" pitchFamily="34" charset="-122"/>
                <a:cs typeface="Calibri" pitchFamily="34" charset="-120"/>
              </a:rPr>
              <a:t>The model is restricted to the evidence it was given</a:t>
            </a:r>
            <a:endParaRPr lang="en-US" sz="1150" dirty="0"/>
          </a:p>
        </p:txBody>
      </p:sp>
      <p:sp>
        <p:nvSpPr>
          <p:cNvPr id="20" name="Shape 18"/>
          <p:cNvSpPr/>
          <p:nvPr/>
        </p:nvSpPr>
        <p:spPr>
          <a:xfrm>
            <a:off x="566928" y="5138928"/>
            <a:ext cx="402336" cy="402336"/>
          </a:xfrm>
          <a:prstGeom prst="ellipse">
            <a:avLst/>
          </a:prstGeom>
          <a:solidFill>
            <a:srgbClr val="1C7C7C"/>
          </a:solidFill>
          <a:ln w="12700">
            <a:solidFill>
              <a:srgbClr val="1C7C7C"/>
            </a:solidFill>
            <a:prstDash val="solid"/>
          </a:ln>
        </p:spPr>
        <p:txBody>
          <a:bodyPr/>
          <a:lstStyle/>
          <a:p>
            <a:endParaRPr dirty="0"/>
          </a:p>
        </p:txBody>
      </p:sp>
      <p:sp>
        <p:nvSpPr>
          <p:cNvPr id="21" name="Text 19"/>
          <p:cNvSpPr txBox="1"/>
          <p:nvPr/>
        </p:nvSpPr>
        <p:spPr>
          <a:xfrm>
            <a:off x="566928" y="5138928"/>
            <a:ext cx="402336" cy="402336"/>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2" name="Text 20"/>
          <p:cNvSpPr txBox="1"/>
          <p:nvPr/>
        </p:nvSpPr>
        <p:spPr>
          <a:xfrm>
            <a:off x="1207008" y="5084064"/>
            <a:ext cx="6400800" cy="292608"/>
          </a:xfrm>
          <a:prstGeom prst="rect">
            <a:avLst/>
          </a:prstGeom>
          <a:noFill/>
          <a:ln/>
        </p:spPr>
        <p:txBody>
          <a:bodyPr wrap="square" lIns="0" tIns="0" rIns="0" bIns="0" rtlCol="0" anchor="ctr"/>
          <a:lstStyle/>
          <a:p>
            <a:pPr marL="0" indent="0">
              <a:buNone/>
            </a:pPr>
            <a:r>
              <a:rPr lang="en-US" sz="1450" b="1" dirty="0">
                <a:solidFill>
                  <a:srgbClr val="172B2B"/>
                </a:solidFill>
                <a:latin typeface="Calibri" pitchFamily="34" charset="0"/>
                <a:ea typeface="Calibri" pitchFamily="34" charset="-122"/>
                <a:cs typeface="Calibri" pitchFamily="34" charset="-120"/>
              </a:rPr>
              <a:t>Attach document and page citations</a:t>
            </a:r>
            <a:endParaRPr lang="en-US" sz="1450" dirty="0"/>
          </a:p>
        </p:txBody>
      </p:sp>
      <p:sp>
        <p:nvSpPr>
          <p:cNvPr id="23" name="Text 21"/>
          <p:cNvSpPr txBox="1"/>
          <p:nvPr/>
        </p:nvSpPr>
        <p:spPr>
          <a:xfrm>
            <a:off x="1207008" y="5394960"/>
            <a:ext cx="6400800" cy="274320"/>
          </a:xfrm>
          <a:prstGeom prst="rect">
            <a:avLst/>
          </a:prstGeom>
          <a:noFill/>
          <a:ln/>
        </p:spPr>
        <p:txBody>
          <a:bodyPr wrap="square" lIns="0" tIns="0" rIns="0" bIns="0" rtlCol="0" anchor="ctr"/>
          <a:lstStyle/>
          <a:p>
            <a:pPr marL="0" indent="0">
              <a:buNone/>
            </a:pPr>
            <a:r>
              <a:rPr lang="en-US" sz="1150" dirty="0">
                <a:solidFill>
                  <a:srgbClr val="5F7271"/>
                </a:solidFill>
                <a:latin typeface="Calibri" pitchFamily="34" charset="0"/>
                <a:ea typeface="Calibri" pitchFamily="34" charset="-122"/>
                <a:cs typeface="Calibri" pitchFamily="34" charset="-120"/>
              </a:rPr>
              <a:t>Every sentence carries a marker back to its source</a:t>
            </a:r>
            <a:endParaRPr lang="en-US" sz="1150" dirty="0"/>
          </a:p>
        </p:txBody>
      </p:sp>
      <p:sp>
        <p:nvSpPr>
          <p:cNvPr id="24" name="Shape 22"/>
          <p:cNvSpPr/>
          <p:nvPr/>
        </p:nvSpPr>
        <p:spPr>
          <a:xfrm>
            <a:off x="7726680" y="1417320"/>
            <a:ext cx="3898087" cy="2697480"/>
          </a:xfrm>
          <a:prstGeom prst="roundRect">
            <a:avLst>
              <a:gd name="adj" fmla="val 4068"/>
            </a:avLst>
          </a:prstGeom>
          <a:solidFill>
            <a:srgbClr val="12545A"/>
          </a:solidFill>
          <a:ln w="12700">
            <a:solidFill>
              <a:srgbClr val="12545A"/>
            </a:solidFill>
            <a:prstDash val="solid"/>
          </a:ln>
          <a:effectLst>
            <a:outerShdw blurRad="127000" dist="25400" dir="5400000" algn="bl" rotWithShape="0">
              <a:srgbClr val="0E2F30">
                <a:alpha val="20000"/>
              </a:srgbClr>
            </a:outerShdw>
          </a:effectLst>
        </p:spPr>
        <p:txBody>
          <a:bodyPr/>
          <a:lstStyle/>
          <a:p>
            <a:endParaRPr dirty="0"/>
          </a:p>
        </p:txBody>
      </p:sp>
      <p:sp>
        <p:nvSpPr>
          <p:cNvPr id="25" name="Text 23"/>
          <p:cNvSpPr txBox="1"/>
          <p:nvPr/>
        </p:nvSpPr>
        <p:spPr>
          <a:xfrm>
            <a:off x="8037576" y="1719072"/>
            <a:ext cx="3276295" cy="256032"/>
          </a:xfrm>
          <a:prstGeom prst="rect">
            <a:avLst/>
          </a:prstGeom>
          <a:noFill/>
          <a:ln/>
        </p:spPr>
        <p:txBody>
          <a:bodyPr wrap="square" lIns="0" tIns="0" rIns="0" bIns="0" rtlCol="0" anchor="ctr"/>
          <a:lstStyle/>
          <a:p>
            <a:pPr marL="0" indent="0">
              <a:buNone/>
            </a:pPr>
            <a:r>
              <a:rPr lang="en-US" sz="1050" b="1" kern="0" spc="160" dirty="0">
                <a:solidFill>
                  <a:srgbClr val="E8A33D"/>
                </a:solidFill>
                <a:latin typeface="Calibri" pitchFamily="34" charset="0"/>
                <a:ea typeface="Calibri" pitchFamily="34" charset="-122"/>
                <a:cs typeface="Calibri" pitchFamily="34" charset="-120"/>
              </a:rPr>
              <a:t>CORE IDEA</a:t>
            </a:r>
            <a:endParaRPr lang="en-US" sz="1050" dirty="0"/>
          </a:p>
        </p:txBody>
      </p:sp>
      <p:sp>
        <p:nvSpPr>
          <p:cNvPr id="26" name="Text 24"/>
          <p:cNvSpPr txBox="1"/>
          <p:nvPr/>
        </p:nvSpPr>
        <p:spPr>
          <a:xfrm>
            <a:off x="8037576" y="2121408"/>
            <a:ext cx="3276295" cy="960120"/>
          </a:xfrm>
          <a:prstGeom prst="rect">
            <a:avLst/>
          </a:prstGeom>
          <a:noFill/>
          <a:ln/>
        </p:spPr>
        <p:txBody>
          <a:bodyPr wrap="square" lIns="0" tIns="0" rIns="0" bIns="0" rtlCol="0" anchor="t"/>
          <a:lstStyle/>
          <a:p>
            <a:pPr marL="0" indent="0">
              <a:lnSpc>
                <a:spcPts val="3200"/>
              </a:lnSpc>
              <a:buNone/>
            </a:pPr>
            <a:r>
              <a:rPr lang="en-US" sz="2300" b="1" dirty="0">
                <a:solidFill>
                  <a:srgbClr val="FFFFFF"/>
                </a:solidFill>
                <a:latin typeface="Cambria" pitchFamily="34" charset="0"/>
                <a:ea typeface="Cambria" pitchFamily="34" charset="-122"/>
                <a:cs typeface="Cambria" pitchFamily="34" charset="-120"/>
              </a:rPr>
              <a:t>Retrieve first.
</a:t>
            </a:r>
            <a:r>
              <a:rPr lang="en-US" sz="2300" b="1" dirty="0">
                <a:solidFill>
                  <a:srgbClr val="E8A33D"/>
                </a:solidFill>
                <a:latin typeface="Cambria" pitchFamily="34" charset="0"/>
                <a:ea typeface="Cambria" pitchFamily="34" charset="-122"/>
                <a:cs typeface="Cambria" pitchFamily="34" charset="-120"/>
              </a:rPr>
              <a:t>Generate second.</a:t>
            </a:r>
            <a:endParaRPr lang="en-US" sz="2300" dirty="0"/>
          </a:p>
        </p:txBody>
      </p:sp>
      <p:sp>
        <p:nvSpPr>
          <p:cNvPr id="27" name="Text 25"/>
          <p:cNvSpPr txBox="1"/>
          <p:nvPr/>
        </p:nvSpPr>
        <p:spPr>
          <a:xfrm>
            <a:off x="8037576" y="3163824"/>
            <a:ext cx="3276295" cy="713232"/>
          </a:xfrm>
          <a:prstGeom prst="rect">
            <a:avLst/>
          </a:prstGeom>
          <a:noFill/>
          <a:ln/>
        </p:spPr>
        <p:txBody>
          <a:bodyPr wrap="square" lIns="0" tIns="0" rIns="0" bIns="0" rtlCol="0" anchor="t"/>
          <a:lstStyle/>
          <a:p>
            <a:pPr marL="0" indent="0">
              <a:lnSpc>
                <a:spcPts val="1600"/>
              </a:lnSpc>
              <a:buNone/>
            </a:pPr>
            <a:r>
              <a:rPr lang="en-US" sz="1150" dirty="0">
                <a:solidFill>
                  <a:srgbClr val="9BCFC7"/>
                </a:solidFill>
                <a:latin typeface="Calibri" pitchFamily="34" charset="0"/>
                <a:ea typeface="Calibri" pitchFamily="34" charset="-122"/>
                <a:cs typeface="Calibri" pitchFamily="34" charset="-120"/>
              </a:rPr>
              <a:t>The relevant passages are found before the model writes anything. It never answers from memory — it answers from the text it was just shown.</a:t>
            </a:r>
            <a:endParaRPr lang="en-US" sz="1150" dirty="0"/>
          </a:p>
        </p:txBody>
      </p:sp>
      <p:sp>
        <p:nvSpPr>
          <p:cNvPr id="28" name="Shape 26"/>
          <p:cNvSpPr/>
          <p:nvPr/>
        </p:nvSpPr>
        <p:spPr>
          <a:xfrm>
            <a:off x="7726680" y="4407408"/>
            <a:ext cx="3898087" cy="1481328"/>
          </a:xfrm>
          <a:prstGeom prst="roundRect">
            <a:avLst>
              <a:gd name="adj" fmla="val 6173"/>
            </a:avLst>
          </a:prstGeom>
          <a:solidFill>
            <a:srgbClr val="EFF4F3"/>
          </a:solidFill>
          <a:ln w="12700">
            <a:solidFill>
              <a:srgbClr val="EFF4F3"/>
            </a:solidFill>
            <a:prstDash val="solid"/>
          </a:ln>
        </p:spPr>
        <p:txBody>
          <a:bodyPr/>
          <a:lstStyle/>
          <a:p>
            <a:endParaRPr dirty="0"/>
          </a:p>
        </p:txBody>
      </p:sp>
      <p:sp>
        <p:nvSpPr>
          <p:cNvPr id="29" name="Shape 27"/>
          <p:cNvSpPr/>
          <p:nvPr/>
        </p:nvSpPr>
        <p:spPr>
          <a:xfrm>
            <a:off x="8037576" y="4645152"/>
            <a:ext cx="420624" cy="420624"/>
          </a:xfrm>
          <a:prstGeom prst="ellipse">
            <a:avLst/>
          </a:prstGeom>
          <a:solidFill>
            <a:srgbClr val="FFFFFF"/>
          </a:solidFill>
          <a:ln w="12700">
            <a:solidFill>
              <a:srgbClr val="FFFFFF"/>
            </a:solidFill>
            <a:prstDash val="solid"/>
          </a:ln>
        </p:spPr>
        <p:txBody>
          <a:bodyPr/>
          <a:lstStyle/>
          <a:p>
            <a:endParaRPr dirty="0"/>
          </a:p>
        </p:txBody>
      </p:sp>
      <p:pic>
        <p:nvPicPr>
          <p:cNvPr id="30" name="Image 0" descr="preencoded.png"/>
          <p:cNvPicPr>
            <a:picLocks noChangeAspect="1"/>
          </p:cNvPicPr>
          <p:nvPr/>
        </p:nvPicPr>
        <p:blipFill>
          <a:blip r:embed="rId3"/>
          <a:stretch>
            <a:fillRect/>
          </a:stretch>
        </p:blipFill>
        <p:spPr>
          <a:xfrm>
            <a:off x="8146938" y="4754514"/>
            <a:ext cx="201900" cy="201900"/>
          </a:xfrm>
          <a:prstGeom prst="rect">
            <a:avLst/>
          </a:prstGeom>
        </p:spPr>
      </p:pic>
      <p:sp>
        <p:nvSpPr>
          <p:cNvPr id="31" name="Text 28"/>
          <p:cNvSpPr txBox="1"/>
          <p:nvPr/>
        </p:nvSpPr>
        <p:spPr>
          <a:xfrm>
            <a:off x="8567928" y="4645152"/>
            <a:ext cx="2745943" cy="274320"/>
          </a:xfrm>
          <a:prstGeom prst="rect">
            <a:avLst/>
          </a:prstGeom>
          <a:noFill/>
          <a:ln/>
        </p:spPr>
        <p:txBody>
          <a:bodyPr wrap="square" lIns="0" tIns="0" rIns="0" bIns="0" rtlCol="0" anchor="ctr"/>
          <a:lstStyle/>
          <a:p>
            <a:pPr marL="0" indent="0">
              <a:buNone/>
            </a:pPr>
            <a:r>
              <a:rPr lang="en-US" sz="1300" b="1" dirty="0">
                <a:solidFill>
                  <a:srgbClr val="172B2B"/>
                </a:solidFill>
                <a:latin typeface="Calibri" pitchFamily="34" charset="0"/>
                <a:ea typeface="Calibri" pitchFamily="34" charset="-122"/>
                <a:cs typeface="Calibri" pitchFamily="34" charset="-120"/>
              </a:rPr>
              <a:t>Built-in refusal</a:t>
            </a:r>
            <a:endParaRPr lang="en-US" sz="1300" dirty="0"/>
          </a:p>
        </p:txBody>
      </p:sp>
      <p:sp>
        <p:nvSpPr>
          <p:cNvPr id="32" name="Text 29"/>
          <p:cNvSpPr txBox="1"/>
          <p:nvPr/>
        </p:nvSpPr>
        <p:spPr>
          <a:xfrm>
            <a:off x="8037576" y="5157216"/>
            <a:ext cx="3276295" cy="512064"/>
          </a:xfrm>
          <a:prstGeom prst="rect">
            <a:avLst/>
          </a:prstGeom>
          <a:noFill/>
          <a:ln/>
        </p:spPr>
        <p:txBody>
          <a:bodyPr wrap="square" lIns="0" tIns="0" rIns="0" bIns="0" rtlCol="0" anchor="t"/>
          <a:lstStyle/>
          <a:p>
            <a:pPr marL="0" indent="0">
              <a:lnSpc>
                <a:spcPts val="1500"/>
              </a:lnSpc>
              <a:buNone/>
            </a:pPr>
            <a:r>
              <a:rPr lang="en-US" sz="1100" dirty="0">
                <a:solidFill>
                  <a:srgbClr val="5F7271"/>
                </a:solidFill>
                <a:latin typeface="Calibri" pitchFamily="34" charset="0"/>
                <a:ea typeface="Calibri" pitchFamily="34" charset="-122"/>
                <a:cs typeface="Calibri" pitchFamily="34" charset="-120"/>
              </a:rPr>
              <a:t>When the documents do not contain the answer, the system says so instead of inventing one.</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219456"/>
            <a:ext cx="11057839" cy="237744"/>
          </a:xfrm>
          <a:prstGeom prst="rect">
            <a:avLst/>
          </a:prstGeom>
          <a:noFill/>
          <a:ln/>
        </p:spPr>
        <p:txBody>
          <a:bodyPr wrap="square" lIns="0" tIns="0" rIns="0" bIns="0" rtlCol="0" anchor="ctr"/>
          <a:lstStyle/>
          <a:p>
            <a:pPr marL="0" indent="0">
              <a:buNone/>
            </a:pPr>
            <a:r>
              <a:rPr lang="en-US" sz="1150" b="1" kern="0" spc="160" dirty="0">
                <a:solidFill>
                  <a:srgbClr val="1C7C7C"/>
                </a:solidFill>
                <a:latin typeface="Calibri" pitchFamily="34" charset="0"/>
                <a:ea typeface="Calibri" pitchFamily="34" charset="-122"/>
                <a:cs typeface="Calibri" pitchFamily="34" charset="-120"/>
              </a:rPr>
              <a:t>UNDERSTANDING RAG</a:t>
            </a:r>
            <a:endParaRPr lang="en-US" sz="1150" dirty="0"/>
          </a:p>
        </p:txBody>
      </p:sp>
      <p:sp>
        <p:nvSpPr>
          <p:cNvPr id="3" name="Text 1"/>
          <p:cNvSpPr txBox="1"/>
          <p:nvPr/>
        </p:nvSpPr>
        <p:spPr>
          <a:xfrm>
            <a:off x="566928" y="384048"/>
            <a:ext cx="11057839" cy="658368"/>
          </a:xfrm>
          <a:prstGeom prst="rect">
            <a:avLst/>
          </a:prstGeom>
          <a:noFill/>
          <a:ln/>
        </p:spPr>
        <p:txBody>
          <a:bodyPr wrap="square" lIns="0" tIns="0" rIns="0" bIns="0" rtlCol="0" anchor="ctr"/>
          <a:lstStyle/>
          <a:p>
            <a:pPr marL="0" indent="0">
              <a:buNone/>
            </a:pPr>
            <a:r>
              <a:rPr lang="en-US" sz="3400" b="1" dirty="0">
                <a:solidFill>
                  <a:srgbClr val="172B2B"/>
                </a:solidFill>
                <a:latin typeface="Cambria" pitchFamily="34" charset="0"/>
                <a:ea typeface="Cambria" pitchFamily="34" charset="-122"/>
                <a:cs typeface="Cambria" pitchFamily="34" charset="-120"/>
              </a:rPr>
              <a:t>Retrieval-Augmented Generation</a:t>
            </a:r>
            <a:endParaRPr lang="en-US" sz="3400" dirty="0"/>
          </a:p>
        </p:txBody>
      </p:sp>
      <p:sp>
        <p:nvSpPr>
          <p:cNvPr id="4" name="Text 2"/>
          <p:cNvSpPr txBox="1"/>
          <p:nvPr/>
        </p:nvSpPr>
        <p:spPr>
          <a:xfrm>
            <a:off x="566928" y="1280160"/>
            <a:ext cx="10424160" cy="548640"/>
          </a:xfrm>
          <a:prstGeom prst="rect">
            <a:avLst/>
          </a:prstGeom>
          <a:noFill/>
          <a:ln/>
        </p:spPr>
        <p:txBody>
          <a:bodyPr wrap="square" lIns="0" tIns="0" rIns="0" bIns="0" rtlCol="0" anchor="t"/>
          <a:lstStyle/>
          <a:p>
            <a:pPr marL="0" indent="0">
              <a:lnSpc>
                <a:spcPts val="2000"/>
              </a:lnSpc>
              <a:buNone/>
            </a:pPr>
            <a:r>
              <a:rPr lang="en-US" sz="1450" dirty="0">
                <a:solidFill>
                  <a:srgbClr val="5F7271"/>
                </a:solidFill>
                <a:latin typeface="Calibri" pitchFamily="34" charset="0"/>
                <a:ea typeface="Calibri" pitchFamily="34" charset="-122"/>
                <a:cs typeface="Calibri" pitchFamily="34" charset="-120"/>
              </a:rPr>
              <a:t>Instead of letting the model answer directly from what it memorised during training, RAG searches the provided documents first and answers only from what it finds.</a:t>
            </a:r>
            <a:endParaRPr lang="en-US" sz="1450" dirty="0"/>
          </a:p>
        </p:txBody>
      </p:sp>
      <p:sp>
        <p:nvSpPr>
          <p:cNvPr id="5" name="Text 3"/>
          <p:cNvSpPr txBox="1"/>
          <p:nvPr/>
        </p:nvSpPr>
        <p:spPr>
          <a:xfrm>
            <a:off x="566928" y="2066544"/>
            <a:ext cx="4572000" cy="274320"/>
          </a:xfrm>
          <a:prstGeom prst="rect">
            <a:avLst/>
          </a:prstGeom>
          <a:noFill/>
          <a:ln/>
        </p:spPr>
        <p:txBody>
          <a:bodyPr wrap="square" lIns="0" tIns="0" rIns="0" bIns="0" rtlCol="0" anchor="ctr"/>
          <a:lstStyle/>
          <a:p>
            <a:pPr marL="0" indent="0">
              <a:buNone/>
            </a:pPr>
            <a:r>
              <a:rPr lang="en-US" sz="1200" b="1" kern="0" spc="120" dirty="0">
                <a:solidFill>
                  <a:srgbClr val="5F7271"/>
                </a:solidFill>
                <a:latin typeface="Calibri" pitchFamily="34" charset="0"/>
                <a:ea typeface="Calibri" pitchFamily="34" charset="-122"/>
                <a:cs typeface="Calibri" pitchFamily="34" charset="-120"/>
              </a:rPr>
              <a:t>TRADITIONAL APPROACH</a:t>
            </a:r>
            <a:endParaRPr lang="en-US" sz="1200" dirty="0"/>
          </a:p>
        </p:txBody>
      </p:sp>
      <p:sp>
        <p:nvSpPr>
          <p:cNvPr id="6" name="Text 4"/>
          <p:cNvSpPr txBox="1"/>
          <p:nvPr/>
        </p:nvSpPr>
        <p:spPr>
          <a:xfrm>
            <a:off x="3493008" y="2066544"/>
            <a:ext cx="8131759" cy="274320"/>
          </a:xfrm>
          <a:prstGeom prst="rect">
            <a:avLst/>
          </a:prstGeom>
          <a:noFill/>
          <a:ln/>
        </p:spPr>
        <p:txBody>
          <a:bodyPr wrap="square" lIns="0" tIns="0" rIns="0" bIns="0" rtlCol="0" anchor="ctr"/>
          <a:lstStyle/>
          <a:p>
            <a:pPr marL="0" indent="0" algn="r">
              <a:buNone/>
            </a:pPr>
            <a:r>
              <a:rPr lang="en-US" sz="1100" dirty="0">
                <a:solidFill>
                  <a:srgbClr val="5F7271"/>
                </a:solidFill>
                <a:latin typeface="Calibri" pitchFamily="34" charset="0"/>
                <a:ea typeface="Calibri" pitchFamily="34" charset="-122"/>
                <a:cs typeface="Calibri" pitchFamily="34" charset="-120"/>
              </a:rPr>
              <a:t>answers from memory — no source to check</a:t>
            </a:r>
            <a:endParaRPr lang="en-US" sz="1100" dirty="0"/>
          </a:p>
        </p:txBody>
      </p:sp>
      <p:sp>
        <p:nvSpPr>
          <p:cNvPr id="7" name="Shape 5"/>
          <p:cNvSpPr/>
          <p:nvPr/>
        </p:nvSpPr>
        <p:spPr>
          <a:xfrm>
            <a:off x="566928" y="2432304"/>
            <a:ext cx="3381146" cy="914400"/>
          </a:xfrm>
          <a:prstGeom prst="roundRect">
            <a:avLst>
              <a:gd name="adj" fmla="val 10000"/>
            </a:avLst>
          </a:prstGeom>
          <a:solidFill>
            <a:srgbClr val="EFF4F3"/>
          </a:solidFill>
          <a:ln w="15875">
            <a:solidFill>
              <a:srgbClr val="CFDEDB"/>
            </a:solidFill>
            <a:prstDash val="solid"/>
          </a:ln>
        </p:spPr>
        <p:txBody>
          <a:bodyPr/>
          <a:lstStyle/>
          <a:p>
            <a:endParaRPr dirty="0"/>
          </a:p>
        </p:txBody>
      </p:sp>
      <p:sp>
        <p:nvSpPr>
          <p:cNvPr id="8" name="Text 6"/>
          <p:cNvSpPr txBox="1"/>
          <p:nvPr/>
        </p:nvSpPr>
        <p:spPr>
          <a:xfrm>
            <a:off x="658368" y="2432304"/>
            <a:ext cx="3198266" cy="914400"/>
          </a:xfrm>
          <a:prstGeom prst="rect">
            <a:avLst/>
          </a:prstGeom>
          <a:noFill/>
          <a:ln/>
        </p:spPr>
        <p:txBody>
          <a:bodyPr wrap="square" lIns="0" tIns="0" rIns="0" bIns="0" rtlCol="0" anchor="ctr"/>
          <a:lstStyle/>
          <a:p>
            <a:pPr marL="0" indent="0" algn="ctr">
              <a:buNone/>
            </a:pPr>
            <a:r>
              <a:rPr lang="en-US" sz="1300" b="1" dirty="0">
                <a:solidFill>
                  <a:srgbClr val="5F7271"/>
                </a:solidFill>
                <a:latin typeface="Calibri" pitchFamily="34" charset="0"/>
                <a:ea typeface="Calibri" pitchFamily="34" charset="-122"/>
                <a:cs typeface="Calibri" pitchFamily="34" charset="-120"/>
              </a:rPr>
              <a:t>Question</a:t>
            </a:r>
            <a:endParaRPr lang="en-US" sz="1300" dirty="0"/>
          </a:p>
        </p:txBody>
      </p:sp>
      <p:sp>
        <p:nvSpPr>
          <p:cNvPr id="9" name="Shape 7"/>
          <p:cNvSpPr/>
          <p:nvPr/>
        </p:nvSpPr>
        <p:spPr>
          <a:xfrm>
            <a:off x="4039514" y="2752344"/>
            <a:ext cx="274320" cy="274320"/>
          </a:xfrm>
          <a:prstGeom prst="rightArrow">
            <a:avLst/>
          </a:prstGeom>
          <a:solidFill>
            <a:srgbClr val="CFDEDB"/>
          </a:solidFill>
          <a:ln w="12700">
            <a:solidFill>
              <a:srgbClr val="CFDEDB"/>
            </a:solidFill>
            <a:prstDash val="solid"/>
          </a:ln>
        </p:spPr>
        <p:txBody>
          <a:bodyPr/>
          <a:lstStyle/>
          <a:p>
            <a:endParaRPr dirty="0"/>
          </a:p>
        </p:txBody>
      </p:sp>
      <p:sp>
        <p:nvSpPr>
          <p:cNvPr id="10" name="Shape 8"/>
          <p:cNvSpPr/>
          <p:nvPr/>
        </p:nvSpPr>
        <p:spPr>
          <a:xfrm>
            <a:off x="4405274" y="2432304"/>
            <a:ext cx="3381146" cy="914400"/>
          </a:xfrm>
          <a:prstGeom prst="roundRect">
            <a:avLst>
              <a:gd name="adj" fmla="val 10000"/>
            </a:avLst>
          </a:prstGeom>
          <a:solidFill>
            <a:srgbClr val="EFF4F3"/>
          </a:solidFill>
          <a:ln w="15875">
            <a:solidFill>
              <a:srgbClr val="CFDEDB"/>
            </a:solidFill>
            <a:prstDash val="solid"/>
          </a:ln>
        </p:spPr>
        <p:txBody>
          <a:bodyPr/>
          <a:lstStyle/>
          <a:p>
            <a:endParaRPr dirty="0"/>
          </a:p>
        </p:txBody>
      </p:sp>
      <p:sp>
        <p:nvSpPr>
          <p:cNvPr id="11" name="Text 9"/>
          <p:cNvSpPr txBox="1"/>
          <p:nvPr/>
        </p:nvSpPr>
        <p:spPr>
          <a:xfrm>
            <a:off x="4496714" y="2432304"/>
            <a:ext cx="3198266" cy="914400"/>
          </a:xfrm>
          <a:prstGeom prst="rect">
            <a:avLst/>
          </a:prstGeom>
          <a:noFill/>
          <a:ln/>
        </p:spPr>
        <p:txBody>
          <a:bodyPr wrap="square" lIns="0" tIns="0" rIns="0" bIns="0" rtlCol="0" anchor="ctr"/>
          <a:lstStyle/>
          <a:p>
            <a:pPr marL="0" indent="0" algn="ctr">
              <a:buNone/>
            </a:pPr>
            <a:r>
              <a:rPr lang="en-US" sz="1300" b="1" dirty="0">
                <a:solidFill>
                  <a:srgbClr val="5F7271"/>
                </a:solidFill>
                <a:latin typeface="Calibri" pitchFamily="34" charset="0"/>
                <a:ea typeface="Calibri" pitchFamily="34" charset="-122"/>
                <a:cs typeface="Calibri" pitchFamily="34" charset="-120"/>
              </a:rPr>
              <a:t>LLM</a:t>
            </a:r>
            <a:endParaRPr lang="en-US" sz="1300" dirty="0"/>
          </a:p>
        </p:txBody>
      </p:sp>
      <p:sp>
        <p:nvSpPr>
          <p:cNvPr id="12" name="Shape 10"/>
          <p:cNvSpPr/>
          <p:nvPr/>
        </p:nvSpPr>
        <p:spPr>
          <a:xfrm>
            <a:off x="7877861" y="2752344"/>
            <a:ext cx="274320" cy="274320"/>
          </a:xfrm>
          <a:prstGeom prst="rightArrow">
            <a:avLst/>
          </a:prstGeom>
          <a:solidFill>
            <a:srgbClr val="CFDEDB"/>
          </a:solidFill>
          <a:ln w="12700">
            <a:solidFill>
              <a:srgbClr val="CFDEDB"/>
            </a:solidFill>
            <a:prstDash val="solid"/>
          </a:ln>
        </p:spPr>
        <p:txBody>
          <a:bodyPr/>
          <a:lstStyle/>
          <a:p>
            <a:endParaRPr dirty="0"/>
          </a:p>
        </p:txBody>
      </p:sp>
      <p:sp>
        <p:nvSpPr>
          <p:cNvPr id="13" name="Shape 11"/>
          <p:cNvSpPr/>
          <p:nvPr/>
        </p:nvSpPr>
        <p:spPr>
          <a:xfrm>
            <a:off x="8243621" y="2432304"/>
            <a:ext cx="3381146" cy="914400"/>
          </a:xfrm>
          <a:prstGeom prst="roundRect">
            <a:avLst>
              <a:gd name="adj" fmla="val 10000"/>
            </a:avLst>
          </a:prstGeom>
          <a:solidFill>
            <a:srgbClr val="EFF4F3"/>
          </a:solidFill>
          <a:ln w="15875">
            <a:solidFill>
              <a:srgbClr val="CFDEDB"/>
            </a:solidFill>
            <a:prstDash val="solid"/>
          </a:ln>
        </p:spPr>
        <p:txBody>
          <a:bodyPr/>
          <a:lstStyle/>
          <a:p>
            <a:endParaRPr dirty="0"/>
          </a:p>
        </p:txBody>
      </p:sp>
      <p:sp>
        <p:nvSpPr>
          <p:cNvPr id="14" name="Text 12"/>
          <p:cNvSpPr txBox="1"/>
          <p:nvPr/>
        </p:nvSpPr>
        <p:spPr>
          <a:xfrm>
            <a:off x="8335061" y="2432304"/>
            <a:ext cx="3198266" cy="914400"/>
          </a:xfrm>
          <a:prstGeom prst="rect">
            <a:avLst/>
          </a:prstGeom>
          <a:noFill/>
          <a:ln/>
        </p:spPr>
        <p:txBody>
          <a:bodyPr wrap="square" lIns="0" tIns="0" rIns="0" bIns="0" rtlCol="0" anchor="ctr"/>
          <a:lstStyle/>
          <a:p>
            <a:pPr marL="0" indent="0" algn="ctr">
              <a:buNone/>
            </a:pPr>
            <a:r>
              <a:rPr lang="en-US" sz="1300" b="1" dirty="0">
                <a:solidFill>
                  <a:srgbClr val="5F7271"/>
                </a:solidFill>
                <a:latin typeface="Calibri" pitchFamily="34" charset="0"/>
                <a:ea typeface="Calibri" pitchFamily="34" charset="-122"/>
                <a:cs typeface="Calibri" pitchFamily="34" charset="-120"/>
              </a:rPr>
              <a:t>Answer</a:t>
            </a:r>
            <a:endParaRPr lang="en-US" sz="1300" dirty="0"/>
          </a:p>
        </p:txBody>
      </p:sp>
      <p:sp>
        <p:nvSpPr>
          <p:cNvPr id="15" name="Text 13"/>
          <p:cNvSpPr txBox="1"/>
          <p:nvPr/>
        </p:nvSpPr>
        <p:spPr>
          <a:xfrm>
            <a:off x="566928" y="3639312"/>
            <a:ext cx="4572000" cy="274320"/>
          </a:xfrm>
          <a:prstGeom prst="rect">
            <a:avLst/>
          </a:prstGeom>
          <a:noFill/>
          <a:ln/>
        </p:spPr>
        <p:txBody>
          <a:bodyPr wrap="square" lIns="0" tIns="0" rIns="0" bIns="0" rtlCol="0" anchor="ctr"/>
          <a:lstStyle/>
          <a:p>
            <a:pPr marL="0" indent="0">
              <a:buNone/>
            </a:pPr>
            <a:r>
              <a:rPr lang="en-US" sz="1200" b="1" kern="0" spc="120" dirty="0">
                <a:solidFill>
                  <a:srgbClr val="1C7C7C"/>
                </a:solidFill>
                <a:latin typeface="Calibri" pitchFamily="34" charset="0"/>
                <a:ea typeface="Calibri" pitchFamily="34" charset="-122"/>
                <a:cs typeface="Calibri" pitchFamily="34" charset="-120"/>
              </a:rPr>
              <a:t>OUR RAG APPROACH</a:t>
            </a:r>
            <a:endParaRPr lang="en-US" sz="1200" dirty="0"/>
          </a:p>
        </p:txBody>
      </p:sp>
      <p:sp>
        <p:nvSpPr>
          <p:cNvPr id="16" name="Text 14"/>
          <p:cNvSpPr txBox="1"/>
          <p:nvPr/>
        </p:nvSpPr>
        <p:spPr>
          <a:xfrm>
            <a:off x="3493008" y="3639312"/>
            <a:ext cx="8131759" cy="274320"/>
          </a:xfrm>
          <a:prstGeom prst="rect">
            <a:avLst/>
          </a:prstGeom>
          <a:noFill/>
          <a:ln/>
        </p:spPr>
        <p:txBody>
          <a:bodyPr wrap="square" lIns="0" tIns="0" rIns="0" bIns="0" rtlCol="0" anchor="ctr"/>
          <a:lstStyle/>
          <a:p>
            <a:pPr marL="0" indent="0" algn="r">
              <a:buNone/>
            </a:pPr>
            <a:r>
              <a:rPr lang="en-US" sz="1100" dirty="0">
                <a:solidFill>
                  <a:srgbClr val="5F7271"/>
                </a:solidFill>
                <a:latin typeface="Calibri" pitchFamily="34" charset="0"/>
                <a:ea typeface="Calibri" pitchFamily="34" charset="-122"/>
                <a:cs typeface="Calibri" pitchFamily="34" charset="-120"/>
              </a:rPr>
              <a:t>answers from the documents — every claim traceable</a:t>
            </a:r>
            <a:endParaRPr lang="en-US" sz="1100" dirty="0"/>
          </a:p>
        </p:txBody>
      </p:sp>
      <p:sp>
        <p:nvSpPr>
          <p:cNvPr id="17" name="Shape 15"/>
          <p:cNvSpPr/>
          <p:nvPr/>
        </p:nvSpPr>
        <p:spPr>
          <a:xfrm>
            <a:off x="566928" y="4005072"/>
            <a:ext cx="2421560" cy="914400"/>
          </a:xfrm>
          <a:prstGeom prst="roundRect">
            <a:avLst>
              <a:gd name="adj" fmla="val 10000"/>
            </a:avLst>
          </a:prstGeom>
          <a:solidFill>
            <a:srgbClr val="FFFFFF"/>
          </a:solidFill>
          <a:ln w="15875">
            <a:solidFill>
              <a:srgbClr val="1C7C7C"/>
            </a:solidFill>
            <a:prstDash val="solid"/>
          </a:ln>
        </p:spPr>
        <p:txBody>
          <a:bodyPr/>
          <a:lstStyle/>
          <a:p>
            <a:endParaRPr dirty="0"/>
          </a:p>
        </p:txBody>
      </p:sp>
      <p:sp>
        <p:nvSpPr>
          <p:cNvPr id="18" name="Text 16"/>
          <p:cNvSpPr txBox="1"/>
          <p:nvPr/>
        </p:nvSpPr>
        <p:spPr>
          <a:xfrm>
            <a:off x="658368" y="4005072"/>
            <a:ext cx="2238680" cy="914400"/>
          </a:xfrm>
          <a:prstGeom prst="rect">
            <a:avLst/>
          </a:prstGeom>
          <a:noFill/>
          <a:ln/>
        </p:spPr>
        <p:txBody>
          <a:bodyPr wrap="square" lIns="0" tIns="0" rIns="0" bIns="0" rtlCol="0" anchor="ctr"/>
          <a:lstStyle/>
          <a:p>
            <a:pPr marL="0" indent="0" algn="ctr">
              <a:buNone/>
            </a:pPr>
            <a:r>
              <a:rPr lang="en-US" sz="1300" b="1" dirty="0">
                <a:solidFill>
                  <a:srgbClr val="172B2B"/>
                </a:solidFill>
                <a:latin typeface="Calibri" pitchFamily="34" charset="0"/>
                <a:ea typeface="Calibri" pitchFamily="34" charset="-122"/>
                <a:cs typeface="Calibri" pitchFamily="34" charset="-120"/>
              </a:rPr>
              <a:t>Question</a:t>
            </a:r>
            <a:endParaRPr lang="en-US" sz="1300" dirty="0"/>
          </a:p>
        </p:txBody>
      </p:sp>
      <p:sp>
        <p:nvSpPr>
          <p:cNvPr id="19" name="Shape 17"/>
          <p:cNvSpPr/>
          <p:nvPr/>
        </p:nvSpPr>
        <p:spPr>
          <a:xfrm>
            <a:off x="3079928" y="4325112"/>
            <a:ext cx="274320" cy="274320"/>
          </a:xfrm>
          <a:prstGeom prst="rightArrow">
            <a:avLst/>
          </a:prstGeom>
          <a:solidFill>
            <a:srgbClr val="5AA39C"/>
          </a:solidFill>
          <a:ln w="12700">
            <a:solidFill>
              <a:srgbClr val="5AA39C"/>
            </a:solidFill>
            <a:prstDash val="solid"/>
          </a:ln>
        </p:spPr>
        <p:txBody>
          <a:bodyPr/>
          <a:lstStyle/>
          <a:p>
            <a:endParaRPr dirty="0"/>
          </a:p>
        </p:txBody>
      </p:sp>
      <p:sp>
        <p:nvSpPr>
          <p:cNvPr id="20" name="Shape 18"/>
          <p:cNvSpPr/>
          <p:nvPr/>
        </p:nvSpPr>
        <p:spPr>
          <a:xfrm>
            <a:off x="3445688" y="4005072"/>
            <a:ext cx="2421560" cy="914400"/>
          </a:xfrm>
          <a:prstGeom prst="roundRect">
            <a:avLst>
              <a:gd name="adj" fmla="val 10000"/>
            </a:avLst>
          </a:prstGeom>
          <a:solidFill>
            <a:srgbClr val="FFFFFF"/>
          </a:solidFill>
          <a:ln w="15875">
            <a:solidFill>
              <a:srgbClr val="1C7C7C"/>
            </a:solidFill>
            <a:prstDash val="solid"/>
          </a:ln>
        </p:spPr>
        <p:txBody>
          <a:bodyPr/>
          <a:lstStyle/>
          <a:p>
            <a:endParaRPr dirty="0"/>
          </a:p>
        </p:txBody>
      </p:sp>
      <p:sp>
        <p:nvSpPr>
          <p:cNvPr id="21" name="Text 19"/>
          <p:cNvSpPr txBox="1"/>
          <p:nvPr/>
        </p:nvSpPr>
        <p:spPr>
          <a:xfrm>
            <a:off x="3537128" y="4005072"/>
            <a:ext cx="2238680" cy="914400"/>
          </a:xfrm>
          <a:prstGeom prst="rect">
            <a:avLst/>
          </a:prstGeom>
          <a:noFill/>
          <a:ln/>
        </p:spPr>
        <p:txBody>
          <a:bodyPr wrap="square" lIns="0" tIns="0" rIns="0" bIns="0" rtlCol="0" anchor="ctr"/>
          <a:lstStyle/>
          <a:p>
            <a:pPr marL="0" indent="0" algn="ctr">
              <a:buNone/>
            </a:pPr>
            <a:r>
              <a:rPr lang="en-US" sz="1300" b="1" dirty="0">
                <a:solidFill>
                  <a:srgbClr val="172B2B"/>
                </a:solidFill>
                <a:latin typeface="Calibri" pitchFamily="34" charset="0"/>
                <a:ea typeface="Calibri" pitchFamily="34" charset="-122"/>
                <a:cs typeface="Calibri" pitchFamily="34" charset="-120"/>
              </a:rPr>
              <a:t>Retrieve Relevant Content</a:t>
            </a:r>
            <a:endParaRPr lang="en-US" sz="1300" dirty="0"/>
          </a:p>
        </p:txBody>
      </p:sp>
      <p:sp>
        <p:nvSpPr>
          <p:cNvPr id="22" name="Shape 20"/>
          <p:cNvSpPr/>
          <p:nvPr/>
        </p:nvSpPr>
        <p:spPr>
          <a:xfrm>
            <a:off x="5958688" y="4325112"/>
            <a:ext cx="274320" cy="274320"/>
          </a:xfrm>
          <a:prstGeom prst="rightArrow">
            <a:avLst/>
          </a:prstGeom>
          <a:solidFill>
            <a:srgbClr val="5AA39C"/>
          </a:solidFill>
          <a:ln w="12700">
            <a:solidFill>
              <a:srgbClr val="5AA39C"/>
            </a:solidFill>
            <a:prstDash val="solid"/>
          </a:ln>
        </p:spPr>
        <p:txBody>
          <a:bodyPr/>
          <a:lstStyle/>
          <a:p>
            <a:endParaRPr dirty="0"/>
          </a:p>
        </p:txBody>
      </p:sp>
      <p:sp>
        <p:nvSpPr>
          <p:cNvPr id="23" name="Shape 21"/>
          <p:cNvSpPr/>
          <p:nvPr/>
        </p:nvSpPr>
        <p:spPr>
          <a:xfrm>
            <a:off x="6324448" y="4005072"/>
            <a:ext cx="2421560" cy="914400"/>
          </a:xfrm>
          <a:prstGeom prst="roundRect">
            <a:avLst>
              <a:gd name="adj" fmla="val 10000"/>
            </a:avLst>
          </a:prstGeom>
          <a:solidFill>
            <a:srgbClr val="FFFFFF"/>
          </a:solidFill>
          <a:ln w="15875">
            <a:solidFill>
              <a:srgbClr val="1C7C7C"/>
            </a:solidFill>
            <a:prstDash val="solid"/>
          </a:ln>
        </p:spPr>
        <p:txBody>
          <a:bodyPr/>
          <a:lstStyle/>
          <a:p>
            <a:endParaRPr dirty="0"/>
          </a:p>
        </p:txBody>
      </p:sp>
      <p:sp>
        <p:nvSpPr>
          <p:cNvPr id="24" name="Text 22"/>
          <p:cNvSpPr txBox="1"/>
          <p:nvPr/>
        </p:nvSpPr>
        <p:spPr>
          <a:xfrm>
            <a:off x="6415888" y="4005072"/>
            <a:ext cx="2238680" cy="914400"/>
          </a:xfrm>
          <a:prstGeom prst="rect">
            <a:avLst/>
          </a:prstGeom>
          <a:noFill/>
          <a:ln/>
        </p:spPr>
        <p:txBody>
          <a:bodyPr wrap="square" lIns="0" tIns="0" rIns="0" bIns="0" rtlCol="0" anchor="ctr"/>
          <a:lstStyle/>
          <a:p>
            <a:pPr marL="0" indent="0" algn="ctr">
              <a:buNone/>
            </a:pPr>
            <a:r>
              <a:rPr lang="en-US" sz="1300" b="1" dirty="0">
                <a:solidFill>
                  <a:srgbClr val="172B2B"/>
                </a:solidFill>
                <a:latin typeface="Calibri" pitchFamily="34" charset="0"/>
                <a:ea typeface="Calibri" pitchFamily="34" charset="-122"/>
                <a:cs typeface="Calibri" pitchFamily="34" charset="-120"/>
              </a:rPr>
              <a:t>LLM</a:t>
            </a:r>
            <a:endParaRPr lang="en-US" sz="1300" dirty="0"/>
          </a:p>
        </p:txBody>
      </p:sp>
      <p:sp>
        <p:nvSpPr>
          <p:cNvPr id="25" name="Shape 23"/>
          <p:cNvSpPr/>
          <p:nvPr/>
        </p:nvSpPr>
        <p:spPr>
          <a:xfrm>
            <a:off x="8837447" y="4325112"/>
            <a:ext cx="274320" cy="274320"/>
          </a:xfrm>
          <a:prstGeom prst="rightArrow">
            <a:avLst/>
          </a:prstGeom>
          <a:solidFill>
            <a:srgbClr val="5AA39C"/>
          </a:solidFill>
          <a:ln w="12700">
            <a:solidFill>
              <a:srgbClr val="5AA39C"/>
            </a:solidFill>
            <a:prstDash val="solid"/>
          </a:ln>
        </p:spPr>
        <p:txBody>
          <a:bodyPr/>
          <a:lstStyle/>
          <a:p>
            <a:endParaRPr dirty="0"/>
          </a:p>
        </p:txBody>
      </p:sp>
      <p:sp>
        <p:nvSpPr>
          <p:cNvPr id="26" name="Shape 24"/>
          <p:cNvSpPr/>
          <p:nvPr/>
        </p:nvSpPr>
        <p:spPr>
          <a:xfrm>
            <a:off x="9203207" y="4005072"/>
            <a:ext cx="2421560" cy="914400"/>
          </a:xfrm>
          <a:prstGeom prst="roundRect">
            <a:avLst>
              <a:gd name="adj" fmla="val 10000"/>
            </a:avLst>
          </a:prstGeom>
          <a:solidFill>
            <a:srgbClr val="12545A"/>
          </a:solidFill>
          <a:ln w="15875">
            <a:solidFill>
              <a:srgbClr val="12545A"/>
            </a:solidFill>
            <a:prstDash val="solid"/>
          </a:ln>
        </p:spPr>
        <p:txBody>
          <a:bodyPr/>
          <a:lstStyle/>
          <a:p>
            <a:endParaRPr dirty="0"/>
          </a:p>
        </p:txBody>
      </p:sp>
      <p:sp>
        <p:nvSpPr>
          <p:cNvPr id="27" name="Text 25"/>
          <p:cNvSpPr txBox="1"/>
          <p:nvPr/>
        </p:nvSpPr>
        <p:spPr>
          <a:xfrm>
            <a:off x="9294647" y="4005072"/>
            <a:ext cx="2238680" cy="91440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Grounded Answer</a:t>
            </a:r>
            <a:endParaRPr lang="en-US" sz="1300" dirty="0"/>
          </a:p>
        </p:txBody>
      </p:sp>
      <p:sp>
        <p:nvSpPr>
          <p:cNvPr id="28" name="Shape 26"/>
          <p:cNvSpPr/>
          <p:nvPr/>
        </p:nvSpPr>
        <p:spPr>
          <a:xfrm>
            <a:off x="566928" y="5230368"/>
            <a:ext cx="11057839" cy="1097280"/>
          </a:xfrm>
          <a:prstGeom prst="roundRect">
            <a:avLst>
              <a:gd name="adj" fmla="val 10000"/>
            </a:avLst>
          </a:prstGeom>
          <a:solidFill>
            <a:srgbClr val="0E2F30"/>
          </a:solidFill>
          <a:ln w="12700">
            <a:solidFill>
              <a:srgbClr val="0E2F30"/>
            </a:solidFill>
            <a:prstDash val="solid"/>
          </a:ln>
        </p:spPr>
        <p:txBody>
          <a:bodyPr/>
          <a:lstStyle/>
          <a:p>
            <a:endParaRPr dirty="0"/>
          </a:p>
        </p:txBody>
      </p:sp>
      <p:sp>
        <p:nvSpPr>
          <p:cNvPr id="29" name="Shape 27"/>
          <p:cNvSpPr/>
          <p:nvPr/>
        </p:nvSpPr>
        <p:spPr>
          <a:xfrm>
            <a:off x="896112" y="5541264"/>
            <a:ext cx="475488" cy="475488"/>
          </a:xfrm>
          <a:prstGeom prst="ellipse">
            <a:avLst/>
          </a:prstGeom>
          <a:solidFill>
            <a:srgbClr val="E8A33D"/>
          </a:solidFill>
          <a:ln w="12700">
            <a:solidFill>
              <a:srgbClr val="E8A33D"/>
            </a:solidFill>
            <a:prstDash val="solid"/>
          </a:ln>
        </p:spPr>
        <p:txBody>
          <a:bodyPr/>
          <a:lstStyle/>
          <a:p>
            <a:endParaRPr dirty="0"/>
          </a:p>
        </p:txBody>
      </p:sp>
      <p:pic>
        <p:nvPicPr>
          <p:cNvPr id="30" name="Image 0" descr="preencoded.png"/>
          <p:cNvPicPr>
            <a:picLocks noChangeAspect="1"/>
          </p:cNvPicPr>
          <p:nvPr/>
        </p:nvPicPr>
        <p:blipFill>
          <a:blip r:embed="rId3"/>
          <a:stretch>
            <a:fillRect/>
          </a:stretch>
        </p:blipFill>
        <p:spPr>
          <a:xfrm>
            <a:off x="1019739" y="5664891"/>
            <a:ext cx="228234" cy="228234"/>
          </a:xfrm>
          <a:prstGeom prst="rect">
            <a:avLst/>
          </a:prstGeom>
        </p:spPr>
      </p:pic>
      <p:sp>
        <p:nvSpPr>
          <p:cNvPr id="31" name="Text 28"/>
          <p:cNvSpPr txBox="1"/>
          <p:nvPr/>
        </p:nvSpPr>
        <p:spPr>
          <a:xfrm>
            <a:off x="1517904" y="5376672"/>
            <a:ext cx="9741103" cy="804672"/>
          </a:xfrm>
          <a:prstGeom prst="rect">
            <a:avLst/>
          </a:prstGeom>
          <a:noFill/>
          <a:ln/>
        </p:spPr>
        <p:txBody>
          <a:bodyPr wrap="square" lIns="0" tIns="0" rIns="0" bIns="0" rtlCol="0" anchor="ctr"/>
          <a:lstStyle/>
          <a:p>
            <a:pPr marL="0" indent="0">
              <a:lnSpc>
                <a:spcPts val="2100"/>
              </a:lnSpc>
              <a:buNone/>
            </a:pPr>
            <a:r>
              <a:rPr lang="en-US" sz="1450" b="1" dirty="0">
                <a:solidFill>
                  <a:srgbClr val="E8A33D"/>
                </a:solidFill>
                <a:latin typeface="Calibri" pitchFamily="34" charset="0"/>
                <a:ea typeface="Calibri" pitchFamily="34" charset="-122"/>
                <a:cs typeface="Calibri" pitchFamily="34" charset="-120"/>
              </a:rPr>
              <a:t>Main benefit: </a:t>
            </a:r>
            <a:r>
              <a:rPr lang="en-US" sz="1450" dirty="0">
                <a:solidFill>
                  <a:srgbClr val="FFFFFF"/>
                </a:solidFill>
                <a:latin typeface="Calibri" pitchFamily="34" charset="0"/>
                <a:ea typeface="Calibri" pitchFamily="34" charset="-122"/>
                <a:cs typeface="Calibri" pitchFamily="34" charset="-120"/>
              </a:rPr>
              <a:t>the answer is generated from information retrieved out of the provided documents, so every claim can be checked against the exact page it came from.</a:t>
            </a:r>
            <a:endParaRPr lang="en-US" sz="14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219456"/>
            <a:ext cx="11057839" cy="237744"/>
          </a:xfrm>
          <a:prstGeom prst="rect">
            <a:avLst/>
          </a:prstGeom>
          <a:noFill/>
          <a:ln/>
        </p:spPr>
        <p:txBody>
          <a:bodyPr wrap="square" lIns="0" tIns="0" rIns="0" bIns="0" rtlCol="0" anchor="ctr"/>
          <a:lstStyle/>
          <a:p>
            <a:pPr marL="0" indent="0">
              <a:buNone/>
            </a:pPr>
            <a:r>
              <a:rPr lang="en-US" sz="1150" b="1" kern="0" spc="160" dirty="0">
                <a:solidFill>
                  <a:srgbClr val="1C7C7C"/>
                </a:solidFill>
                <a:latin typeface="Calibri" pitchFamily="34" charset="0"/>
                <a:ea typeface="Calibri" pitchFamily="34" charset="-122"/>
                <a:cs typeface="Calibri" pitchFamily="34" charset="-120"/>
              </a:rPr>
              <a:t>SYSTEM METHODOLOGY</a:t>
            </a:r>
            <a:endParaRPr lang="en-US" sz="1150" dirty="0"/>
          </a:p>
        </p:txBody>
      </p:sp>
      <p:sp>
        <p:nvSpPr>
          <p:cNvPr id="3" name="Text 1"/>
          <p:cNvSpPr txBox="1"/>
          <p:nvPr/>
        </p:nvSpPr>
        <p:spPr>
          <a:xfrm>
            <a:off x="566928" y="384048"/>
            <a:ext cx="11057839" cy="658368"/>
          </a:xfrm>
          <a:prstGeom prst="rect">
            <a:avLst/>
          </a:prstGeom>
          <a:noFill/>
          <a:ln/>
        </p:spPr>
        <p:txBody>
          <a:bodyPr wrap="square" lIns="0" tIns="0" rIns="0" bIns="0" rtlCol="0" anchor="ctr"/>
          <a:lstStyle/>
          <a:p>
            <a:pPr marL="0" indent="0">
              <a:buNone/>
            </a:pPr>
            <a:r>
              <a:rPr lang="en-US" sz="3400" b="1" dirty="0">
                <a:solidFill>
                  <a:srgbClr val="172B2B"/>
                </a:solidFill>
                <a:latin typeface="Cambria" pitchFamily="34" charset="0"/>
                <a:ea typeface="Cambria" pitchFamily="34" charset="-122"/>
                <a:cs typeface="Cambria" pitchFamily="34" charset="-120"/>
              </a:rPr>
              <a:t>How the system will work</a:t>
            </a:r>
            <a:endParaRPr lang="en-US" sz="3400" dirty="0"/>
          </a:p>
        </p:txBody>
      </p:sp>
      <p:sp>
        <p:nvSpPr>
          <p:cNvPr id="4" name="Text 2"/>
          <p:cNvSpPr txBox="1"/>
          <p:nvPr/>
        </p:nvSpPr>
        <p:spPr>
          <a:xfrm>
            <a:off x="566928" y="1280160"/>
            <a:ext cx="5486400" cy="256032"/>
          </a:xfrm>
          <a:prstGeom prst="rect">
            <a:avLst/>
          </a:prstGeom>
          <a:noFill/>
          <a:ln/>
        </p:spPr>
        <p:txBody>
          <a:bodyPr wrap="square" lIns="0" tIns="0" rIns="0" bIns="0" rtlCol="0" anchor="ctr"/>
          <a:lstStyle/>
          <a:p>
            <a:pPr marL="0" indent="0">
              <a:buNone/>
            </a:pPr>
            <a:r>
              <a:rPr lang="en-US" sz="1150" b="1" kern="0" spc="140" dirty="0">
                <a:solidFill>
                  <a:srgbClr val="1C7C7C"/>
                </a:solidFill>
                <a:latin typeface="Calibri" pitchFamily="34" charset="0"/>
                <a:ea typeface="Calibri" pitchFamily="34" charset="-122"/>
                <a:cs typeface="Calibri" pitchFamily="34" charset="-120"/>
              </a:rPr>
              <a:t>DOCUMENT PROCESSING PIPELINE</a:t>
            </a:r>
            <a:endParaRPr lang="en-US" sz="1150" dirty="0"/>
          </a:p>
        </p:txBody>
      </p:sp>
      <p:sp>
        <p:nvSpPr>
          <p:cNvPr id="5" name="Shape 3"/>
          <p:cNvSpPr/>
          <p:nvPr/>
        </p:nvSpPr>
        <p:spPr>
          <a:xfrm>
            <a:off x="566928" y="1645920"/>
            <a:ext cx="1948221" cy="1207008"/>
          </a:xfrm>
          <a:prstGeom prst="roundRect">
            <a:avLst>
              <a:gd name="adj" fmla="val 7576"/>
            </a:avLst>
          </a:prstGeom>
          <a:solidFill>
            <a:srgbClr val="FFFFFF"/>
          </a:solidFill>
          <a:ln w="15875">
            <a:solidFill>
              <a:srgbClr val="1C7C7C"/>
            </a:solidFill>
            <a:prstDash val="solid"/>
          </a:ln>
          <a:effectLst>
            <a:outerShdw blurRad="101600" dist="19050" dir="5400000" algn="bl" rotWithShape="0">
              <a:srgbClr val="0E2F30">
                <a:alpha val="10000"/>
              </a:srgbClr>
            </a:outerShdw>
          </a:effectLst>
        </p:spPr>
        <p:txBody>
          <a:bodyPr/>
          <a:lstStyle/>
          <a:p>
            <a:endParaRPr dirty="0"/>
          </a:p>
        </p:txBody>
      </p:sp>
      <p:sp>
        <p:nvSpPr>
          <p:cNvPr id="6" name="Text 4"/>
          <p:cNvSpPr txBox="1"/>
          <p:nvPr/>
        </p:nvSpPr>
        <p:spPr>
          <a:xfrm>
            <a:off x="676656" y="2212848"/>
            <a:ext cx="1728765" cy="548640"/>
          </a:xfrm>
          <a:prstGeom prst="rect">
            <a:avLst/>
          </a:prstGeom>
          <a:noFill/>
          <a:ln/>
        </p:spPr>
        <p:txBody>
          <a:bodyPr wrap="square" lIns="0" tIns="0" rIns="0" bIns="0" rtlCol="0" anchor="t"/>
          <a:lstStyle/>
          <a:p>
            <a:pPr marL="0" indent="0" algn="ctr">
              <a:lnSpc>
                <a:spcPts val="1500"/>
              </a:lnSpc>
              <a:buNone/>
            </a:pPr>
            <a:r>
              <a:rPr lang="en-US" sz="1200" b="1" dirty="0">
                <a:solidFill>
                  <a:srgbClr val="172B2B"/>
                </a:solidFill>
                <a:latin typeface="Calibri" pitchFamily="34" charset="0"/>
                <a:ea typeface="Calibri" pitchFamily="34" charset="-122"/>
                <a:cs typeface="Calibri" pitchFamily="34" charset="-120"/>
              </a:rPr>
              <a:t>Multiple</a:t>
            </a:r>
            <a:endParaRPr lang="en-US" sz="1200" dirty="0"/>
          </a:p>
          <a:p>
            <a:pPr marL="0" indent="0" algn="ctr">
              <a:lnSpc>
                <a:spcPts val="1500"/>
              </a:lnSpc>
              <a:buNone/>
            </a:pPr>
            <a:r>
              <a:rPr lang="en-US" sz="1200" b="1" dirty="0">
                <a:solidFill>
                  <a:srgbClr val="172B2B"/>
                </a:solidFill>
                <a:latin typeface="Calibri" pitchFamily="34" charset="0"/>
                <a:ea typeface="Calibri" pitchFamily="34" charset="-122"/>
                <a:cs typeface="Calibri" pitchFamily="34" charset="-120"/>
              </a:rPr>
              <a:t>Documents</a:t>
            </a:r>
            <a:endParaRPr lang="en-US" sz="1200" dirty="0"/>
          </a:p>
        </p:txBody>
      </p:sp>
      <p:sp>
        <p:nvSpPr>
          <p:cNvPr id="7" name="Shape 5"/>
          <p:cNvSpPr/>
          <p:nvPr/>
        </p:nvSpPr>
        <p:spPr>
          <a:xfrm>
            <a:off x="2560869" y="2130552"/>
            <a:ext cx="237744" cy="237744"/>
          </a:xfrm>
          <a:prstGeom prst="rightArrow">
            <a:avLst/>
          </a:prstGeom>
          <a:solidFill>
            <a:srgbClr val="5AA39C"/>
          </a:solidFill>
          <a:ln w="12700">
            <a:solidFill>
              <a:srgbClr val="5AA39C"/>
            </a:solidFill>
            <a:prstDash val="solid"/>
          </a:ln>
        </p:spPr>
        <p:txBody>
          <a:bodyPr/>
          <a:lstStyle/>
          <a:p>
            <a:endParaRPr dirty="0"/>
          </a:p>
        </p:txBody>
      </p:sp>
      <p:sp>
        <p:nvSpPr>
          <p:cNvPr id="8" name="Shape 6"/>
          <p:cNvSpPr/>
          <p:nvPr/>
        </p:nvSpPr>
        <p:spPr>
          <a:xfrm>
            <a:off x="2844333" y="1645920"/>
            <a:ext cx="1948221" cy="1207008"/>
          </a:xfrm>
          <a:prstGeom prst="roundRect">
            <a:avLst>
              <a:gd name="adj" fmla="val 7576"/>
            </a:avLst>
          </a:prstGeom>
          <a:solidFill>
            <a:srgbClr val="FFFFFF"/>
          </a:solidFill>
          <a:ln w="15875">
            <a:solidFill>
              <a:srgbClr val="1C7C7C"/>
            </a:solidFill>
            <a:prstDash val="solid"/>
          </a:ln>
          <a:effectLst>
            <a:outerShdw blurRad="101600" dist="19050" dir="5400000" algn="bl" rotWithShape="0">
              <a:srgbClr val="0E2F30">
                <a:alpha val="10000"/>
              </a:srgbClr>
            </a:outerShdw>
          </a:effectLst>
        </p:spPr>
        <p:txBody>
          <a:bodyPr/>
          <a:lstStyle/>
          <a:p>
            <a:endParaRPr dirty="0"/>
          </a:p>
        </p:txBody>
      </p:sp>
      <p:sp>
        <p:nvSpPr>
          <p:cNvPr id="9" name="Text 7"/>
          <p:cNvSpPr txBox="1"/>
          <p:nvPr/>
        </p:nvSpPr>
        <p:spPr>
          <a:xfrm>
            <a:off x="2954061" y="2212848"/>
            <a:ext cx="1728765" cy="548640"/>
          </a:xfrm>
          <a:prstGeom prst="rect">
            <a:avLst/>
          </a:prstGeom>
          <a:noFill/>
          <a:ln/>
        </p:spPr>
        <p:txBody>
          <a:bodyPr wrap="square" lIns="0" tIns="0" rIns="0" bIns="0" rtlCol="0" anchor="t"/>
          <a:lstStyle/>
          <a:p>
            <a:pPr marL="0" indent="0" algn="ctr">
              <a:lnSpc>
                <a:spcPts val="1500"/>
              </a:lnSpc>
              <a:buNone/>
            </a:pPr>
            <a:r>
              <a:rPr lang="en-US" sz="1200" b="1" dirty="0">
                <a:solidFill>
                  <a:srgbClr val="172B2B"/>
                </a:solidFill>
                <a:latin typeface="Calibri" pitchFamily="34" charset="0"/>
                <a:ea typeface="Calibri" pitchFamily="34" charset="-122"/>
                <a:cs typeface="Calibri" pitchFamily="34" charset="-120"/>
              </a:rPr>
              <a:t>Text</a:t>
            </a:r>
            <a:endParaRPr lang="en-US" sz="1200" dirty="0"/>
          </a:p>
          <a:p>
            <a:pPr marL="0" indent="0" algn="ctr">
              <a:lnSpc>
                <a:spcPts val="1500"/>
              </a:lnSpc>
              <a:buNone/>
            </a:pPr>
            <a:r>
              <a:rPr lang="en-US" sz="1200" b="1" dirty="0">
                <a:solidFill>
                  <a:srgbClr val="172B2B"/>
                </a:solidFill>
                <a:latin typeface="Calibri" pitchFamily="34" charset="0"/>
                <a:ea typeface="Calibri" pitchFamily="34" charset="-122"/>
                <a:cs typeface="Calibri" pitchFamily="34" charset="-120"/>
              </a:rPr>
              <a:t>Extraction</a:t>
            </a:r>
            <a:endParaRPr lang="en-US" sz="1200" dirty="0"/>
          </a:p>
        </p:txBody>
      </p:sp>
      <p:sp>
        <p:nvSpPr>
          <p:cNvPr id="10" name="Shape 8"/>
          <p:cNvSpPr/>
          <p:nvPr/>
        </p:nvSpPr>
        <p:spPr>
          <a:xfrm>
            <a:off x="4838273" y="2130552"/>
            <a:ext cx="237744" cy="237744"/>
          </a:xfrm>
          <a:prstGeom prst="rightArrow">
            <a:avLst/>
          </a:prstGeom>
          <a:solidFill>
            <a:srgbClr val="5AA39C"/>
          </a:solidFill>
          <a:ln w="12700">
            <a:solidFill>
              <a:srgbClr val="5AA39C"/>
            </a:solidFill>
            <a:prstDash val="solid"/>
          </a:ln>
        </p:spPr>
        <p:txBody>
          <a:bodyPr/>
          <a:lstStyle/>
          <a:p>
            <a:endParaRPr dirty="0"/>
          </a:p>
        </p:txBody>
      </p:sp>
      <p:sp>
        <p:nvSpPr>
          <p:cNvPr id="11" name="Shape 9"/>
          <p:cNvSpPr/>
          <p:nvPr/>
        </p:nvSpPr>
        <p:spPr>
          <a:xfrm>
            <a:off x="5121737" y="1645920"/>
            <a:ext cx="1948221" cy="1207008"/>
          </a:xfrm>
          <a:prstGeom prst="roundRect">
            <a:avLst>
              <a:gd name="adj" fmla="val 7576"/>
            </a:avLst>
          </a:prstGeom>
          <a:solidFill>
            <a:srgbClr val="FFFFFF"/>
          </a:solidFill>
          <a:ln w="15875">
            <a:solidFill>
              <a:srgbClr val="1C7C7C"/>
            </a:solidFill>
            <a:prstDash val="solid"/>
          </a:ln>
          <a:effectLst>
            <a:outerShdw blurRad="101600" dist="19050" dir="5400000" algn="bl" rotWithShape="0">
              <a:srgbClr val="0E2F30">
                <a:alpha val="10000"/>
              </a:srgbClr>
            </a:outerShdw>
          </a:effectLst>
        </p:spPr>
        <p:txBody>
          <a:bodyPr/>
          <a:lstStyle/>
          <a:p>
            <a:endParaRPr dirty="0"/>
          </a:p>
        </p:txBody>
      </p:sp>
      <p:sp>
        <p:nvSpPr>
          <p:cNvPr id="12" name="Text 10"/>
          <p:cNvSpPr txBox="1"/>
          <p:nvPr/>
        </p:nvSpPr>
        <p:spPr>
          <a:xfrm>
            <a:off x="5231465" y="2212848"/>
            <a:ext cx="1728765" cy="548640"/>
          </a:xfrm>
          <a:prstGeom prst="rect">
            <a:avLst/>
          </a:prstGeom>
          <a:noFill/>
          <a:ln/>
        </p:spPr>
        <p:txBody>
          <a:bodyPr wrap="square" lIns="0" tIns="0" rIns="0" bIns="0" rtlCol="0" anchor="t"/>
          <a:lstStyle/>
          <a:p>
            <a:pPr marL="0" indent="0" algn="ctr">
              <a:lnSpc>
                <a:spcPts val="1500"/>
              </a:lnSpc>
              <a:buNone/>
            </a:pPr>
            <a:r>
              <a:rPr lang="en-US" sz="1200" b="1" dirty="0">
                <a:solidFill>
                  <a:srgbClr val="172B2B"/>
                </a:solidFill>
                <a:latin typeface="Calibri" pitchFamily="34" charset="0"/>
                <a:ea typeface="Calibri" pitchFamily="34" charset="-122"/>
                <a:cs typeface="Calibri" pitchFamily="34" charset="-120"/>
              </a:rPr>
              <a:t>Text</a:t>
            </a:r>
            <a:endParaRPr lang="en-US" sz="1200" dirty="0"/>
          </a:p>
          <a:p>
            <a:pPr marL="0" indent="0" algn="ctr">
              <a:lnSpc>
                <a:spcPts val="1500"/>
              </a:lnSpc>
              <a:buNone/>
            </a:pPr>
            <a:r>
              <a:rPr lang="en-US" sz="1200" b="1" dirty="0">
                <a:solidFill>
                  <a:srgbClr val="172B2B"/>
                </a:solidFill>
                <a:latin typeface="Calibri" pitchFamily="34" charset="0"/>
                <a:ea typeface="Calibri" pitchFamily="34" charset="-122"/>
                <a:cs typeface="Calibri" pitchFamily="34" charset="-120"/>
              </a:rPr>
              <a:t>Chunking</a:t>
            </a:r>
            <a:endParaRPr lang="en-US" sz="1200" dirty="0"/>
          </a:p>
        </p:txBody>
      </p:sp>
      <p:sp>
        <p:nvSpPr>
          <p:cNvPr id="13" name="Shape 11"/>
          <p:cNvSpPr/>
          <p:nvPr/>
        </p:nvSpPr>
        <p:spPr>
          <a:xfrm>
            <a:off x="7115678" y="2130552"/>
            <a:ext cx="237744" cy="237744"/>
          </a:xfrm>
          <a:prstGeom prst="rightArrow">
            <a:avLst/>
          </a:prstGeom>
          <a:solidFill>
            <a:srgbClr val="5AA39C"/>
          </a:solidFill>
          <a:ln w="12700">
            <a:solidFill>
              <a:srgbClr val="5AA39C"/>
            </a:solidFill>
            <a:prstDash val="solid"/>
          </a:ln>
        </p:spPr>
        <p:txBody>
          <a:bodyPr/>
          <a:lstStyle/>
          <a:p>
            <a:endParaRPr dirty="0"/>
          </a:p>
        </p:txBody>
      </p:sp>
      <p:sp>
        <p:nvSpPr>
          <p:cNvPr id="14" name="Shape 12"/>
          <p:cNvSpPr/>
          <p:nvPr/>
        </p:nvSpPr>
        <p:spPr>
          <a:xfrm>
            <a:off x="7399142" y="1645920"/>
            <a:ext cx="1948221" cy="1207008"/>
          </a:xfrm>
          <a:prstGeom prst="roundRect">
            <a:avLst>
              <a:gd name="adj" fmla="val 7576"/>
            </a:avLst>
          </a:prstGeom>
          <a:solidFill>
            <a:srgbClr val="FFFFFF"/>
          </a:solidFill>
          <a:ln w="15875">
            <a:solidFill>
              <a:srgbClr val="1C7C7C"/>
            </a:solidFill>
            <a:prstDash val="solid"/>
          </a:ln>
          <a:effectLst>
            <a:outerShdw blurRad="101600" dist="19050" dir="5400000" algn="bl" rotWithShape="0">
              <a:srgbClr val="0E2F30">
                <a:alpha val="10000"/>
              </a:srgbClr>
            </a:outerShdw>
          </a:effectLst>
        </p:spPr>
        <p:txBody>
          <a:bodyPr/>
          <a:lstStyle/>
          <a:p>
            <a:endParaRPr dirty="0"/>
          </a:p>
        </p:txBody>
      </p:sp>
      <p:sp>
        <p:nvSpPr>
          <p:cNvPr id="15" name="Text 13"/>
          <p:cNvSpPr txBox="1"/>
          <p:nvPr/>
        </p:nvSpPr>
        <p:spPr>
          <a:xfrm>
            <a:off x="7508870" y="2212848"/>
            <a:ext cx="1728765" cy="548640"/>
          </a:xfrm>
          <a:prstGeom prst="rect">
            <a:avLst/>
          </a:prstGeom>
          <a:noFill/>
          <a:ln/>
        </p:spPr>
        <p:txBody>
          <a:bodyPr wrap="square" lIns="0" tIns="0" rIns="0" bIns="0" rtlCol="0" anchor="t"/>
          <a:lstStyle/>
          <a:p>
            <a:pPr marL="0" indent="0" algn="ctr">
              <a:lnSpc>
                <a:spcPts val="1500"/>
              </a:lnSpc>
              <a:buNone/>
            </a:pPr>
            <a:r>
              <a:rPr lang="en-US" sz="1200" b="1" dirty="0">
                <a:solidFill>
                  <a:srgbClr val="172B2B"/>
                </a:solidFill>
                <a:latin typeface="Calibri" pitchFamily="34" charset="0"/>
                <a:ea typeface="Calibri" pitchFamily="34" charset="-122"/>
                <a:cs typeface="Calibri" pitchFamily="34" charset="-120"/>
              </a:rPr>
              <a:t>Embedding</a:t>
            </a:r>
            <a:endParaRPr lang="en-US" sz="1200" dirty="0"/>
          </a:p>
          <a:p>
            <a:pPr marL="0" indent="0" algn="ctr">
              <a:lnSpc>
                <a:spcPts val="1500"/>
              </a:lnSpc>
              <a:buNone/>
            </a:pPr>
            <a:r>
              <a:rPr lang="en-US" sz="1200" b="1" dirty="0">
                <a:solidFill>
                  <a:srgbClr val="172B2B"/>
                </a:solidFill>
                <a:latin typeface="Calibri" pitchFamily="34" charset="0"/>
                <a:ea typeface="Calibri" pitchFamily="34" charset="-122"/>
                <a:cs typeface="Calibri" pitchFamily="34" charset="-120"/>
              </a:rPr>
              <a:t>Generation</a:t>
            </a:r>
            <a:endParaRPr lang="en-US" sz="1200" dirty="0"/>
          </a:p>
        </p:txBody>
      </p:sp>
      <p:sp>
        <p:nvSpPr>
          <p:cNvPr id="16" name="Shape 14"/>
          <p:cNvSpPr/>
          <p:nvPr/>
        </p:nvSpPr>
        <p:spPr>
          <a:xfrm>
            <a:off x="9393083" y="2130552"/>
            <a:ext cx="237744" cy="237744"/>
          </a:xfrm>
          <a:prstGeom prst="rightArrow">
            <a:avLst/>
          </a:prstGeom>
          <a:solidFill>
            <a:srgbClr val="5AA39C"/>
          </a:solidFill>
          <a:ln w="12700">
            <a:solidFill>
              <a:srgbClr val="5AA39C"/>
            </a:solidFill>
            <a:prstDash val="solid"/>
          </a:ln>
        </p:spPr>
        <p:txBody>
          <a:bodyPr/>
          <a:lstStyle/>
          <a:p>
            <a:endParaRPr dirty="0"/>
          </a:p>
        </p:txBody>
      </p:sp>
      <p:sp>
        <p:nvSpPr>
          <p:cNvPr id="17" name="Shape 15"/>
          <p:cNvSpPr/>
          <p:nvPr/>
        </p:nvSpPr>
        <p:spPr>
          <a:xfrm>
            <a:off x="9676547" y="1645920"/>
            <a:ext cx="1948221" cy="1207008"/>
          </a:xfrm>
          <a:prstGeom prst="roundRect">
            <a:avLst>
              <a:gd name="adj" fmla="val 7576"/>
            </a:avLst>
          </a:prstGeom>
          <a:solidFill>
            <a:srgbClr val="FFFFFF"/>
          </a:solidFill>
          <a:ln w="15875">
            <a:solidFill>
              <a:srgbClr val="1C7C7C"/>
            </a:solidFill>
            <a:prstDash val="solid"/>
          </a:ln>
          <a:effectLst>
            <a:outerShdw blurRad="101600" dist="19050" dir="5400000" algn="bl" rotWithShape="0">
              <a:srgbClr val="0E2F30">
                <a:alpha val="10000"/>
              </a:srgbClr>
            </a:outerShdw>
          </a:effectLst>
        </p:spPr>
        <p:txBody>
          <a:bodyPr/>
          <a:lstStyle/>
          <a:p>
            <a:endParaRPr dirty="0"/>
          </a:p>
        </p:txBody>
      </p:sp>
      <p:sp>
        <p:nvSpPr>
          <p:cNvPr id="18" name="Text 16"/>
          <p:cNvSpPr txBox="1"/>
          <p:nvPr/>
        </p:nvSpPr>
        <p:spPr>
          <a:xfrm>
            <a:off x="9786275" y="2212848"/>
            <a:ext cx="1728765" cy="548640"/>
          </a:xfrm>
          <a:prstGeom prst="rect">
            <a:avLst/>
          </a:prstGeom>
          <a:noFill/>
          <a:ln/>
        </p:spPr>
        <p:txBody>
          <a:bodyPr wrap="square" lIns="0" tIns="0" rIns="0" bIns="0" rtlCol="0" anchor="t"/>
          <a:lstStyle/>
          <a:p>
            <a:pPr marL="0" indent="0" algn="ctr">
              <a:lnSpc>
                <a:spcPts val="1500"/>
              </a:lnSpc>
              <a:buNone/>
            </a:pPr>
            <a:r>
              <a:rPr lang="en-US" sz="1200" b="1" dirty="0">
                <a:solidFill>
                  <a:srgbClr val="172B2B"/>
                </a:solidFill>
                <a:latin typeface="Calibri" pitchFamily="34" charset="0"/>
                <a:ea typeface="Calibri" pitchFamily="34" charset="-122"/>
                <a:cs typeface="Calibri" pitchFamily="34" charset="-120"/>
              </a:rPr>
              <a:t>Vector</a:t>
            </a:r>
            <a:endParaRPr lang="en-US" sz="1200" dirty="0"/>
          </a:p>
          <a:p>
            <a:pPr marL="0" indent="0" algn="ctr">
              <a:lnSpc>
                <a:spcPts val="1500"/>
              </a:lnSpc>
              <a:buNone/>
            </a:pPr>
            <a:r>
              <a:rPr lang="en-US" sz="1200" b="1" dirty="0">
                <a:solidFill>
                  <a:srgbClr val="172B2B"/>
                </a:solidFill>
                <a:latin typeface="Calibri" pitchFamily="34" charset="0"/>
                <a:ea typeface="Calibri" pitchFamily="34" charset="-122"/>
                <a:cs typeface="Calibri" pitchFamily="34" charset="-120"/>
              </a:rPr>
              <a:t>Database</a:t>
            </a:r>
            <a:endParaRPr lang="en-US" sz="1200" dirty="0"/>
          </a:p>
        </p:txBody>
      </p:sp>
      <p:pic>
        <p:nvPicPr>
          <p:cNvPr id="19" name="Image 0" descr="preencoded.png"/>
          <p:cNvPicPr>
            <a:picLocks noChangeAspect="1"/>
          </p:cNvPicPr>
          <p:nvPr/>
        </p:nvPicPr>
        <p:blipFill>
          <a:blip r:embed="rId3"/>
          <a:stretch>
            <a:fillRect/>
          </a:stretch>
        </p:blipFill>
        <p:spPr>
          <a:xfrm>
            <a:off x="1403878" y="1920240"/>
            <a:ext cx="274320" cy="274320"/>
          </a:xfrm>
          <a:prstGeom prst="rect">
            <a:avLst/>
          </a:prstGeom>
        </p:spPr>
      </p:pic>
      <p:pic>
        <p:nvPicPr>
          <p:cNvPr id="20" name="Image 1" descr="preencoded.png"/>
          <p:cNvPicPr>
            <a:picLocks noChangeAspect="1"/>
          </p:cNvPicPr>
          <p:nvPr/>
        </p:nvPicPr>
        <p:blipFill>
          <a:blip r:embed="rId4"/>
          <a:stretch>
            <a:fillRect/>
          </a:stretch>
        </p:blipFill>
        <p:spPr>
          <a:xfrm>
            <a:off x="3681283" y="1920240"/>
            <a:ext cx="274320" cy="274320"/>
          </a:xfrm>
          <a:prstGeom prst="rect">
            <a:avLst/>
          </a:prstGeom>
        </p:spPr>
      </p:pic>
      <p:pic>
        <p:nvPicPr>
          <p:cNvPr id="21" name="Image 2" descr="preencoded.png"/>
          <p:cNvPicPr>
            <a:picLocks noChangeAspect="1"/>
          </p:cNvPicPr>
          <p:nvPr/>
        </p:nvPicPr>
        <p:blipFill>
          <a:blip r:embed="rId5"/>
          <a:stretch>
            <a:fillRect/>
          </a:stretch>
        </p:blipFill>
        <p:spPr>
          <a:xfrm>
            <a:off x="5958688" y="1920240"/>
            <a:ext cx="274320" cy="274320"/>
          </a:xfrm>
          <a:prstGeom prst="rect">
            <a:avLst/>
          </a:prstGeom>
        </p:spPr>
      </p:pic>
      <p:pic>
        <p:nvPicPr>
          <p:cNvPr id="22" name="Image 3" descr="preencoded.png"/>
          <p:cNvPicPr>
            <a:picLocks noChangeAspect="1"/>
          </p:cNvPicPr>
          <p:nvPr/>
        </p:nvPicPr>
        <p:blipFill>
          <a:blip r:embed="rId6"/>
          <a:stretch>
            <a:fillRect/>
          </a:stretch>
        </p:blipFill>
        <p:spPr>
          <a:xfrm>
            <a:off x="8236092" y="1920240"/>
            <a:ext cx="274320" cy="274320"/>
          </a:xfrm>
          <a:prstGeom prst="rect">
            <a:avLst/>
          </a:prstGeom>
        </p:spPr>
      </p:pic>
      <p:pic>
        <p:nvPicPr>
          <p:cNvPr id="23" name="Image 4" descr="preencoded.png"/>
          <p:cNvPicPr>
            <a:picLocks noChangeAspect="1"/>
          </p:cNvPicPr>
          <p:nvPr/>
        </p:nvPicPr>
        <p:blipFill>
          <a:blip r:embed="rId7"/>
          <a:stretch>
            <a:fillRect/>
          </a:stretch>
        </p:blipFill>
        <p:spPr>
          <a:xfrm>
            <a:off x="10513497" y="1920240"/>
            <a:ext cx="274320" cy="274320"/>
          </a:xfrm>
          <a:prstGeom prst="rect">
            <a:avLst/>
          </a:prstGeom>
        </p:spPr>
      </p:pic>
      <p:sp>
        <p:nvSpPr>
          <p:cNvPr id="24" name="Text 17"/>
          <p:cNvSpPr txBox="1"/>
          <p:nvPr/>
        </p:nvSpPr>
        <p:spPr>
          <a:xfrm>
            <a:off x="566928" y="3675888"/>
            <a:ext cx="5486400" cy="256032"/>
          </a:xfrm>
          <a:prstGeom prst="rect">
            <a:avLst/>
          </a:prstGeom>
          <a:noFill/>
          <a:ln/>
        </p:spPr>
        <p:txBody>
          <a:bodyPr wrap="square" lIns="0" tIns="0" rIns="0" bIns="0" rtlCol="0" anchor="ctr"/>
          <a:lstStyle/>
          <a:p>
            <a:pPr marL="0" indent="0">
              <a:buNone/>
            </a:pPr>
            <a:r>
              <a:rPr lang="en-US" sz="1150" b="1" kern="0" spc="140" dirty="0">
                <a:solidFill>
                  <a:srgbClr val="9E6A18"/>
                </a:solidFill>
                <a:latin typeface="Calibri" pitchFamily="34" charset="0"/>
                <a:ea typeface="Calibri" pitchFamily="34" charset="-122"/>
                <a:cs typeface="Calibri" pitchFamily="34" charset="-120"/>
              </a:rPr>
              <a:t>QUESTION ANSWERING PIPELINE</a:t>
            </a:r>
            <a:endParaRPr lang="en-US" sz="1150" dirty="0"/>
          </a:p>
        </p:txBody>
      </p:sp>
      <p:sp>
        <p:nvSpPr>
          <p:cNvPr id="25" name="Shape 18"/>
          <p:cNvSpPr/>
          <p:nvPr/>
        </p:nvSpPr>
        <p:spPr>
          <a:xfrm>
            <a:off x="566928" y="4041648"/>
            <a:ext cx="2517572" cy="1207008"/>
          </a:xfrm>
          <a:prstGeom prst="roundRect">
            <a:avLst>
              <a:gd name="adj" fmla="val 7576"/>
            </a:avLst>
          </a:prstGeom>
          <a:solidFill>
            <a:srgbClr val="FFFFFF"/>
          </a:solidFill>
          <a:ln w="15875">
            <a:solidFill>
              <a:srgbClr val="1C7C7C"/>
            </a:solidFill>
            <a:prstDash val="solid"/>
          </a:ln>
          <a:effectLst>
            <a:outerShdw blurRad="101600" dist="19050" dir="5400000" algn="bl" rotWithShape="0">
              <a:srgbClr val="0E2F30">
                <a:alpha val="10000"/>
              </a:srgbClr>
            </a:outerShdw>
          </a:effectLst>
        </p:spPr>
        <p:txBody>
          <a:bodyPr/>
          <a:lstStyle/>
          <a:p>
            <a:endParaRPr dirty="0"/>
          </a:p>
        </p:txBody>
      </p:sp>
      <p:sp>
        <p:nvSpPr>
          <p:cNvPr id="26" name="Text 19"/>
          <p:cNvSpPr txBox="1"/>
          <p:nvPr/>
        </p:nvSpPr>
        <p:spPr>
          <a:xfrm>
            <a:off x="676656" y="4608576"/>
            <a:ext cx="2298116" cy="548640"/>
          </a:xfrm>
          <a:prstGeom prst="rect">
            <a:avLst/>
          </a:prstGeom>
          <a:noFill/>
          <a:ln/>
        </p:spPr>
        <p:txBody>
          <a:bodyPr wrap="square" lIns="0" tIns="0" rIns="0" bIns="0" rtlCol="0" anchor="t"/>
          <a:lstStyle/>
          <a:p>
            <a:pPr marL="0" indent="0" algn="ctr">
              <a:lnSpc>
                <a:spcPts val="1500"/>
              </a:lnSpc>
              <a:buNone/>
            </a:pPr>
            <a:r>
              <a:rPr lang="en-US" sz="1200" b="1" dirty="0">
                <a:solidFill>
                  <a:srgbClr val="172B2B"/>
                </a:solidFill>
                <a:latin typeface="Calibri" pitchFamily="34" charset="0"/>
                <a:ea typeface="Calibri" pitchFamily="34" charset="-122"/>
                <a:cs typeface="Calibri" pitchFamily="34" charset="-120"/>
              </a:rPr>
              <a:t>User</a:t>
            </a:r>
            <a:endParaRPr lang="en-US" sz="1200" dirty="0"/>
          </a:p>
          <a:p>
            <a:pPr marL="0" indent="0" algn="ctr">
              <a:lnSpc>
                <a:spcPts val="1500"/>
              </a:lnSpc>
              <a:buNone/>
            </a:pPr>
            <a:r>
              <a:rPr lang="en-US" sz="1200" b="1" dirty="0">
                <a:solidFill>
                  <a:srgbClr val="172B2B"/>
                </a:solidFill>
                <a:latin typeface="Calibri" pitchFamily="34" charset="0"/>
                <a:ea typeface="Calibri" pitchFamily="34" charset="-122"/>
                <a:cs typeface="Calibri" pitchFamily="34" charset="-120"/>
              </a:rPr>
              <a:t>Question</a:t>
            </a:r>
            <a:endParaRPr lang="en-US" sz="1200" dirty="0"/>
          </a:p>
        </p:txBody>
      </p:sp>
      <p:sp>
        <p:nvSpPr>
          <p:cNvPr id="27" name="Shape 20"/>
          <p:cNvSpPr/>
          <p:nvPr/>
        </p:nvSpPr>
        <p:spPr>
          <a:xfrm>
            <a:off x="3130220" y="4526280"/>
            <a:ext cx="237744" cy="237744"/>
          </a:xfrm>
          <a:prstGeom prst="rightArrow">
            <a:avLst/>
          </a:prstGeom>
          <a:solidFill>
            <a:srgbClr val="5AA39C"/>
          </a:solidFill>
          <a:ln w="12700">
            <a:solidFill>
              <a:srgbClr val="5AA39C"/>
            </a:solidFill>
            <a:prstDash val="solid"/>
          </a:ln>
        </p:spPr>
        <p:txBody>
          <a:bodyPr/>
          <a:lstStyle/>
          <a:p>
            <a:endParaRPr dirty="0"/>
          </a:p>
        </p:txBody>
      </p:sp>
      <p:sp>
        <p:nvSpPr>
          <p:cNvPr id="28" name="Shape 21"/>
          <p:cNvSpPr/>
          <p:nvPr/>
        </p:nvSpPr>
        <p:spPr>
          <a:xfrm>
            <a:off x="3413684" y="4041648"/>
            <a:ext cx="2517572" cy="1207008"/>
          </a:xfrm>
          <a:prstGeom prst="roundRect">
            <a:avLst>
              <a:gd name="adj" fmla="val 7576"/>
            </a:avLst>
          </a:prstGeom>
          <a:solidFill>
            <a:srgbClr val="FFFFFF"/>
          </a:solidFill>
          <a:ln w="15875">
            <a:solidFill>
              <a:srgbClr val="1C7C7C"/>
            </a:solidFill>
            <a:prstDash val="solid"/>
          </a:ln>
          <a:effectLst>
            <a:outerShdw blurRad="101600" dist="19050" dir="5400000" algn="bl" rotWithShape="0">
              <a:srgbClr val="0E2F30">
                <a:alpha val="10000"/>
              </a:srgbClr>
            </a:outerShdw>
          </a:effectLst>
        </p:spPr>
        <p:txBody>
          <a:bodyPr/>
          <a:lstStyle/>
          <a:p>
            <a:endParaRPr dirty="0"/>
          </a:p>
        </p:txBody>
      </p:sp>
      <p:sp>
        <p:nvSpPr>
          <p:cNvPr id="29" name="Text 22"/>
          <p:cNvSpPr txBox="1"/>
          <p:nvPr/>
        </p:nvSpPr>
        <p:spPr>
          <a:xfrm>
            <a:off x="3523412" y="4608576"/>
            <a:ext cx="2298116" cy="548640"/>
          </a:xfrm>
          <a:prstGeom prst="rect">
            <a:avLst/>
          </a:prstGeom>
          <a:noFill/>
          <a:ln/>
        </p:spPr>
        <p:txBody>
          <a:bodyPr wrap="square" lIns="0" tIns="0" rIns="0" bIns="0" rtlCol="0" anchor="t"/>
          <a:lstStyle/>
          <a:p>
            <a:pPr marL="0" indent="0" algn="ctr">
              <a:lnSpc>
                <a:spcPts val="1500"/>
              </a:lnSpc>
              <a:buNone/>
            </a:pPr>
            <a:r>
              <a:rPr lang="en-US" sz="1200" b="1" dirty="0">
                <a:solidFill>
                  <a:srgbClr val="172B2B"/>
                </a:solidFill>
                <a:latin typeface="Calibri" pitchFamily="34" charset="0"/>
                <a:ea typeface="Calibri" pitchFamily="34" charset="-122"/>
                <a:cs typeface="Calibri" pitchFamily="34" charset="-120"/>
              </a:rPr>
              <a:t>Similarity Search</a:t>
            </a:r>
            <a:endParaRPr lang="en-US" sz="1200" dirty="0"/>
          </a:p>
          <a:p>
            <a:pPr marL="0" indent="0" algn="ctr">
              <a:lnSpc>
                <a:spcPts val="1500"/>
              </a:lnSpc>
              <a:buNone/>
            </a:pPr>
            <a:r>
              <a:rPr lang="en-US" sz="1200" b="1" dirty="0">
                <a:solidFill>
                  <a:srgbClr val="172B2B"/>
                </a:solidFill>
                <a:latin typeface="Calibri" pitchFamily="34" charset="0"/>
                <a:ea typeface="Calibri" pitchFamily="34" charset="-122"/>
                <a:cs typeface="Calibri" pitchFamily="34" charset="-120"/>
              </a:rPr>
              <a:t>&amp; Retrieval</a:t>
            </a:r>
            <a:endParaRPr lang="en-US" sz="1200" dirty="0"/>
          </a:p>
        </p:txBody>
      </p:sp>
      <p:sp>
        <p:nvSpPr>
          <p:cNvPr id="30" name="Shape 23"/>
          <p:cNvSpPr/>
          <p:nvPr/>
        </p:nvSpPr>
        <p:spPr>
          <a:xfrm>
            <a:off x="5976976" y="4526280"/>
            <a:ext cx="237744" cy="237744"/>
          </a:xfrm>
          <a:prstGeom prst="rightArrow">
            <a:avLst/>
          </a:prstGeom>
          <a:solidFill>
            <a:srgbClr val="5AA39C"/>
          </a:solidFill>
          <a:ln w="12700">
            <a:solidFill>
              <a:srgbClr val="5AA39C"/>
            </a:solidFill>
            <a:prstDash val="solid"/>
          </a:ln>
        </p:spPr>
        <p:txBody>
          <a:bodyPr/>
          <a:lstStyle/>
          <a:p>
            <a:endParaRPr dirty="0"/>
          </a:p>
        </p:txBody>
      </p:sp>
      <p:sp>
        <p:nvSpPr>
          <p:cNvPr id="31" name="Shape 24"/>
          <p:cNvSpPr/>
          <p:nvPr/>
        </p:nvSpPr>
        <p:spPr>
          <a:xfrm>
            <a:off x="6260440" y="4041648"/>
            <a:ext cx="2517572" cy="1207008"/>
          </a:xfrm>
          <a:prstGeom prst="roundRect">
            <a:avLst>
              <a:gd name="adj" fmla="val 7576"/>
            </a:avLst>
          </a:prstGeom>
          <a:solidFill>
            <a:srgbClr val="FFFFFF"/>
          </a:solidFill>
          <a:ln w="15875">
            <a:solidFill>
              <a:srgbClr val="1C7C7C"/>
            </a:solidFill>
            <a:prstDash val="solid"/>
          </a:ln>
          <a:effectLst>
            <a:outerShdw blurRad="101600" dist="19050" dir="5400000" algn="bl" rotWithShape="0">
              <a:srgbClr val="0E2F30">
                <a:alpha val="10000"/>
              </a:srgbClr>
            </a:outerShdw>
          </a:effectLst>
        </p:spPr>
        <p:txBody>
          <a:bodyPr/>
          <a:lstStyle/>
          <a:p>
            <a:endParaRPr dirty="0"/>
          </a:p>
        </p:txBody>
      </p:sp>
      <p:sp>
        <p:nvSpPr>
          <p:cNvPr id="32" name="Text 25"/>
          <p:cNvSpPr txBox="1"/>
          <p:nvPr/>
        </p:nvSpPr>
        <p:spPr>
          <a:xfrm>
            <a:off x="6370168" y="4608576"/>
            <a:ext cx="2298116" cy="548640"/>
          </a:xfrm>
          <a:prstGeom prst="rect">
            <a:avLst/>
          </a:prstGeom>
          <a:noFill/>
          <a:ln/>
        </p:spPr>
        <p:txBody>
          <a:bodyPr wrap="square" lIns="0" tIns="0" rIns="0" bIns="0" rtlCol="0" anchor="t"/>
          <a:lstStyle/>
          <a:p>
            <a:pPr marL="0" indent="0" algn="ctr">
              <a:lnSpc>
                <a:spcPts val="1500"/>
              </a:lnSpc>
              <a:buNone/>
            </a:pPr>
            <a:r>
              <a:rPr lang="en-US" sz="1200" b="1" dirty="0">
                <a:solidFill>
                  <a:srgbClr val="172B2B"/>
                </a:solidFill>
                <a:latin typeface="Calibri" pitchFamily="34" charset="0"/>
                <a:ea typeface="Calibri" pitchFamily="34" charset="-122"/>
                <a:cs typeface="Calibri" pitchFamily="34" charset="-120"/>
              </a:rPr>
              <a:t>Relevant Context</a:t>
            </a:r>
            <a:endParaRPr lang="en-US" sz="1200" dirty="0"/>
          </a:p>
          <a:p>
            <a:pPr marL="0" indent="0" algn="ctr">
              <a:lnSpc>
                <a:spcPts val="1500"/>
              </a:lnSpc>
              <a:buNone/>
            </a:pPr>
            <a:r>
              <a:rPr lang="en-US" sz="1200" b="1" dirty="0">
                <a:solidFill>
                  <a:srgbClr val="172B2B"/>
                </a:solidFill>
                <a:latin typeface="Calibri" pitchFamily="34" charset="0"/>
                <a:ea typeface="Calibri" pitchFamily="34" charset="-122"/>
                <a:cs typeface="Calibri" pitchFamily="34" charset="-120"/>
              </a:rPr>
              <a:t>+ LLM</a:t>
            </a:r>
            <a:endParaRPr lang="en-US" sz="1200" dirty="0"/>
          </a:p>
        </p:txBody>
      </p:sp>
      <p:sp>
        <p:nvSpPr>
          <p:cNvPr id="33" name="Shape 26"/>
          <p:cNvSpPr/>
          <p:nvPr/>
        </p:nvSpPr>
        <p:spPr>
          <a:xfrm>
            <a:off x="8823731" y="4526280"/>
            <a:ext cx="237744" cy="237744"/>
          </a:xfrm>
          <a:prstGeom prst="rightArrow">
            <a:avLst/>
          </a:prstGeom>
          <a:solidFill>
            <a:srgbClr val="5AA39C"/>
          </a:solidFill>
          <a:ln w="12700">
            <a:solidFill>
              <a:srgbClr val="5AA39C"/>
            </a:solidFill>
            <a:prstDash val="solid"/>
          </a:ln>
        </p:spPr>
        <p:txBody>
          <a:bodyPr/>
          <a:lstStyle/>
          <a:p>
            <a:endParaRPr dirty="0"/>
          </a:p>
        </p:txBody>
      </p:sp>
      <p:sp>
        <p:nvSpPr>
          <p:cNvPr id="34" name="Shape 27"/>
          <p:cNvSpPr/>
          <p:nvPr/>
        </p:nvSpPr>
        <p:spPr>
          <a:xfrm>
            <a:off x="9107195" y="4041648"/>
            <a:ext cx="2517572" cy="1207008"/>
          </a:xfrm>
          <a:prstGeom prst="roundRect">
            <a:avLst>
              <a:gd name="adj" fmla="val 7576"/>
            </a:avLst>
          </a:prstGeom>
          <a:solidFill>
            <a:srgbClr val="FFFFFF"/>
          </a:solidFill>
          <a:ln w="15875">
            <a:solidFill>
              <a:srgbClr val="1C7C7C"/>
            </a:solidFill>
            <a:prstDash val="solid"/>
          </a:ln>
          <a:effectLst>
            <a:outerShdw blurRad="101600" dist="19050" dir="5400000" algn="bl" rotWithShape="0">
              <a:srgbClr val="0E2F30">
                <a:alpha val="10000"/>
              </a:srgbClr>
            </a:outerShdw>
          </a:effectLst>
        </p:spPr>
        <p:txBody>
          <a:bodyPr/>
          <a:lstStyle/>
          <a:p>
            <a:endParaRPr dirty="0"/>
          </a:p>
        </p:txBody>
      </p:sp>
      <p:sp>
        <p:nvSpPr>
          <p:cNvPr id="35" name="Text 28"/>
          <p:cNvSpPr txBox="1"/>
          <p:nvPr/>
        </p:nvSpPr>
        <p:spPr>
          <a:xfrm>
            <a:off x="9216923" y="4608576"/>
            <a:ext cx="2298116" cy="548640"/>
          </a:xfrm>
          <a:prstGeom prst="rect">
            <a:avLst/>
          </a:prstGeom>
          <a:noFill/>
          <a:ln/>
        </p:spPr>
        <p:txBody>
          <a:bodyPr wrap="square" lIns="0" tIns="0" rIns="0" bIns="0" rtlCol="0" anchor="t"/>
          <a:lstStyle/>
          <a:p>
            <a:pPr marL="0" indent="0" algn="ctr">
              <a:lnSpc>
                <a:spcPts val="1500"/>
              </a:lnSpc>
              <a:buNone/>
            </a:pPr>
            <a:r>
              <a:rPr lang="en-US" sz="1200" b="1" dirty="0">
                <a:solidFill>
                  <a:srgbClr val="172B2B"/>
                </a:solidFill>
                <a:latin typeface="Calibri" pitchFamily="34" charset="0"/>
                <a:ea typeface="Calibri" pitchFamily="34" charset="-122"/>
                <a:cs typeface="Calibri" pitchFamily="34" charset="-120"/>
              </a:rPr>
              <a:t>Answer with</a:t>
            </a:r>
            <a:endParaRPr lang="en-US" sz="1200" dirty="0"/>
          </a:p>
          <a:p>
            <a:pPr marL="0" indent="0" algn="ctr">
              <a:lnSpc>
                <a:spcPts val="1500"/>
              </a:lnSpc>
              <a:buNone/>
            </a:pPr>
            <a:r>
              <a:rPr lang="en-US" sz="1200" b="1" dirty="0">
                <a:solidFill>
                  <a:srgbClr val="172B2B"/>
                </a:solidFill>
                <a:latin typeface="Calibri" pitchFamily="34" charset="0"/>
                <a:ea typeface="Calibri" pitchFamily="34" charset="-122"/>
                <a:cs typeface="Calibri" pitchFamily="34" charset="-120"/>
              </a:rPr>
              <a:t>Citations</a:t>
            </a:r>
            <a:endParaRPr lang="en-US" sz="1200" dirty="0"/>
          </a:p>
        </p:txBody>
      </p:sp>
      <p:pic>
        <p:nvPicPr>
          <p:cNvPr id="36" name="Image 5" descr="preencoded.png"/>
          <p:cNvPicPr>
            <a:picLocks noChangeAspect="1"/>
          </p:cNvPicPr>
          <p:nvPr/>
        </p:nvPicPr>
        <p:blipFill>
          <a:blip r:embed="rId8"/>
          <a:stretch>
            <a:fillRect/>
          </a:stretch>
        </p:blipFill>
        <p:spPr>
          <a:xfrm>
            <a:off x="1688554" y="4315968"/>
            <a:ext cx="274320" cy="274320"/>
          </a:xfrm>
          <a:prstGeom prst="rect">
            <a:avLst/>
          </a:prstGeom>
        </p:spPr>
      </p:pic>
      <p:pic>
        <p:nvPicPr>
          <p:cNvPr id="37" name="Image 6" descr="preencoded.png"/>
          <p:cNvPicPr>
            <a:picLocks noChangeAspect="1"/>
          </p:cNvPicPr>
          <p:nvPr/>
        </p:nvPicPr>
        <p:blipFill>
          <a:blip r:embed="rId9"/>
          <a:stretch>
            <a:fillRect/>
          </a:stretch>
        </p:blipFill>
        <p:spPr>
          <a:xfrm>
            <a:off x="4535310" y="4315968"/>
            <a:ext cx="274320" cy="274320"/>
          </a:xfrm>
          <a:prstGeom prst="rect">
            <a:avLst/>
          </a:prstGeom>
        </p:spPr>
      </p:pic>
      <p:pic>
        <p:nvPicPr>
          <p:cNvPr id="38" name="Image 7" descr="preencoded.png"/>
          <p:cNvPicPr>
            <a:picLocks noChangeAspect="1"/>
          </p:cNvPicPr>
          <p:nvPr/>
        </p:nvPicPr>
        <p:blipFill>
          <a:blip r:embed="rId10"/>
          <a:stretch>
            <a:fillRect/>
          </a:stretch>
        </p:blipFill>
        <p:spPr>
          <a:xfrm>
            <a:off x="7382065" y="4315968"/>
            <a:ext cx="274320" cy="274320"/>
          </a:xfrm>
          <a:prstGeom prst="rect">
            <a:avLst/>
          </a:prstGeom>
        </p:spPr>
      </p:pic>
      <p:pic>
        <p:nvPicPr>
          <p:cNvPr id="39" name="Image 8" descr="preencoded.png"/>
          <p:cNvPicPr>
            <a:picLocks noChangeAspect="1"/>
          </p:cNvPicPr>
          <p:nvPr/>
        </p:nvPicPr>
        <p:blipFill>
          <a:blip r:embed="rId11"/>
          <a:stretch>
            <a:fillRect/>
          </a:stretch>
        </p:blipFill>
        <p:spPr>
          <a:xfrm>
            <a:off x="10228821" y="4315968"/>
            <a:ext cx="274320" cy="274320"/>
          </a:xfrm>
          <a:prstGeom prst="rect">
            <a:avLst/>
          </a:prstGeom>
        </p:spPr>
      </p:pic>
      <p:sp>
        <p:nvSpPr>
          <p:cNvPr id="40" name="Shape 29"/>
          <p:cNvSpPr/>
          <p:nvPr/>
        </p:nvSpPr>
        <p:spPr>
          <a:xfrm>
            <a:off x="10650657" y="2852928"/>
            <a:ext cx="0" cy="548640"/>
          </a:xfrm>
          <a:prstGeom prst="line">
            <a:avLst/>
          </a:prstGeom>
          <a:noFill/>
          <a:ln w="22225">
            <a:solidFill>
              <a:srgbClr val="E8A33D"/>
            </a:solidFill>
            <a:prstDash val="solid"/>
          </a:ln>
        </p:spPr>
        <p:txBody>
          <a:bodyPr/>
          <a:lstStyle/>
          <a:p>
            <a:endParaRPr dirty="0"/>
          </a:p>
        </p:txBody>
      </p:sp>
      <p:sp>
        <p:nvSpPr>
          <p:cNvPr id="41" name="Shape 30"/>
          <p:cNvSpPr/>
          <p:nvPr/>
        </p:nvSpPr>
        <p:spPr>
          <a:xfrm>
            <a:off x="4672470" y="3401568"/>
            <a:ext cx="5978187" cy="0"/>
          </a:xfrm>
          <a:prstGeom prst="line">
            <a:avLst/>
          </a:prstGeom>
          <a:noFill/>
          <a:ln w="22225">
            <a:solidFill>
              <a:srgbClr val="E8A33D"/>
            </a:solidFill>
            <a:prstDash val="solid"/>
          </a:ln>
        </p:spPr>
        <p:txBody>
          <a:bodyPr/>
          <a:lstStyle/>
          <a:p>
            <a:endParaRPr dirty="0"/>
          </a:p>
        </p:txBody>
      </p:sp>
      <p:sp>
        <p:nvSpPr>
          <p:cNvPr id="42" name="Shape 31"/>
          <p:cNvSpPr/>
          <p:nvPr/>
        </p:nvSpPr>
        <p:spPr>
          <a:xfrm>
            <a:off x="4672470" y="3401568"/>
            <a:ext cx="0" cy="640080"/>
          </a:xfrm>
          <a:prstGeom prst="line">
            <a:avLst/>
          </a:prstGeom>
          <a:noFill/>
          <a:ln w="22225">
            <a:solidFill>
              <a:srgbClr val="E8A33D"/>
            </a:solidFill>
            <a:prstDash val="solid"/>
            <a:tailEnd type="triangle"/>
          </a:ln>
        </p:spPr>
        <p:txBody>
          <a:bodyPr/>
          <a:lstStyle/>
          <a:p>
            <a:endParaRPr dirty="0"/>
          </a:p>
        </p:txBody>
      </p:sp>
      <p:sp>
        <p:nvSpPr>
          <p:cNvPr id="43" name="Text 32"/>
          <p:cNvSpPr txBox="1"/>
          <p:nvPr/>
        </p:nvSpPr>
        <p:spPr>
          <a:xfrm>
            <a:off x="4809630" y="3054096"/>
            <a:ext cx="5703867" cy="274320"/>
          </a:xfrm>
          <a:prstGeom prst="rect">
            <a:avLst/>
          </a:prstGeom>
          <a:noFill/>
          <a:ln/>
        </p:spPr>
        <p:txBody>
          <a:bodyPr wrap="square" lIns="0" tIns="0" rIns="0" bIns="0" rtlCol="0" anchor="ctr"/>
          <a:lstStyle/>
          <a:p>
            <a:pPr marL="0" indent="0" algn="ctr">
              <a:buNone/>
            </a:pPr>
            <a:r>
              <a:rPr lang="en-US" sz="1050" i="1" dirty="0">
                <a:solidFill>
                  <a:srgbClr val="9E6A18"/>
                </a:solidFill>
                <a:latin typeface="Calibri" pitchFamily="34" charset="0"/>
                <a:ea typeface="Calibri" pitchFamily="34" charset="-122"/>
                <a:cs typeface="Calibri" pitchFamily="34" charset="-120"/>
              </a:rPr>
              <a:t>the knowledge base built above is what every query searches</a:t>
            </a:r>
            <a:endParaRPr lang="en-US" sz="1050" dirty="0"/>
          </a:p>
        </p:txBody>
      </p:sp>
      <p:sp>
        <p:nvSpPr>
          <p:cNvPr id="44" name="Shape 33"/>
          <p:cNvSpPr/>
          <p:nvPr/>
        </p:nvSpPr>
        <p:spPr>
          <a:xfrm>
            <a:off x="566928" y="5559552"/>
            <a:ext cx="3503066" cy="749808"/>
          </a:xfrm>
          <a:prstGeom prst="roundRect">
            <a:avLst>
              <a:gd name="adj" fmla="val 12195"/>
            </a:avLst>
          </a:prstGeom>
          <a:solidFill>
            <a:srgbClr val="EFF4F3"/>
          </a:solidFill>
          <a:ln w="12700">
            <a:solidFill>
              <a:srgbClr val="EFF4F3"/>
            </a:solidFill>
            <a:prstDash val="solid"/>
          </a:ln>
        </p:spPr>
        <p:txBody>
          <a:bodyPr/>
          <a:lstStyle/>
          <a:p>
            <a:endParaRPr dirty="0"/>
          </a:p>
        </p:txBody>
      </p:sp>
      <p:sp>
        <p:nvSpPr>
          <p:cNvPr id="45" name="Shape 34"/>
          <p:cNvSpPr/>
          <p:nvPr/>
        </p:nvSpPr>
        <p:spPr>
          <a:xfrm>
            <a:off x="768096" y="5724144"/>
            <a:ext cx="420624" cy="420624"/>
          </a:xfrm>
          <a:prstGeom prst="ellipse">
            <a:avLst/>
          </a:prstGeom>
          <a:solidFill>
            <a:srgbClr val="FFFFFF"/>
          </a:solidFill>
          <a:ln w="12700">
            <a:solidFill>
              <a:srgbClr val="FFFFFF"/>
            </a:solidFill>
            <a:prstDash val="solid"/>
          </a:ln>
        </p:spPr>
        <p:txBody>
          <a:bodyPr/>
          <a:lstStyle/>
          <a:p>
            <a:endParaRPr dirty="0"/>
          </a:p>
        </p:txBody>
      </p:sp>
      <p:pic>
        <p:nvPicPr>
          <p:cNvPr id="46" name="Image 9" descr="preencoded.png"/>
          <p:cNvPicPr>
            <a:picLocks noChangeAspect="1"/>
          </p:cNvPicPr>
          <p:nvPr/>
        </p:nvPicPr>
        <p:blipFill>
          <a:blip r:embed="rId12"/>
          <a:stretch>
            <a:fillRect/>
          </a:stretch>
        </p:blipFill>
        <p:spPr>
          <a:xfrm>
            <a:off x="877458" y="5833506"/>
            <a:ext cx="201900" cy="201900"/>
          </a:xfrm>
          <a:prstGeom prst="rect">
            <a:avLst/>
          </a:prstGeom>
        </p:spPr>
      </p:pic>
      <p:sp>
        <p:nvSpPr>
          <p:cNvPr id="47" name="Text 35"/>
          <p:cNvSpPr txBox="1"/>
          <p:nvPr/>
        </p:nvSpPr>
        <p:spPr>
          <a:xfrm>
            <a:off x="1280160" y="5650992"/>
            <a:ext cx="2606954" cy="256032"/>
          </a:xfrm>
          <a:prstGeom prst="rect">
            <a:avLst/>
          </a:prstGeom>
          <a:noFill/>
          <a:ln/>
        </p:spPr>
        <p:txBody>
          <a:bodyPr wrap="square" lIns="0" tIns="0" rIns="0" bIns="0" rtlCol="0" anchor="ctr"/>
          <a:lstStyle/>
          <a:p>
            <a:pPr marL="0" indent="0">
              <a:buNone/>
            </a:pPr>
            <a:r>
              <a:rPr lang="en-US" sz="1150" b="1" dirty="0">
                <a:solidFill>
                  <a:srgbClr val="172B2B"/>
                </a:solidFill>
                <a:latin typeface="Calibri" pitchFamily="34" charset="0"/>
                <a:ea typeface="Calibri" pitchFamily="34" charset="-122"/>
                <a:cs typeface="Calibri" pitchFamily="34" charset="-120"/>
              </a:rPr>
              <a:t>Pipeline 1 runs once</a:t>
            </a:r>
            <a:endParaRPr lang="en-US" sz="1150" dirty="0"/>
          </a:p>
        </p:txBody>
      </p:sp>
      <p:sp>
        <p:nvSpPr>
          <p:cNvPr id="48" name="Text 36"/>
          <p:cNvSpPr txBox="1"/>
          <p:nvPr/>
        </p:nvSpPr>
        <p:spPr>
          <a:xfrm>
            <a:off x="1280160" y="5907024"/>
            <a:ext cx="2606954" cy="256032"/>
          </a:xfrm>
          <a:prstGeom prst="rect">
            <a:avLst/>
          </a:prstGeom>
          <a:noFill/>
          <a:ln/>
        </p:spPr>
        <p:txBody>
          <a:bodyPr wrap="square" lIns="0" tIns="0" rIns="0" bIns="0" rtlCol="0" anchor="ctr"/>
          <a:lstStyle/>
          <a:p>
            <a:pPr marL="0" indent="0">
              <a:buNone/>
            </a:pPr>
            <a:r>
              <a:rPr lang="en-US" sz="1000" dirty="0">
                <a:solidFill>
                  <a:srgbClr val="5F7271"/>
                </a:solidFill>
                <a:latin typeface="Calibri" pitchFamily="34" charset="0"/>
                <a:ea typeface="Calibri" pitchFamily="34" charset="-122"/>
                <a:cs typeface="Calibri" pitchFamily="34" charset="-120"/>
              </a:rPr>
              <a:t>when a document set is added or changed</a:t>
            </a:r>
            <a:endParaRPr lang="en-US" sz="1000" dirty="0"/>
          </a:p>
        </p:txBody>
      </p:sp>
      <p:sp>
        <p:nvSpPr>
          <p:cNvPr id="49" name="Shape 37"/>
          <p:cNvSpPr/>
          <p:nvPr/>
        </p:nvSpPr>
        <p:spPr>
          <a:xfrm>
            <a:off x="4344314" y="5559552"/>
            <a:ext cx="3503066" cy="749808"/>
          </a:xfrm>
          <a:prstGeom prst="roundRect">
            <a:avLst>
              <a:gd name="adj" fmla="val 12195"/>
            </a:avLst>
          </a:prstGeom>
          <a:solidFill>
            <a:srgbClr val="EFF4F3"/>
          </a:solidFill>
          <a:ln w="12700">
            <a:solidFill>
              <a:srgbClr val="EFF4F3"/>
            </a:solidFill>
            <a:prstDash val="solid"/>
          </a:ln>
        </p:spPr>
        <p:txBody>
          <a:bodyPr/>
          <a:lstStyle/>
          <a:p>
            <a:endParaRPr dirty="0"/>
          </a:p>
        </p:txBody>
      </p:sp>
      <p:sp>
        <p:nvSpPr>
          <p:cNvPr id="50" name="Shape 38"/>
          <p:cNvSpPr/>
          <p:nvPr/>
        </p:nvSpPr>
        <p:spPr>
          <a:xfrm>
            <a:off x="4545482" y="5724144"/>
            <a:ext cx="420624" cy="420624"/>
          </a:xfrm>
          <a:prstGeom prst="ellipse">
            <a:avLst/>
          </a:prstGeom>
          <a:solidFill>
            <a:srgbClr val="FFFFFF"/>
          </a:solidFill>
          <a:ln w="12700">
            <a:solidFill>
              <a:srgbClr val="FFFFFF"/>
            </a:solidFill>
            <a:prstDash val="solid"/>
          </a:ln>
        </p:spPr>
        <p:txBody>
          <a:bodyPr/>
          <a:lstStyle/>
          <a:p>
            <a:endParaRPr dirty="0"/>
          </a:p>
        </p:txBody>
      </p:sp>
      <p:pic>
        <p:nvPicPr>
          <p:cNvPr id="51" name="Image 10" descr="preencoded.png"/>
          <p:cNvPicPr>
            <a:picLocks noChangeAspect="1"/>
          </p:cNvPicPr>
          <p:nvPr/>
        </p:nvPicPr>
        <p:blipFill>
          <a:blip r:embed="rId13"/>
          <a:stretch>
            <a:fillRect/>
          </a:stretch>
        </p:blipFill>
        <p:spPr>
          <a:xfrm>
            <a:off x="4654845" y="5833506"/>
            <a:ext cx="201900" cy="201900"/>
          </a:xfrm>
          <a:prstGeom prst="rect">
            <a:avLst/>
          </a:prstGeom>
        </p:spPr>
      </p:pic>
      <p:sp>
        <p:nvSpPr>
          <p:cNvPr id="52" name="Text 39"/>
          <p:cNvSpPr txBox="1"/>
          <p:nvPr/>
        </p:nvSpPr>
        <p:spPr>
          <a:xfrm>
            <a:off x="5057546" y="5650992"/>
            <a:ext cx="2606954" cy="256032"/>
          </a:xfrm>
          <a:prstGeom prst="rect">
            <a:avLst/>
          </a:prstGeom>
          <a:noFill/>
          <a:ln/>
        </p:spPr>
        <p:txBody>
          <a:bodyPr wrap="square" lIns="0" tIns="0" rIns="0" bIns="0" rtlCol="0" anchor="ctr"/>
          <a:lstStyle/>
          <a:p>
            <a:pPr marL="0" indent="0">
              <a:buNone/>
            </a:pPr>
            <a:r>
              <a:rPr lang="en-US" sz="1150" b="1" dirty="0">
                <a:solidFill>
                  <a:srgbClr val="172B2B"/>
                </a:solidFill>
                <a:latin typeface="Calibri" pitchFamily="34" charset="0"/>
                <a:ea typeface="Calibri" pitchFamily="34" charset="-122"/>
                <a:cs typeface="Calibri" pitchFamily="34" charset="-120"/>
              </a:rPr>
              <a:t>Pipeline 2 runs every time</a:t>
            </a:r>
            <a:endParaRPr lang="en-US" sz="1150" dirty="0"/>
          </a:p>
        </p:txBody>
      </p:sp>
      <p:sp>
        <p:nvSpPr>
          <p:cNvPr id="53" name="Text 40"/>
          <p:cNvSpPr txBox="1"/>
          <p:nvPr/>
        </p:nvSpPr>
        <p:spPr>
          <a:xfrm>
            <a:off x="5057546" y="5907024"/>
            <a:ext cx="2606954" cy="256032"/>
          </a:xfrm>
          <a:prstGeom prst="rect">
            <a:avLst/>
          </a:prstGeom>
          <a:noFill/>
          <a:ln/>
        </p:spPr>
        <p:txBody>
          <a:bodyPr wrap="square" lIns="0" tIns="0" rIns="0" bIns="0" rtlCol="0" anchor="ctr"/>
          <a:lstStyle/>
          <a:p>
            <a:pPr marL="0" indent="0">
              <a:buNone/>
            </a:pPr>
            <a:r>
              <a:rPr lang="en-US" sz="1000" dirty="0">
                <a:solidFill>
                  <a:srgbClr val="5F7271"/>
                </a:solidFill>
                <a:latin typeface="Calibri" pitchFamily="34" charset="0"/>
                <a:ea typeface="Calibri" pitchFamily="34" charset="-122"/>
                <a:cs typeface="Calibri" pitchFamily="34" charset="-120"/>
              </a:rPr>
              <a:t>a question is asked, in a couple of seconds</a:t>
            </a:r>
            <a:endParaRPr lang="en-US" sz="1000" dirty="0"/>
          </a:p>
        </p:txBody>
      </p:sp>
      <p:sp>
        <p:nvSpPr>
          <p:cNvPr id="54" name="Shape 41"/>
          <p:cNvSpPr/>
          <p:nvPr/>
        </p:nvSpPr>
        <p:spPr>
          <a:xfrm>
            <a:off x="8121701" y="5559552"/>
            <a:ext cx="3503066" cy="749808"/>
          </a:xfrm>
          <a:prstGeom prst="roundRect">
            <a:avLst>
              <a:gd name="adj" fmla="val 12195"/>
            </a:avLst>
          </a:prstGeom>
          <a:solidFill>
            <a:srgbClr val="EFF4F3"/>
          </a:solidFill>
          <a:ln w="12700">
            <a:solidFill>
              <a:srgbClr val="EFF4F3"/>
            </a:solidFill>
            <a:prstDash val="solid"/>
          </a:ln>
        </p:spPr>
        <p:txBody>
          <a:bodyPr/>
          <a:lstStyle/>
          <a:p>
            <a:endParaRPr dirty="0"/>
          </a:p>
        </p:txBody>
      </p:sp>
      <p:sp>
        <p:nvSpPr>
          <p:cNvPr id="55" name="Shape 42"/>
          <p:cNvSpPr/>
          <p:nvPr/>
        </p:nvSpPr>
        <p:spPr>
          <a:xfrm>
            <a:off x="8322869" y="5724144"/>
            <a:ext cx="420624" cy="420624"/>
          </a:xfrm>
          <a:prstGeom prst="ellipse">
            <a:avLst/>
          </a:prstGeom>
          <a:solidFill>
            <a:srgbClr val="FFFFFF"/>
          </a:solidFill>
          <a:ln w="12700">
            <a:solidFill>
              <a:srgbClr val="FFFFFF"/>
            </a:solidFill>
            <a:prstDash val="solid"/>
          </a:ln>
        </p:spPr>
        <p:txBody>
          <a:bodyPr/>
          <a:lstStyle/>
          <a:p>
            <a:endParaRPr dirty="0"/>
          </a:p>
        </p:txBody>
      </p:sp>
      <p:pic>
        <p:nvPicPr>
          <p:cNvPr id="56" name="Image 11" descr="preencoded.png"/>
          <p:cNvPicPr>
            <a:picLocks noChangeAspect="1"/>
          </p:cNvPicPr>
          <p:nvPr/>
        </p:nvPicPr>
        <p:blipFill>
          <a:blip r:embed="rId11"/>
          <a:stretch>
            <a:fillRect/>
          </a:stretch>
        </p:blipFill>
        <p:spPr>
          <a:xfrm>
            <a:off x="8432231" y="5833506"/>
            <a:ext cx="201900" cy="201900"/>
          </a:xfrm>
          <a:prstGeom prst="rect">
            <a:avLst/>
          </a:prstGeom>
        </p:spPr>
      </p:pic>
      <p:sp>
        <p:nvSpPr>
          <p:cNvPr id="57" name="Text 43"/>
          <p:cNvSpPr txBox="1"/>
          <p:nvPr/>
        </p:nvSpPr>
        <p:spPr>
          <a:xfrm>
            <a:off x="8834933" y="5650992"/>
            <a:ext cx="2606954" cy="256032"/>
          </a:xfrm>
          <a:prstGeom prst="rect">
            <a:avLst/>
          </a:prstGeom>
          <a:noFill/>
          <a:ln/>
        </p:spPr>
        <p:txBody>
          <a:bodyPr wrap="square" lIns="0" tIns="0" rIns="0" bIns="0" rtlCol="0" anchor="ctr"/>
          <a:lstStyle/>
          <a:p>
            <a:pPr marL="0" indent="0">
              <a:buNone/>
            </a:pPr>
            <a:r>
              <a:rPr lang="en-US" sz="1150" b="1" dirty="0">
                <a:solidFill>
                  <a:srgbClr val="172B2B"/>
                </a:solidFill>
                <a:latin typeface="Calibri" pitchFamily="34" charset="0"/>
                <a:ea typeface="Calibri" pitchFamily="34" charset="-122"/>
                <a:cs typeface="Calibri" pitchFamily="34" charset="-120"/>
              </a:rPr>
              <a:t>Citations come from metadata</a:t>
            </a:r>
            <a:endParaRPr lang="en-US" sz="1150" dirty="0"/>
          </a:p>
        </p:txBody>
      </p:sp>
      <p:sp>
        <p:nvSpPr>
          <p:cNvPr id="58" name="Text 44"/>
          <p:cNvSpPr txBox="1"/>
          <p:nvPr/>
        </p:nvSpPr>
        <p:spPr>
          <a:xfrm>
            <a:off x="8834933" y="5907024"/>
            <a:ext cx="2606954" cy="256032"/>
          </a:xfrm>
          <a:prstGeom prst="rect">
            <a:avLst/>
          </a:prstGeom>
          <a:noFill/>
          <a:ln/>
        </p:spPr>
        <p:txBody>
          <a:bodyPr wrap="square" lIns="0" tIns="0" rIns="0" bIns="0" rtlCol="0" anchor="ctr"/>
          <a:lstStyle/>
          <a:p>
            <a:pPr marL="0" indent="0">
              <a:buNone/>
            </a:pPr>
            <a:r>
              <a:rPr lang="en-US" sz="1000" dirty="0">
                <a:solidFill>
                  <a:srgbClr val="5F7271"/>
                </a:solidFill>
                <a:latin typeface="Calibri" pitchFamily="34" charset="0"/>
                <a:ea typeface="Calibri" pitchFamily="34" charset="-122"/>
                <a:cs typeface="Calibri" pitchFamily="34" charset="-120"/>
              </a:rPr>
              <a:t>the document and page stored beside each vector</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219456"/>
            <a:ext cx="11057839" cy="237744"/>
          </a:xfrm>
          <a:prstGeom prst="rect">
            <a:avLst/>
          </a:prstGeom>
          <a:noFill/>
          <a:ln/>
        </p:spPr>
        <p:txBody>
          <a:bodyPr wrap="square" lIns="0" tIns="0" rIns="0" bIns="0" rtlCol="0" anchor="ctr"/>
          <a:lstStyle/>
          <a:p>
            <a:pPr marL="0" indent="0">
              <a:buNone/>
            </a:pPr>
            <a:r>
              <a:rPr lang="en-US" sz="1150" b="1" kern="0" spc="160" dirty="0">
                <a:solidFill>
                  <a:srgbClr val="1C7C7C"/>
                </a:solidFill>
                <a:latin typeface="Calibri" pitchFamily="34" charset="0"/>
                <a:ea typeface="Calibri" pitchFamily="34" charset="-122"/>
                <a:cs typeface="Calibri" pitchFamily="34" charset="-120"/>
              </a:rPr>
              <a:t>STAGE ONE</a:t>
            </a:r>
            <a:endParaRPr lang="en-US" sz="1150" dirty="0"/>
          </a:p>
        </p:txBody>
      </p:sp>
      <p:sp>
        <p:nvSpPr>
          <p:cNvPr id="3" name="Text 1"/>
          <p:cNvSpPr txBox="1"/>
          <p:nvPr/>
        </p:nvSpPr>
        <p:spPr>
          <a:xfrm>
            <a:off x="566928" y="384048"/>
            <a:ext cx="11057839" cy="658368"/>
          </a:xfrm>
          <a:prstGeom prst="rect">
            <a:avLst/>
          </a:prstGeom>
          <a:noFill/>
          <a:ln/>
        </p:spPr>
        <p:txBody>
          <a:bodyPr wrap="square" lIns="0" tIns="0" rIns="0" bIns="0" rtlCol="0" anchor="ctr"/>
          <a:lstStyle/>
          <a:p>
            <a:pPr marL="0" indent="0">
              <a:buNone/>
            </a:pPr>
            <a:r>
              <a:rPr lang="en-US" sz="3400" b="1" dirty="0">
                <a:solidFill>
                  <a:srgbClr val="172B2B"/>
                </a:solidFill>
                <a:latin typeface="Cambria" pitchFamily="34" charset="0"/>
                <a:ea typeface="Cambria" pitchFamily="34" charset="-122"/>
                <a:cs typeface="Cambria" pitchFamily="34" charset="-120"/>
              </a:rPr>
              <a:t>From documents to a searchable knowledge base</a:t>
            </a:r>
            <a:endParaRPr lang="en-US" sz="3400" dirty="0"/>
          </a:p>
        </p:txBody>
      </p:sp>
      <p:sp>
        <p:nvSpPr>
          <p:cNvPr id="4" name="Shape 2"/>
          <p:cNvSpPr/>
          <p:nvPr/>
        </p:nvSpPr>
        <p:spPr>
          <a:xfrm>
            <a:off x="566928" y="1371600"/>
            <a:ext cx="5373472" cy="1737360"/>
          </a:xfrm>
          <a:prstGeom prst="roundRect">
            <a:avLst>
              <a:gd name="adj" fmla="val 5263"/>
            </a:avLst>
          </a:prstGeom>
          <a:solidFill>
            <a:srgbClr val="EFF4F3"/>
          </a:solidFill>
          <a:ln w="12700">
            <a:solidFill>
              <a:srgbClr val="EFF4F3"/>
            </a:solidFill>
            <a:prstDash val="solid"/>
          </a:ln>
        </p:spPr>
        <p:txBody>
          <a:bodyPr/>
          <a:lstStyle/>
          <a:p>
            <a:endParaRPr dirty="0"/>
          </a:p>
        </p:txBody>
      </p:sp>
      <p:sp>
        <p:nvSpPr>
          <p:cNvPr id="5" name="Shape 3"/>
          <p:cNvSpPr/>
          <p:nvPr/>
        </p:nvSpPr>
        <p:spPr>
          <a:xfrm>
            <a:off x="859536" y="1664208"/>
            <a:ext cx="493776" cy="493776"/>
          </a:xfrm>
          <a:prstGeom prst="ellipse">
            <a:avLst/>
          </a:prstGeom>
          <a:solidFill>
            <a:srgbClr val="FFFFFF"/>
          </a:solidFill>
          <a:ln w="12700">
            <a:solidFill>
              <a:srgbClr val="FFFFFF"/>
            </a:solidFill>
            <a:prstDash val="solid"/>
          </a:ln>
        </p:spPr>
        <p:txBody>
          <a:bodyPr/>
          <a:lstStyle/>
          <a:p>
            <a:endParaRPr dirty="0"/>
          </a:p>
        </p:txBody>
      </p:sp>
      <p:pic>
        <p:nvPicPr>
          <p:cNvPr id="6" name="Image 0" descr="preencoded.png"/>
          <p:cNvPicPr>
            <a:picLocks noChangeAspect="1"/>
          </p:cNvPicPr>
          <p:nvPr/>
        </p:nvPicPr>
        <p:blipFill>
          <a:blip r:embed="rId3"/>
          <a:stretch>
            <a:fillRect/>
          </a:stretch>
        </p:blipFill>
        <p:spPr>
          <a:xfrm>
            <a:off x="987918" y="1792590"/>
            <a:ext cx="237012" cy="237012"/>
          </a:xfrm>
          <a:prstGeom prst="rect">
            <a:avLst/>
          </a:prstGeom>
        </p:spPr>
      </p:pic>
      <p:sp>
        <p:nvSpPr>
          <p:cNvPr id="7" name="Shape 4"/>
          <p:cNvSpPr/>
          <p:nvPr/>
        </p:nvSpPr>
        <p:spPr>
          <a:xfrm>
            <a:off x="5336896" y="1664208"/>
            <a:ext cx="347472" cy="347472"/>
          </a:xfrm>
          <a:prstGeom prst="ellipse">
            <a:avLst/>
          </a:prstGeom>
          <a:solidFill>
            <a:srgbClr val="FFFFFF"/>
          </a:solidFill>
          <a:ln w="12700">
            <a:solidFill>
              <a:srgbClr val="FFFFFF"/>
            </a:solidFill>
            <a:prstDash val="solid"/>
          </a:ln>
        </p:spPr>
        <p:txBody>
          <a:bodyPr/>
          <a:lstStyle/>
          <a:p>
            <a:endParaRPr dirty="0"/>
          </a:p>
        </p:txBody>
      </p:sp>
      <p:sp>
        <p:nvSpPr>
          <p:cNvPr id="8" name="Text 5"/>
          <p:cNvSpPr txBox="1"/>
          <p:nvPr/>
        </p:nvSpPr>
        <p:spPr>
          <a:xfrm>
            <a:off x="5336896" y="1664208"/>
            <a:ext cx="347472" cy="347472"/>
          </a:xfrm>
          <a:prstGeom prst="rect">
            <a:avLst/>
          </a:prstGeom>
          <a:noFill/>
          <a:ln/>
        </p:spPr>
        <p:txBody>
          <a:bodyPr wrap="square" lIns="0" tIns="0" rIns="0" bIns="0" rtlCol="0" anchor="ctr"/>
          <a:lstStyle/>
          <a:p>
            <a:pPr marL="0" indent="0" algn="ctr">
              <a:buNone/>
            </a:pPr>
            <a:r>
              <a:rPr lang="en-US" sz="1100" b="1" dirty="0">
                <a:solidFill>
                  <a:srgbClr val="1C7C7C"/>
                </a:solidFill>
                <a:latin typeface="Calibri" pitchFamily="34" charset="0"/>
                <a:ea typeface="Calibri" pitchFamily="34" charset="-122"/>
                <a:cs typeface="Calibri" pitchFamily="34" charset="-120"/>
              </a:rPr>
              <a:t>1</a:t>
            </a:r>
            <a:endParaRPr lang="en-US" sz="1100" dirty="0"/>
          </a:p>
        </p:txBody>
      </p:sp>
      <p:sp>
        <p:nvSpPr>
          <p:cNvPr id="9" name="Text 6"/>
          <p:cNvSpPr txBox="1"/>
          <p:nvPr/>
        </p:nvSpPr>
        <p:spPr>
          <a:xfrm>
            <a:off x="1499616" y="1700784"/>
            <a:ext cx="3764128" cy="347472"/>
          </a:xfrm>
          <a:prstGeom prst="rect">
            <a:avLst/>
          </a:prstGeom>
          <a:noFill/>
          <a:ln/>
        </p:spPr>
        <p:txBody>
          <a:bodyPr wrap="square" lIns="0" tIns="0" rIns="0" bIns="0" rtlCol="0" anchor="ctr"/>
          <a:lstStyle/>
          <a:p>
            <a:pPr marL="0" indent="0">
              <a:buNone/>
            </a:pPr>
            <a:r>
              <a:rPr lang="en-US" sz="1500" b="1" dirty="0">
                <a:solidFill>
                  <a:srgbClr val="172B2B"/>
                </a:solidFill>
                <a:latin typeface="Calibri" pitchFamily="34" charset="0"/>
                <a:ea typeface="Calibri" pitchFamily="34" charset="-122"/>
                <a:cs typeface="Calibri" pitchFamily="34" charset="-120"/>
              </a:rPr>
              <a:t>Text Extraction</a:t>
            </a:r>
            <a:endParaRPr lang="en-US" sz="1500" dirty="0"/>
          </a:p>
        </p:txBody>
      </p:sp>
      <p:sp>
        <p:nvSpPr>
          <p:cNvPr id="10" name="Text 7"/>
          <p:cNvSpPr txBox="1"/>
          <p:nvPr/>
        </p:nvSpPr>
        <p:spPr>
          <a:xfrm>
            <a:off x="859536" y="2267712"/>
            <a:ext cx="4788256" cy="731520"/>
          </a:xfrm>
          <a:prstGeom prst="rect">
            <a:avLst/>
          </a:prstGeom>
          <a:noFill/>
          <a:ln/>
        </p:spPr>
        <p:txBody>
          <a:bodyPr wrap="square" lIns="0" tIns="0" rIns="0" bIns="0" rtlCol="0" anchor="t"/>
          <a:lstStyle/>
          <a:p>
            <a:pPr marL="0" indent="0">
              <a:lnSpc>
                <a:spcPts val="1500"/>
              </a:lnSpc>
              <a:buNone/>
            </a:pPr>
            <a:r>
              <a:rPr lang="en-US" sz="1150" dirty="0">
                <a:solidFill>
                  <a:srgbClr val="5F7271"/>
                </a:solidFill>
                <a:latin typeface="Calibri" pitchFamily="34" charset="0"/>
                <a:ea typeface="Calibri" pitchFamily="34" charset="-122"/>
                <a:cs typeface="Calibri" pitchFamily="34" charset="-120"/>
              </a:rPr>
              <a:t>Pull usable text out of every uploaded document, including tables. Scanned pages are read with OCR so image-only PDFs are not lost.</a:t>
            </a:r>
            <a:endParaRPr lang="en-US" sz="1150" dirty="0"/>
          </a:p>
        </p:txBody>
      </p:sp>
      <p:sp>
        <p:nvSpPr>
          <p:cNvPr id="11" name="Shape 8"/>
          <p:cNvSpPr/>
          <p:nvPr/>
        </p:nvSpPr>
        <p:spPr>
          <a:xfrm>
            <a:off x="6251296" y="1371600"/>
            <a:ext cx="5373472" cy="1737360"/>
          </a:xfrm>
          <a:prstGeom prst="roundRect">
            <a:avLst>
              <a:gd name="adj" fmla="val 5263"/>
            </a:avLst>
          </a:prstGeom>
          <a:solidFill>
            <a:srgbClr val="EFF4F3"/>
          </a:solidFill>
          <a:ln w="12700">
            <a:solidFill>
              <a:srgbClr val="EFF4F3"/>
            </a:solidFill>
            <a:prstDash val="solid"/>
          </a:ln>
        </p:spPr>
        <p:txBody>
          <a:bodyPr/>
          <a:lstStyle/>
          <a:p>
            <a:endParaRPr dirty="0"/>
          </a:p>
        </p:txBody>
      </p:sp>
      <p:sp>
        <p:nvSpPr>
          <p:cNvPr id="12" name="Shape 9"/>
          <p:cNvSpPr/>
          <p:nvPr/>
        </p:nvSpPr>
        <p:spPr>
          <a:xfrm>
            <a:off x="6543904" y="1664208"/>
            <a:ext cx="493776" cy="493776"/>
          </a:xfrm>
          <a:prstGeom prst="ellipse">
            <a:avLst/>
          </a:prstGeom>
          <a:solidFill>
            <a:srgbClr val="FFFFFF"/>
          </a:solidFill>
          <a:ln w="12700">
            <a:solidFill>
              <a:srgbClr val="FFFFFF"/>
            </a:solidFill>
            <a:prstDash val="solid"/>
          </a:ln>
        </p:spPr>
        <p:txBody>
          <a:bodyPr/>
          <a:lstStyle/>
          <a:p>
            <a:endParaRPr dirty="0"/>
          </a:p>
        </p:txBody>
      </p:sp>
      <p:pic>
        <p:nvPicPr>
          <p:cNvPr id="13" name="Image 1" descr="preencoded.png"/>
          <p:cNvPicPr>
            <a:picLocks noChangeAspect="1"/>
          </p:cNvPicPr>
          <p:nvPr/>
        </p:nvPicPr>
        <p:blipFill>
          <a:blip r:embed="rId4"/>
          <a:stretch>
            <a:fillRect/>
          </a:stretch>
        </p:blipFill>
        <p:spPr>
          <a:xfrm>
            <a:off x="6672285" y="1792590"/>
            <a:ext cx="237012" cy="237012"/>
          </a:xfrm>
          <a:prstGeom prst="rect">
            <a:avLst/>
          </a:prstGeom>
        </p:spPr>
      </p:pic>
      <p:sp>
        <p:nvSpPr>
          <p:cNvPr id="14" name="Shape 10"/>
          <p:cNvSpPr/>
          <p:nvPr/>
        </p:nvSpPr>
        <p:spPr>
          <a:xfrm>
            <a:off x="11021263" y="1664208"/>
            <a:ext cx="347472" cy="347472"/>
          </a:xfrm>
          <a:prstGeom prst="ellipse">
            <a:avLst/>
          </a:prstGeom>
          <a:solidFill>
            <a:srgbClr val="FFFFFF"/>
          </a:solidFill>
          <a:ln w="12700">
            <a:solidFill>
              <a:srgbClr val="FFFFFF"/>
            </a:solidFill>
            <a:prstDash val="solid"/>
          </a:ln>
        </p:spPr>
        <p:txBody>
          <a:bodyPr/>
          <a:lstStyle/>
          <a:p>
            <a:endParaRPr dirty="0"/>
          </a:p>
        </p:txBody>
      </p:sp>
      <p:sp>
        <p:nvSpPr>
          <p:cNvPr id="15" name="Text 11"/>
          <p:cNvSpPr txBox="1"/>
          <p:nvPr/>
        </p:nvSpPr>
        <p:spPr>
          <a:xfrm>
            <a:off x="11021263" y="1664208"/>
            <a:ext cx="347472" cy="347472"/>
          </a:xfrm>
          <a:prstGeom prst="rect">
            <a:avLst/>
          </a:prstGeom>
          <a:noFill/>
          <a:ln/>
        </p:spPr>
        <p:txBody>
          <a:bodyPr wrap="square" lIns="0" tIns="0" rIns="0" bIns="0" rtlCol="0" anchor="ctr"/>
          <a:lstStyle/>
          <a:p>
            <a:pPr marL="0" indent="0" algn="ctr">
              <a:buNone/>
            </a:pPr>
            <a:r>
              <a:rPr lang="en-US" sz="1100" b="1" dirty="0">
                <a:solidFill>
                  <a:srgbClr val="1C7C7C"/>
                </a:solidFill>
                <a:latin typeface="Calibri" pitchFamily="34" charset="0"/>
                <a:ea typeface="Calibri" pitchFamily="34" charset="-122"/>
                <a:cs typeface="Calibri" pitchFamily="34" charset="-120"/>
              </a:rPr>
              <a:t>2</a:t>
            </a:r>
            <a:endParaRPr lang="en-US" sz="1100" dirty="0"/>
          </a:p>
        </p:txBody>
      </p:sp>
      <p:sp>
        <p:nvSpPr>
          <p:cNvPr id="16" name="Text 12"/>
          <p:cNvSpPr txBox="1"/>
          <p:nvPr/>
        </p:nvSpPr>
        <p:spPr>
          <a:xfrm>
            <a:off x="7183984" y="1700784"/>
            <a:ext cx="3764128" cy="347472"/>
          </a:xfrm>
          <a:prstGeom prst="rect">
            <a:avLst/>
          </a:prstGeom>
          <a:noFill/>
          <a:ln/>
        </p:spPr>
        <p:txBody>
          <a:bodyPr wrap="square" lIns="0" tIns="0" rIns="0" bIns="0" rtlCol="0" anchor="ctr"/>
          <a:lstStyle/>
          <a:p>
            <a:pPr marL="0" indent="0">
              <a:buNone/>
            </a:pPr>
            <a:r>
              <a:rPr lang="en-US" sz="1500" b="1" dirty="0">
                <a:solidFill>
                  <a:srgbClr val="172B2B"/>
                </a:solidFill>
                <a:latin typeface="Calibri" pitchFamily="34" charset="0"/>
                <a:ea typeface="Calibri" pitchFamily="34" charset="-122"/>
                <a:cs typeface="Calibri" pitchFamily="34" charset="-120"/>
              </a:rPr>
              <a:t>Chunking</a:t>
            </a:r>
            <a:endParaRPr lang="en-US" sz="1500" dirty="0"/>
          </a:p>
        </p:txBody>
      </p:sp>
      <p:sp>
        <p:nvSpPr>
          <p:cNvPr id="17" name="Text 13"/>
          <p:cNvSpPr txBox="1"/>
          <p:nvPr/>
        </p:nvSpPr>
        <p:spPr>
          <a:xfrm>
            <a:off x="6543904" y="2267712"/>
            <a:ext cx="4788256" cy="731520"/>
          </a:xfrm>
          <a:prstGeom prst="rect">
            <a:avLst/>
          </a:prstGeom>
          <a:noFill/>
          <a:ln/>
        </p:spPr>
        <p:txBody>
          <a:bodyPr wrap="square" lIns="0" tIns="0" rIns="0" bIns="0" rtlCol="0" anchor="t"/>
          <a:lstStyle/>
          <a:p>
            <a:pPr marL="0" indent="0">
              <a:lnSpc>
                <a:spcPts val="1500"/>
              </a:lnSpc>
              <a:buNone/>
            </a:pPr>
            <a:r>
              <a:rPr lang="en-US" sz="1150" dirty="0">
                <a:solidFill>
                  <a:srgbClr val="5F7271"/>
                </a:solidFill>
                <a:latin typeface="Calibri" pitchFamily="34" charset="0"/>
                <a:ea typeface="Calibri" pitchFamily="34" charset="-122"/>
                <a:cs typeface="Calibri" pitchFamily="34" charset="-120"/>
              </a:rPr>
              <a:t>Split long documents into smaller passages at sentence boundaries, each one small enough to be quoted precisely.</a:t>
            </a:r>
            <a:endParaRPr lang="en-US" sz="1150" dirty="0"/>
          </a:p>
        </p:txBody>
      </p:sp>
      <p:sp>
        <p:nvSpPr>
          <p:cNvPr id="18" name="Shape 14"/>
          <p:cNvSpPr/>
          <p:nvPr/>
        </p:nvSpPr>
        <p:spPr>
          <a:xfrm>
            <a:off x="566928" y="3419856"/>
            <a:ext cx="5373472" cy="1737360"/>
          </a:xfrm>
          <a:prstGeom prst="roundRect">
            <a:avLst>
              <a:gd name="adj" fmla="val 5263"/>
            </a:avLst>
          </a:prstGeom>
          <a:solidFill>
            <a:srgbClr val="EFF4F3"/>
          </a:solidFill>
          <a:ln w="12700">
            <a:solidFill>
              <a:srgbClr val="EFF4F3"/>
            </a:solidFill>
            <a:prstDash val="solid"/>
          </a:ln>
        </p:spPr>
        <p:txBody>
          <a:bodyPr/>
          <a:lstStyle/>
          <a:p>
            <a:endParaRPr dirty="0"/>
          </a:p>
        </p:txBody>
      </p:sp>
      <p:sp>
        <p:nvSpPr>
          <p:cNvPr id="19" name="Shape 15"/>
          <p:cNvSpPr/>
          <p:nvPr/>
        </p:nvSpPr>
        <p:spPr>
          <a:xfrm>
            <a:off x="859536" y="3712464"/>
            <a:ext cx="493776" cy="493776"/>
          </a:xfrm>
          <a:prstGeom prst="ellipse">
            <a:avLst/>
          </a:prstGeom>
          <a:solidFill>
            <a:srgbClr val="FFFFFF"/>
          </a:solidFill>
          <a:ln w="12700">
            <a:solidFill>
              <a:srgbClr val="FFFFFF"/>
            </a:solidFill>
            <a:prstDash val="solid"/>
          </a:ln>
        </p:spPr>
        <p:txBody>
          <a:bodyPr/>
          <a:lstStyle/>
          <a:p>
            <a:endParaRPr dirty="0"/>
          </a:p>
        </p:txBody>
      </p:sp>
      <p:pic>
        <p:nvPicPr>
          <p:cNvPr id="20" name="Image 2" descr="preencoded.png"/>
          <p:cNvPicPr>
            <a:picLocks noChangeAspect="1"/>
          </p:cNvPicPr>
          <p:nvPr/>
        </p:nvPicPr>
        <p:blipFill>
          <a:blip r:embed="rId5"/>
          <a:stretch>
            <a:fillRect/>
          </a:stretch>
        </p:blipFill>
        <p:spPr>
          <a:xfrm>
            <a:off x="987918" y="3840846"/>
            <a:ext cx="237012" cy="237012"/>
          </a:xfrm>
          <a:prstGeom prst="rect">
            <a:avLst/>
          </a:prstGeom>
        </p:spPr>
      </p:pic>
      <p:sp>
        <p:nvSpPr>
          <p:cNvPr id="21" name="Shape 16"/>
          <p:cNvSpPr/>
          <p:nvPr/>
        </p:nvSpPr>
        <p:spPr>
          <a:xfrm>
            <a:off x="5336896" y="3712464"/>
            <a:ext cx="347472" cy="347472"/>
          </a:xfrm>
          <a:prstGeom prst="ellipse">
            <a:avLst/>
          </a:prstGeom>
          <a:solidFill>
            <a:srgbClr val="FFFFFF"/>
          </a:solidFill>
          <a:ln w="12700">
            <a:solidFill>
              <a:srgbClr val="FFFFFF"/>
            </a:solidFill>
            <a:prstDash val="solid"/>
          </a:ln>
        </p:spPr>
        <p:txBody>
          <a:bodyPr/>
          <a:lstStyle/>
          <a:p>
            <a:endParaRPr dirty="0"/>
          </a:p>
        </p:txBody>
      </p:sp>
      <p:sp>
        <p:nvSpPr>
          <p:cNvPr id="22" name="Text 17"/>
          <p:cNvSpPr txBox="1"/>
          <p:nvPr/>
        </p:nvSpPr>
        <p:spPr>
          <a:xfrm>
            <a:off x="5336896" y="3712464"/>
            <a:ext cx="347472" cy="347472"/>
          </a:xfrm>
          <a:prstGeom prst="rect">
            <a:avLst/>
          </a:prstGeom>
          <a:noFill/>
          <a:ln/>
        </p:spPr>
        <p:txBody>
          <a:bodyPr wrap="square" lIns="0" tIns="0" rIns="0" bIns="0" rtlCol="0" anchor="ctr"/>
          <a:lstStyle/>
          <a:p>
            <a:pPr marL="0" indent="0" algn="ctr">
              <a:buNone/>
            </a:pPr>
            <a:r>
              <a:rPr lang="en-US" sz="1100" b="1" dirty="0">
                <a:solidFill>
                  <a:srgbClr val="1C7C7C"/>
                </a:solidFill>
                <a:latin typeface="Calibri" pitchFamily="34" charset="0"/>
                <a:ea typeface="Calibri" pitchFamily="34" charset="-122"/>
                <a:cs typeface="Calibri" pitchFamily="34" charset="-120"/>
              </a:rPr>
              <a:t>3</a:t>
            </a:r>
            <a:endParaRPr lang="en-US" sz="1100" dirty="0"/>
          </a:p>
        </p:txBody>
      </p:sp>
      <p:sp>
        <p:nvSpPr>
          <p:cNvPr id="23" name="Text 18"/>
          <p:cNvSpPr txBox="1"/>
          <p:nvPr/>
        </p:nvSpPr>
        <p:spPr>
          <a:xfrm>
            <a:off x="1499616" y="3749040"/>
            <a:ext cx="3764128" cy="347472"/>
          </a:xfrm>
          <a:prstGeom prst="rect">
            <a:avLst/>
          </a:prstGeom>
          <a:noFill/>
          <a:ln/>
        </p:spPr>
        <p:txBody>
          <a:bodyPr wrap="square" lIns="0" tIns="0" rIns="0" bIns="0" rtlCol="0" anchor="ctr"/>
          <a:lstStyle/>
          <a:p>
            <a:pPr marL="0" indent="0">
              <a:buNone/>
            </a:pPr>
            <a:r>
              <a:rPr lang="en-US" sz="1500" b="1" dirty="0">
                <a:solidFill>
                  <a:srgbClr val="172B2B"/>
                </a:solidFill>
                <a:latin typeface="Calibri" pitchFamily="34" charset="0"/>
                <a:ea typeface="Calibri" pitchFamily="34" charset="-122"/>
                <a:cs typeface="Calibri" pitchFamily="34" charset="-120"/>
              </a:rPr>
              <a:t>Embeddings</a:t>
            </a:r>
            <a:endParaRPr lang="en-US" sz="1500" dirty="0"/>
          </a:p>
        </p:txBody>
      </p:sp>
      <p:sp>
        <p:nvSpPr>
          <p:cNvPr id="24" name="Text 19"/>
          <p:cNvSpPr txBox="1"/>
          <p:nvPr/>
        </p:nvSpPr>
        <p:spPr>
          <a:xfrm>
            <a:off x="859536" y="4315968"/>
            <a:ext cx="4788256" cy="731520"/>
          </a:xfrm>
          <a:prstGeom prst="rect">
            <a:avLst/>
          </a:prstGeom>
          <a:noFill/>
          <a:ln/>
        </p:spPr>
        <p:txBody>
          <a:bodyPr wrap="square" lIns="0" tIns="0" rIns="0" bIns="0" rtlCol="0" anchor="t"/>
          <a:lstStyle/>
          <a:p>
            <a:pPr marL="0" indent="0">
              <a:lnSpc>
                <a:spcPts val="1500"/>
              </a:lnSpc>
              <a:buNone/>
            </a:pPr>
            <a:r>
              <a:rPr lang="en-US" sz="1150" dirty="0">
                <a:solidFill>
                  <a:srgbClr val="5F7271"/>
                </a:solidFill>
                <a:latin typeface="Calibri" pitchFamily="34" charset="0"/>
                <a:ea typeface="Calibri" pitchFamily="34" charset="-122"/>
                <a:cs typeface="Calibri" pitchFamily="34" charset="-120"/>
              </a:rPr>
              <a:t>Convert each passage into a numerical vector that represents its meaning, so related text sits close together.</a:t>
            </a:r>
            <a:endParaRPr lang="en-US" sz="1150" dirty="0"/>
          </a:p>
        </p:txBody>
      </p:sp>
      <p:sp>
        <p:nvSpPr>
          <p:cNvPr id="25" name="Shape 20"/>
          <p:cNvSpPr/>
          <p:nvPr/>
        </p:nvSpPr>
        <p:spPr>
          <a:xfrm>
            <a:off x="6251296" y="3419856"/>
            <a:ext cx="5373472" cy="1737360"/>
          </a:xfrm>
          <a:prstGeom prst="roundRect">
            <a:avLst>
              <a:gd name="adj" fmla="val 5263"/>
            </a:avLst>
          </a:prstGeom>
          <a:solidFill>
            <a:srgbClr val="EFF4F3"/>
          </a:solidFill>
          <a:ln w="12700">
            <a:solidFill>
              <a:srgbClr val="EFF4F3"/>
            </a:solidFill>
            <a:prstDash val="solid"/>
          </a:ln>
        </p:spPr>
        <p:txBody>
          <a:bodyPr/>
          <a:lstStyle/>
          <a:p>
            <a:endParaRPr dirty="0"/>
          </a:p>
        </p:txBody>
      </p:sp>
      <p:sp>
        <p:nvSpPr>
          <p:cNvPr id="26" name="Shape 21"/>
          <p:cNvSpPr/>
          <p:nvPr/>
        </p:nvSpPr>
        <p:spPr>
          <a:xfrm>
            <a:off x="6543904" y="3712464"/>
            <a:ext cx="493776" cy="493776"/>
          </a:xfrm>
          <a:prstGeom prst="ellipse">
            <a:avLst/>
          </a:prstGeom>
          <a:solidFill>
            <a:srgbClr val="FFFFFF"/>
          </a:solidFill>
          <a:ln w="12700">
            <a:solidFill>
              <a:srgbClr val="FFFFFF"/>
            </a:solidFill>
            <a:prstDash val="solid"/>
          </a:ln>
        </p:spPr>
        <p:txBody>
          <a:bodyPr/>
          <a:lstStyle/>
          <a:p>
            <a:endParaRPr dirty="0"/>
          </a:p>
        </p:txBody>
      </p:sp>
      <p:pic>
        <p:nvPicPr>
          <p:cNvPr id="27" name="Image 3" descr="preencoded.png"/>
          <p:cNvPicPr>
            <a:picLocks noChangeAspect="1"/>
          </p:cNvPicPr>
          <p:nvPr/>
        </p:nvPicPr>
        <p:blipFill>
          <a:blip r:embed="rId6"/>
          <a:stretch>
            <a:fillRect/>
          </a:stretch>
        </p:blipFill>
        <p:spPr>
          <a:xfrm>
            <a:off x="6672285" y="3840846"/>
            <a:ext cx="237012" cy="237012"/>
          </a:xfrm>
          <a:prstGeom prst="rect">
            <a:avLst/>
          </a:prstGeom>
        </p:spPr>
      </p:pic>
      <p:sp>
        <p:nvSpPr>
          <p:cNvPr id="28" name="Shape 22"/>
          <p:cNvSpPr/>
          <p:nvPr/>
        </p:nvSpPr>
        <p:spPr>
          <a:xfrm>
            <a:off x="11021263" y="3712464"/>
            <a:ext cx="347472" cy="347472"/>
          </a:xfrm>
          <a:prstGeom prst="ellipse">
            <a:avLst/>
          </a:prstGeom>
          <a:solidFill>
            <a:srgbClr val="FFFFFF"/>
          </a:solidFill>
          <a:ln w="12700">
            <a:solidFill>
              <a:srgbClr val="FFFFFF"/>
            </a:solidFill>
            <a:prstDash val="solid"/>
          </a:ln>
        </p:spPr>
        <p:txBody>
          <a:bodyPr/>
          <a:lstStyle/>
          <a:p>
            <a:endParaRPr dirty="0"/>
          </a:p>
        </p:txBody>
      </p:sp>
      <p:sp>
        <p:nvSpPr>
          <p:cNvPr id="29" name="Text 23"/>
          <p:cNvSpPr txBox="1"/>
          <p:nvPr/>
        </p:nvSpPr>
        <p:spPr>
          <a:xfrm>
            <a:off x="11021263" y="3712464"/>
            <a:ext cx="347472" cy="347472"/>
          </a:xfrm>
          <a:prstGeom prst="rect">
            <a:avLst/>
          </a:prstGeom>
          <a:noFill/>
          <a:ln/>
        </p:spPr>
        <p:txBody>
          <a:bodyPr wrap="square" lIns="0" tIns="0" rIns="0" bIns="0" rtlCol="0" anchor="ctr"/>
          <a:lstStyle/>
          <a:p>
            <a:pPr marL="0" indent="0" algn="ctr">
              <a:buNone/>
            </a:pPr>
            <a:r>
              <a:rPr lang="en-US" sz="1100" b="1" dirty="0">
                <a:solidFill>
                  <a:srgbClr val="1C7C7C"/>
                </a:solidFill>
                <a:latin typeface="Calibri" pitchFamily="34" charset="0"/>
                <a:ea typeface="Calibri" pitchFamily="34" charset="-122"/>
                <a:cs typeface="Calibri" pitchFamily="34" charset="-120"/>
              </a:rPr>
              <a:t>4</a:t>
            </a:r>
            <a:endParaRPr lang="en-US" sz="1100" dirty="0"/>
          </a:p>
        </p:txBody>
      </p:sp>
      <p:sp>
        <p:nvSpPr>
          <p:cNvPr id="30" name="Text 24"/>
          <p:cNvSpPr txBox="1"/>
          <p:nvPr/>
        </p:nvSpPr>
        <p:spPr>
          <a:xfrm>
            <a:off x="7183984" y="3749040"/>
            <a:ext cx="3764128" cy="347472"/>
          </a:xfrm>
          <a:prstGeom prst="rect">
            <a:avLst/>
          </a:prstGeom>
          <a:noFill/>
          <a:ln/>
        </p:spPr>
        <p:txBody>
          <a:bodyPr wrap="square" lIns="0" tIns="0" rIns="0" bIns="0" rtlCol="0" anchor="ctr"/>
          <a:lstStyle/>
          <a:p>
            <a:pPr marL="0" indent="0">
              <a:buNone/>
            </a:pPr>
            <a:r>
              <a:rPr lang="en-US" sz="1500" b="1" dirty="0">
                <a:solidFill>
                  <a:srgbClr val="172B2B"/>
                </a:solidFill>
                <a:latin typeface="Calibri" pitchFamily="34" charset="0"/>
                <a:ea typeface="Calibri" pitchFamily="34" charset="-122"/>
                <a:cs typeface="Calibri" pitchFamily="34" charset="-120"/>
              </a:rPr>
              <a:t>Vector Storage</a:t>
            </a:r>
            <a:endParaRPr lang="en-US" sz="1500" dirty="0"/>
          </a:p>
        </p:txBody>
      </p:sp>
      <p:sp>
        <p:nvSpPr>
          <p:cNvPr id="31" name="Text 25"/>
          <p:cNvSpPr txBox="1"/>
          <p:nvPr/>
        </p:nvSpPr>
        <p:spPr>
          <a:xfrm>
            <a:off x="6543904" y="4315968"/>
            <a:ext cx="4788256" cy="731520"/>
          </a:xfrm>
          <a:prstGeom prst="rect">
            <a:avLst/>
          </a:prstGeom>
          <a:noFill/>
          <a:ln/>
        </p:spPr>
        <p:txBody>
          <a:bodyPr wrap="square" lIns="0" tIns="0" rIns="0" bIns="0" rtlCol="0" anchor="t"/>
          <a:lstStyle/>
          <a:p>
            <a:pPr marL="0" indent="0">
              <a:lnSpc>
                <a:spcPts val="1500"/>
              </a:lnSpc>
              <a:buNone/>
            </a:pPr>
            <a:r>
              <a:rPr lang="en-US" sz="1150" dirty="0">
                <a:solidFill>
                  <a:srgbClr val="5F7271"/>
                </a:solidFill>
                <a:latin typeface="Calibri" pitchFamily="34" charset="0"/>
                <a:ea typeface="Calibri" pitchFamily="34" charset="-122"/>
                <a:cs typeface="Calibri" pitchFamily="34" charset="-120"/>
              </a:rPr>
              <a:t>Store every vector with its metadata — document name, page number and section — which is what makes a citation possible.</a:t>
            </a:r>
            <a:endParaRPr lang="en-US" sz="1150" dirty="0"/>
          </a:p>
        </p:txBody>
      </p:sp>
      <p:sp>
        <p:nvSpPr>
          <p:cNvPr id="32" name="Shape 26"/>
          <p:cNvSpPr/>
          <p:nvPr/>
        </p:nvSpPr>
        <p:spPr>
          <a:xfrm>
            <a:off x="566928" y="5285232"/>
            <a:ext cx="11057839" cy="1042416"/>
          </a:xfrm>
          <a:prstGeom prst="roundRect">
            <a:avLst>
              <a:gd name="adj" fmla="val 10526"/>
            </a:avLst>
          </a:prstGeom>
          <a:solidFill>
            <a:srgbClr val="12545A"/>
          </a:solidFill>
          <a:ln w="12700">
            <a:solidFill>
              <a:srgbClr val="12545A"/>
            </a:solidFill>
            <a:prstDash val="solid"/>
          </a:ln>
        </p:spPr>
        <p:txBody>
          <a:bodyPr/>
          <a:lstStyle/>
          <a:p>
            <a:endParaRPr dirty="0"/>
          </a:p>
        </p:txBody>
      </p:sp>
      <p:sp>
        <p:nvSpPr>
          <p:cNvPr id="33" name="Shape 27"/>
          <p:cNvSpPr/>
          <p:nvPr/>
        </p:nvSpPr>
        <p:spPr>
          <a:xfrm>
            <a:off x="896112" y="5568696"/>
            <a:ext cx="475488" cy="475488"/>
          </a:xfrm>
          <a:prstGeom prst="ellipse">
            <a:avLst/>
          </a:prstGeom>
          <a:solidFill>
            <a:srgbClr val="E8A33D"/>
          </a:solidFill>
          <a:ln w="12700">
            <a:solidFill>
              <a:srgbClr val="E8A33D"/>
            </a:solidFill>
            <a:prstDash val="solid"/>
          </a:ln>
        </p:spPr>
        <p:txBody>
          <a:bodyPr/>
          <a:lstStyle/>
          <a:p>
            <a:endParaRPr dirty="0"/>
          </a:p>
        </p:txBody>
      </p:sp>
      <p:pic>
        <p:nvPicPr>
          <p:cNvPr id="34" name="Image 4" descr="preencoded.png"/>
          <p:cNvPicPr>
            <a:picLocks noChangeAspect="1"/>
          </p:cNvPicPr>
          <p:nvPr/>
        </p:nvPicPr>
        <p:blipFill>
          <a:blip r:embed="rId7"/>
          <a:stretch>
            <a:fillRect/>
          </a:stretch>
        </p:blipFill>
        <p:spPr>
          <a:xfrm>
            <a:off x="1019739" y="5692323"/>
            <a:ext cx="228234" cy="228234"/>
          </a:xfrm>
          <a:prstGeom prst="rect">
            <a:avLst/>
          </a:prstGeom>
        </p:spPr>
      </p:pic>
      <p:sp>
        <p:nvSpPr>
          <p:cNvPr id="35" name="Text 28"/>
          <p:cNvSpPr txBox="1"/>
          <p:nvPr/>
        </p:nvSpPr>
        <p:spPr>
          <a:xfrm>
            <a:off x="1517904" y="5431536"/>
            <a:ext cx="9741103" cy="749808"/>
          </a:xfrm>
          <a:prstGeom prst="rect">
            <a:avLst/>
          </a:prstGeom>
          <a:noFill/>
          <a:ln/>
        </p:spPr>
        <p:txBody>
          <a:bodyPr wrap="square" lIns="0" tIns="0" rIns="0" bIns="0" rtlCol="0" anchor="ctr"/>
          <a:lstStyle/>
          <a:p>
            <a:pPr marL="0" indent="0">
              <a:lnSpc>
                <a:spcPts val="2000"/>
              </a:lnSpc>
              <a:buNone/>
            </a:pPr>
            <a:r>
              <a:rPr lang="en-US" sz="1400" b="1" dirty="0">
                <a:solidFill>
                  <a:srgbClr val="E8A33D"/>
                </a:solidFill>
                <a:latin typeface="Calibri" pitchFamily="34" charset="0"/>
                <a:ea typeface="Calibri" pitchFamily="34" charset="-122"/>
                <a:cs typeface="Calibri" pitchFamily="34" charset="-120"/>
              </a:rPr>
              <a:t>Result:  </a:t>
            </a:r>
            <a:r>
              <a:rPr lang="en-US" sz="1400" dirty="0">
                <a:solidFill>
                  <a:srgbClr val="FFFFFF"/>
                </a:solidFill>
                <a:latin typeface="Calibri" pitchFamily="34" charset="0"/>
                <a:ea typeface="Calibri" pitchFamily="34" charset="-122"/>
                <a:cs typeface="Calibri" pitchFamily="34" charset="-120"/>
              </a:rPr>
              <a:t>one searchable knowledge base built from many documents — and every passage in it still knows exactly where it came from.</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219456"/>
            <a:ext cx="11057839" cy="237744"/>
          </a:xfrm>
          <a:prstGeom prst="rect">
            <a:avLst/>
          </a:prstGeom>
          <a:noFill/>
          <a:ln/>
        </p:spPr>
        <p:txBody>
          <a:bodyPr wrap="square" lIns="0" tIns="0" rIns="0" bIns="0" rtlCol="0" anchor="ctr"/>
          <a:lstStyle/>
          <a:p>
            <a:pPr marL="0" indent="0">
              <a:buNone/>
            </a:pPr>
            <a:r>
              <a:rPr lang="en-US" sz="1150" b="1" kern="0" spc="160" dirty="0">
                <a:solidFill>
                  <a:srgbClr val="1C7C7C"/>
                </a:solidFill>
                <a:latin typeface="Calibri" pitchFamily="34" charset="0"/>
                <a:ea typeface="Calibri" pitchFamily="34" charset="-122"/>
                <a:cs typeface="Calibri" pitchFamily="34" charset="-120"/>
              </a:rPr>
              <a:t>STAGE TWO</a:t>
            </a:r>
            <a:endParaRPr lang="en-US" sz="1150" dirty="0"/>
          </a:p>
        </p:txBody>
      </p:sp>
      <p:sp>
        <p:nvSpPr>
          <p:cNvPr id="3" name="Text 1"/>
          <p:cNvSpPr txBox="1"/>
          <p:nvPr/>
        </p:nvSpPr>
        <p:spPr>
          <a:xfrm>
            <a:off x="566928" y="384048"/>
            <a:ext cx="11057839" cy="658368"/>
          </a:xfrm>
          <a:prstGeom prst="rect">
            <a:avLst/>
          </a:prstGeom>
          <a:noFill/>
          <a:ln/>
        </p:spPr>
        <p:txBody>
          <a:bodyPr wrap="square" lIns="0" tIns="0" rIns="0" bIns="0" rtlCol="0" anchor="ctr"/>
          <a:lstStyle/>
          <a:p>
            <a:pPr marL="0" indent="0">
              <a:buNone/>
            </a:pPr>
            <a:r>
              <a:rPr lang="en-US" sz="3400" b="1" dirty="0">
                <a:solidFill>
                  <a:srgbClr val="172B2B"/>
                </a:solidFill>
                <a:latin typeface="Cambria" pitchFamily="34" charset="0"/>
                <a:ea typeface="Cambria" pitchFamily="34" charset="-122"/>
                <a:cs typeface="Cambria" pitchFamily="34" charset="-120"/>
              </a:rPr>
              <a:t>From a question to a cited answer</a:t>
            </a:r>
            <a:endParaRPr lang="en-US" sz="3400" dirty="0"/>
          </a:p>
        </p:txBody>
      </p:sp>
      <p:sp>
        <p:nvSpPr>
          <p:cNvPr id="4" name="Shape 2"/>
          <p:cNvSpPr/>
          <p:nvPr/>
        </p:nvSpPr>
        <p:spPr>
          <a:xfrm>
            <a:off x="566928" y="1426464"/>
            <a:ext cx="384048" cy="384048"/>
          </a:xfrm>
          <a:prstGeom prst="ellipse">
            <a:avLst/>
          </a:prstGeom>
          <a:solidFill>
            <a:srgbClr val="1C7C7C"/>
          </a:solidFill>
          <a:ln w="12700">
            <a:solidFill>
              <a:srgbClr val="1C7C7C"/>
            </a:solidFill>
            <a:prstDash val="solid"/>
          </a:ln>
        </p:spPr>
        <p:txBody>
          <a:bodyPr/>
          <a:lstStyle/>
          <a:p>
            <a:endParaRPr dirty="0"/>
          </a:p>
        </p:txBody>
      </p:sp>
      <p:sp>
        <p:nvSpPr>
          <p:cNvPr id="5" name="Text 3"/>
          <p:cNvSpPr txBox="1"/>
          <p:nvPr/>
        </p:nvSpPr>
        <p:spPr>
          <a:xfrm>
            <a:off x="566928" y="1426464"/>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6" name="Shape 4"/>
          <p:cNvSpPr/>
          <p:nvPr/>
        </p:nvSpPr>
        <p:spPr>
          <a:xfrm>
            <a:off x="758952" y="1847088"/>
            <a:ext cx="0" cy="576072"/>
          </a:xfrm>
          <a:prstGeom prst="line">
            <a:avLst/>
          </a:prstGeom>
          <a:noFill/>
          <a:ln w="19050">
            <a:solidFill>
              <a:srgbClr val="CFDEDB"/>
            </a:solidFill>
            <a:prstDash val="solid"/>
          </a:ln>
        </p:spPr>
        <p:txBody>
          <a:bodyPr/>
          <a:lstStyle/>
          <a:p>
            <a:endParaRPr dirty="0"/>
          </a:p>
        </p:txBody>
      </p:sp>
      <p:sp>
        <p:nvSpPr>
          <p:cNvPr id="7" name="Text 5"/>
          <p:cNvSpPr txBox="1"/>
          <p:nvPr/>
        </p:nvSpPr>
        <p:spPr>
          <a:xfrm>
            <a:off x="1170432" y="1389888"/>
            <a:ext cx="5852160" cy="274320"/>
          </a:xfrm>
          <a:prstGeom prst="rect">
            <a:avLst/>
          </a:prstGeom>
          <a:noFill/>
          <a:ln/>
        </p:spPr>
        <p:txBody>
          <a:bodyPr wrap="square" lIns="0" tIns="0" rIns="0" bIns="0" rtlCol="0" anchor="ctr"/>
          <a:lstStyle/>
          <a:p>
            <a:pPr marL="0" indent="0">
              <a:buNone/>
            </a:pPr>
            <a:r>
              <a:rPr lang="en-US" sz="1450" b="1" dirty="0">
                <a:solidFill>
                  <a:srgbClr val="172B2B"/>
                </a:solidFill>
                <a:latin typeface="Calibri" pitchFamily="34" charset="0"/>
                <a:ea typeface="Calibri" pitchFamily="34" charset="-122"/>
                <a:cs typeface="Calibri" pitchFamily="34" charset="-120"/>
              </a:rPr>
              <a:t>User asks a question</a:t>
            </a:r>
            <a:endParaRPr lang="en-US" sz="1450" dirty="0"/>
          </a:p>
        </p:txBody>
      </p:sp>
      <p:sp>
        <p:nvSpPr>
          <p:cNvPr id="8" name="Text 6"/>
          <p:cNvSpPr txBox="1"/>
          <p:nvPr/>
        </p:nvSpPr>
        <p:spPr>
          <a:xfrm>
            <a:off x="1170432" y="1682496"/>
            <a:ext cx="5852160" cy="292608"/>
          </a:xfrm>
          <a:prstGeom prst="rect">
            <a:avLst/>
          </a:prstGeom>
          <a:noFill/>
          <a:ln/>
        </p:spPr>
        <p:txBody>
          <a:bodyPr wrap="square" lIns="0" tIns="0" rIns="0" bIns="0" rtlCol="0" anchor="ctr"/>
          <a:lstStyle/>
          <a:p>
            <a:pPr marL="0" indent="0">
              <a:buNone/>
            </a:pPr>
            <a:r>
              <a:rPr lang="en-US" sz="1150" dirty="0">
                <a:solidFill>
                  <a:srgbClr val="5F7271"/>
                </a:solidFill>
                <a:latin typeface="Calibri" pitchFamily="34" charset="0"/>
                <a:ea typeface="Calibri" pitchFamily="34" charset="-122"/>
                <a:cs typeface="Calibri" pitchFamily="34" charset="-120"/>
              </a:rPr>
              <a:t>In plain language, as they would ask a person</a:t>
            </a:r>
            <a:endParaRPr lang="en-US" sz="1150" dirty="0"/>
          </a:p>
        </p:txBody>
      </p:sp>
      <p:sp>
        <p:nvSpPr>
          <p:cNvPr id="9" name="Shape 7"/>
          <p:cNvSpPr/>
          <p:nvPr/>
        </p:nvSpPr>
        <p:spPr>
          <a:xfrm>
            <a:off x="566928" y="2423160"/>
            <a:ext cx="384048" cy="384048"/>
          </a:xfrm>
          <a:prstGeom prst="ellipse">
            <a:avLst/>
          </a:prstGeom>
          <a:solidFill>
            <a:srgbClr val="1C7C7C"/>
          </a:solidFill>
          <a:ln w="12700">
            <a:solidFill>
              <a:srgbClr val="1C7C7C"/>
            </a:solidFill>
            <a:prstDash val="solid"/>
          </a:ln>
        </p:spPr>
        <p:txBody>
          <a:bodyPr/>
          <a:lstStyle/>
          <a:p>
            <a:endParaRPr dirty="0"/>
          </a:p>
        </p:txBody>
      </p:sp>
      <p:sp>
        <p:nvSpPr>
          <p:cNvPr id="10" name="Text 8"/>
          <p:cNvSpPr txBox="1"/>
          <p:nvPr/>
        </p:nvSpPr>
        <p:spPr>
          <a:xfrm>
            <a:off x="566928" y="2423160"/>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1" name="Shape 9"/>
          <p:cNvSpPr/>
          <p:nvPr/>
        </p:nvSpPr>
        <p:spPr>
          <a:xfrm>
            <a:off x="758952" y="2843784"/>
            <a:ext cx="0" cy="576072"/>
          </a:xfrm>
          <a:prstGeom prst="line">
            <a:avLst/>
          </a:prstGeom>
          <a:noFill/>
          <a:ln w="19050">
            <a:solidFill>
              <a:srgbClr val="CFDEDB"/>
            </a:solidFill>
            <a:prstDash val="solid"/>
          </a:ln>
        </p:spPr>
        <p:txBody>
          <a:bodyPr/>
          <a:lstStyle/>
          <a:p>
            <a:endParaRPr dirty="0"/>
          </a:p>
        </p:txBody>
      </p:sp>
      <p:sp>
        <p:nvSpPr>
          <p:cNvPr id="12" name="Text 10"/>
          <p:cNvSpPr txBox="1"/>
          <p:nvPr/>
        </p:nvSpPr>
        <p:spPr>
          <a:xfrm>
            <a:off x="1170432" y="2386584"/>
            <a:ext cx="5852160" cy="274320"/>
          </a:xfrm>
          <a:prstGeom prst="rect">
            <a:avLst/>
          </a:prstGeom>
          <a:noFill/>
          <a:ln/>
        </p:spPr>
        <p:txBody>
          <a:bodyPr wrap="square" lIns="0" tIns="0" rIns="0" bIns="0" rtlCol="0" anchor="ctr"/>
          <a:lstStyle/>
          <a:p>
            <a:pPr marL="0" indent="0">
              <a:buNone/>
            </a:pPr>
            <a:r>
              <a:rPr lang="en-US" sz="1450" b="1" dirty="0">
                <a:solidFill>
                  <a:srgbClr val="172B2B"/>
                </a:solidFill>
                <a:latin typeface="Calibri" pitchFamily="34" charset="0"/>
                <a:ea typeface="Calibri" pitchFamily="34" charset="-122"/>
                <a:cs typeface="Calibri" pitchFamily="34" charset="-120"/>
              </a:rPr>
              <a:t>Semantic search</a:t>
            </a:r>
            <a:endParaRPr lang="en-US" sz="1450" dirty="0"/>
          </a:p>
        </p:txBody>
      </p:sp>
      <p:sp>
        <p:nvSpPr>
          <p:cNvPr id="13" name="Text 11"/>
          <p:cNvSpPr txBox="1"/>
          <p:nvPr/>
        </p:nvSpPr>
        <p:spPr>
          <a:xfrm>
            <a:off x="1170432" y="2679192"/>
            <a:ext cx="5852160" cy="292608"/>
          </a:xfrm>
          <a:prstGeom prst="rect">
            <a:avLst/>
          </a:prstGeom>
          <a:noFill/>
          <a:ln/>
        </p:spPr>
        <p:txBody>
          <a:bodyPr wrap="square" lIns="0" tIns="0" rIns="0" bIns="0" rtlCol="0" anchor="ctr"/>
          <a:lstStyle/>
          <a:p>
            <a:pPr marL="0" indent="0">
              <a:buNone/>
            </a:pPr>
            <a:r>
              <a:rPr lang="en-US" sz="1150" dirty="0">
                <a:solidFill>
                  <a:srgbClr val="5F7271"/>
                </a:solidFill>
                <a:latin typeface="Calibri" pitchFamily="34" charset="0"/>
                <a:ea typeface="Calibri" pitchFamily="34" charset="-122"/>
                <a:cs typeface="Calibri" pitchFamily="34" charset="-120"/>
              </a:rPr>
              <a:t>The query is embedded and compared against every stored passage</a:t>
            </a:r>
            <a:endParaRPr lang="en-US" sz="1150" dirty="0"/>
          </a:p>
        </p:txBody>
      </p:sp>
      <p:sp>
        <p:nvSpPr>
          <p:cNvPr id="14" name="Shape 12"/>
          <p:cNvSpPr/>
          <p:nvPr/>
        </p:nvSpPr>
        <p:spPr>
          <a:xfrm>
            <a:off x="566928" y="3419856"/>
            <a:ext cx="384048" cy="384048"/>
          </a:xfrm>
          <a:prstGeom prst="ellipse">
            <a:avLst/>
          </a:prstGeom>
          <a:solidFill>
            <a:srgbClr val="1C7C7C"/>
          </a:solidFill>
          <a:ln w="12700">
            <a:solidFill>
              <a:srgbClr val="1C7C7C"/>
            </a:solidFill>
            <a:prstDash val="solid"/>
          </a:ln>
        </p:spPr>
        <p:txBody>
          <a:bodyPr/>
          <a:lstStyle/>
          <a:p>
            <a:endParaRPr dirty="0"/>
          </a:p>
        </p:txBody>
      </p:sp>
      <p:sp>
        <p:nvSpPr>
          <p:cNvPr id="15" name="Text 13"/>
          <p:cNvSpPr txBox="1"/>
          <p:nvPr/>
        </p:nvSpPr>
        <p:spPr>
          <a:xfrm>
            <a:off x="566928" y="3419856"/>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6" name="Shape 14"/>
          <p:cNvSpPr/>
          <p:nvPr/>
        </p:nvSpPr>
        <p:spPr>
          <a:xfrm>
            <a:off x="758952" y="3840480"/>
            <a:ext cx="0" cy="576072"/>
          </a:xfrm>
          <a:prstGeom prst="line">
            <a:avLst/>
          </a:prstGeom>
          <a:noFill/>
          <a:ln w="19050">
            <a:solidFill>
              <a:srgbClr val="CFDEDB"/>
            </a:solidFill>
            <a:prstDash val="solid"/>
          </a:ln>
        </p:spPr>
        <p:txBody>
          <a:bodyPr/>
          <a:lstStyle/>
          <a:p>
            <a:endParaRPr dirty="0"/>
          </a:p>
        </p:txBody>
      </p:sp>
      <p:sp>
        <p:nvSpPr>
          <p:cNvPr id="17" name="Text 15"/>
          <p:cNvSpPr txBox="1"/>
          <p:nvPr/>
        </p:nvSpPr>
        <p:spPr>
          <a:xfrm>
            <a:off x="1170432" y="3383280"/>
            <a:ext cx="5852160" cy="274320"/>
          </a:xfrm>
          <a:prstGeom prst="rect">
            <a:avLst/>
          </a:prstGeom>
          <a:noFill/>
          <a:ln/>
        </p:spPr>
        <p:txBody>
          <a:bodyPr wrap="square" lIns="0" tIns="0" rIns="0" bIns="0" rtlCol="0" anchor="ctr"/>
          <a:lstStyle/>
          <a:p>
            <a:pPr marL="0" indent="0">
              <a:buNone/>
            </a:pPr>
            <a:r>
              <a:rPr lang="en-US" sz="1450" b="1" dirty="0">
                <a:solidFill>
                  <a:srgbClr val="172B2B"/>
                </a:solidFill>
                <a:latin typeface="Calibri" pitchFamily="34" charset="0"/>
                <a:ea typeface="Calibri" pitchFamily="34" charset="-122"/>
                <a:cs typeface="Calibri" pitchFamily="34" charset="-120"/>
              </a:rPr>
              <a:t>Context retrieval</a:t>
            </a:r>
            <a:endParaRPr lang="en-US" sz="1450" dirty="0"/>
          </a:p>
        </p:txBody>
      </p:sp>
      <p:sp>
        <p:nvSpPr>
          <p:cNvPr id="18" name="Text 16"/>
          <p:cNvSpPr txBox="1"/>
          <p:nvPr/>
        </p:nvSpPr>
        <p:spPr>
          <a:xfrm>
            <a:off x="1170432" y="3675888"/>
            <a:ext cx="5852160" cy="292608"/>
          </a:xfrm>
          <a:prstGeom prst="rect">
            <a:avLst/>
          </a:prstGeom>
          <a:noFill/>
          <a:ln/>
        </p:spPr>
        <p:txBody>
          <a:bodyPr wrap="square" lIns="0" tIns="0" rIns="0" bIns="0" rtlCol="0" anchor="ctr"/>
          <a:lstStyle/>
          <a:p>
            <a:pPr marL="0" indent="0">
              <a:buNone/>
            </a:pPr>
            <a:r>
              <a:rPr lang="en-US" sz="1150" dirty="0">
                <a:solidFill>
                  <a:srgbClr val="5F7271"/>
                </a:solidFill>
                <a:latin typeface="Calibri" pitchFamily="34" charset="0"/>
                <a:ea typeface="Calibri" pitchFamily="34" charset="-122"/>
                <a:cs typeface="Calibri" pitchFamily="34" charset="-120"/>
              </a:rPr>
              <a:t>The best passages are selected — from one document or from several</a:t>
            </a:r>
            <a:endParaRPr lang="en-US" sz="1150" dirty="0"/>
          </a:p>
        </p:txBody>
      </p:sp>
      <p:sp>
        <p:nvSpPr>
          <p:cNvPr id="19" name="Shape 17"/>
          <p:cNvSpPr/>
          <p:nvPr/>
        </p:nvSpPr>
        <p:spPr>
          <a:xfrm>
            <a:off x="566928" y="4416552"/>
            <a:ext cx="384048" cy="384048"/>
          </a:xfrm>
          <a:prstGeom prst="ellipse">
            <a:avLst/>
          </a:prstGeom>
          <a:solidFill>
            <a:srgbClr val="1C7C7C"/>
          </a:solidFill>
          <a:ln w="12700">
            <a:solidFill>
              <a:srgbClr val="1C7C7C"/>
            </a:solidFill>
            <a:prstDash val="solid"/>
          </a:ln>
        </p:spPr>
        <p:txBody>
          <a:bodyPr/>
          <a:lstStyle/>
          <a:p>
            <a:endParaRPr dirty="0"/>
          </a:p>
        </p:txBody>
      </p:sp>
      <p:sp>
        <p:nvSpPr>
          <p:cNvPr id="20" name="Text 18"/>
          <p:cNvSpPr txBox="1"/>
          <p:nvPr/>
        </p:nvSpPr>
        <p:spPr>
          <a:xfrm>
            <a:off x="566928" y="4416552"/>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1" name="Shape 19"/>
          <p:cNvSpPr/>
          <p:nvPr/>
        </p:nvSpPr>
        <p:spPr>
          <a:xfrm>
            <a:off x="758952" y="4837176"/>
            <a:ext cx="0" cy="576072"/>
          </a:xfrm>
          <a:prstGeom prst="line">
            <a:avLst/>
          </a:prstGeom>
          <a:noFill/>
          <a:ln w="19050">
            <a:solidFill>
              <a:srgbClr val="CFDEDB"/>
            </a:solidFill>
            <a:prstDash val="solid"/>
          </a:ln>
        </p:spPr>
        <p:txBody>
          <a:bodyPr/>
          <a:lstStyle/>
          <a:p>
            <a:endParaRPr dirty="0"/>
          </a:p>
        </p:txBody>
      </p:sp>
      <p:sp>
        <p:nvSpPr>
          <p:cNvPr id="22" name="Text 20"/>
          <p:cNvSpPr txBox="1"/>
          <p:nvPr/>
        </p:nvSpPr>
        <p:spPr>
          <a:xfrm>
            <a:off x="1170432" y="4379976"/>
            <a:ext cx="5852160" cy="274320"/>
          </a:xfrm>
          <a:prstGeom prst="rect">
            <a:avLst/>
          </a:prstGeom>
          <a:noFill/>
          <a:ln/>
        </p:spPr>
        <p:txBody>
          <a:bodyPr wrap="square" lIns="0" tIns="0" rIns="0" bIns="0" rtlCol="0" anchor="ctr"/>
          <a:lstStyle/>
          <a:p>
            <a:pPr marL="0" indent="0">
              <a:buNone/>
            </a:pPr>
            <a:r>
              <a:rPr lang="en-US" sz="1450" b="1" dirty="0">
                <a:solidFill>
                  <a:srgbClr val="172B2B"/>
                </a:solidFill>
                <a:latin typeface="Calibri" pitchFamily="34" charset="0"/>
                <a:ea typeface="Calibri" pitchFamily="34" charset="-122"/>
                <a:cs typeface="Calibri" pitchFamily="34" charset="-120"/>
              </a:rPr>
              <a:t>Answer generation</a:t>
            </a:r>
            <a:endParaRPr lang="en-US" sz="1450" dirty="0"/>
          </a:p>
        </p:txBody>
      </p:sp>
      <p:sp>
        <p:nvSpPr>
          <p:cNvPr id="23" name="Text 21"/>
          <p:cNvSpPr txBox="1"/>
          <p:nvPr/>
        </p:nvSpPr>
        <p:spPr>
          <a:xfrm>
            <a:off x="1170432" y="4672584"/>
            <a:ext cx="5852160" cy="292608"/>
          </a:xfrm>
          <a:prstGeom prst="rect">
            <a:avLst/>
          </a:prstGeom>
          <a:noFill/>
          <a:ln/>
        </p:spPr>
        <p:txBody>
          <a:bodyPr wrap="square" lIns="0" tIns="0" rIns="0" bIns="0" rtlCol="0" anchor="ctr"/>
          <a:lstStyle/>
          <a:p>
            <a:pPr marL="0" indent="0">
              <a:buNone/>
            </a:pPr>
            <a:r>
              <a:rPr lang="en-US" sz="1150" dirty="0">
                <a:solidFill>
                  <a:srgbClr val="5F7271"/>
                </a:solidFill>
                <a:latin typeface="Calibri" pitchFamily="34" charset="0"/>
                <a:ea typeface="Calibri" pitchFamily="34" charset="-122"/>
                <a:cs typeface="Calibri" pitchFamily="34" charset="-120"/>
              </a:rPr>
              <a:t>Only those passages are given to the LLM, with instructions to use nothing else</a:t>
            </a:r>
            <a:endParaRPr lang="en-US" sz="1150" dirty="0"/>
          </a:p>
        </p:txBody>
      </p:sp>
      <p:sp>
        <p:nvSpPr>
          <p:cNvPr id="24" name="Shape 22"/>
          <p:cNvSpPr/>
          <p:nvPr/>
        </p:nvSpPr>
        <p:spPr>
          <a:xfrm>
            <a:off x="566928" y="5413248"/>
            <a:ext cx="384048" cy="384048"/>
          </a:xfrm>
          <a:prstGeom prst="ellipse">
            <a:avLst/>
          </a:prstGeom>
          <a:solidFill>
            <a:srgbClr val="1C7C7C"/>
          </a:solidFill>
          <a:ln w="12700">
            <a:solidFill>
              <a:srgbClr val="1C7C7C"/>
            </a:solidFill>
            <a:prstDash val="solid"/>
          </a:ln>
        </p:spPr>
        <p:txBody>
          <a:bodyPr/>
          <a:lstStyle/>
          <a:p>
            <a:endParaRPr dirty="0"/>
          </a:p>
        </p:txBody>
      </p:sp>
      <p:sp>
        <p:nvSpPr>
          <p:cNvPr id="25" name="Text 23"/>
          <p:cNvSpPr txBox="1"/>
          <p:nvPr/>
        </p:nvSpPr>
        <p:spPr>
          <a:xfrm>
            <a:off x="566928" y="5413248"/>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6" name="Text 24"/>
          <p:cNvSpPr txBox="1"/>
          <p:nvPr/>
        </p:nvSpPr>
        <p:spPr>
          <a:xfrm>
            <a:off x="1170432" y="5376672"/>
            <a:ext cx="5852160" cy="274320"/>
          </a:xfrm>
          <a:prstGeom prst="rect">
            <a:avLst/>
          </a:prstGeom>
          <a:noFill/>
          <a:ln/>
        </p:spPr>
        <p:txBody>
          <a:bodyPr wrap="square" lIns="0" tIns="0" rIns="0" bIns="0" rtlCol="0" anchor="ctr"/>
          <a:lstStyle/>
          <a:p>
            <a:pPr marL="0" indent="0">
              <a:buNone/>
            </a:pPr>
            <a:r>
              <a:rPr lang="en-US" sz="1450" b="1" dirty="0">
                <a:solidFill>
                  <a:srgbClr val="172B2B"/>
                </a:solidFill>
                <a:latin typeface="Calibri" pitchFamily="34" charset="0"/>
                <a:ea typeface="Calibri" pitchFamily="34" charset="-122"/>
                <a:cs typeface="Calibri" pitchFamily="34" charset="-120"/>
              </a:rPr>
              <a:t>Citations attached</a:t>
            </a:r>
            <a:endParaRPr lang="en-US" sz="1450" dirty="0"/>
          </a:p>
        </p:txBody>
      </p:sp>
      <p:sp>
        <p:nvSpPr>
          <p:cNvPr id="27" name="Text 25"/>
          <p:cNvSpPr txBox="1"/>
          <p:nvPr/>
        </p:nvSpPr>
        <p:spPr>
          <a:xfrm>
            <a:off x="1170432" y="5669280"/>
            <a:ext cx="5852160" cy="292608"/>
          </a:xfrm>
          <a:prstGeom prst="rect">
            <a:avLst/>
          </a:prstGeom>
          <a:noFill/>
          <a:ln/>
        </p:spPr>
        <p:txBody>
          <a:bodyPr wrap="square" lIns="0" tIns="0" rIns="0" bIns="0" rtlCol="0" anchor="ctr"/>
          <a:lstStyle/>
          <a:p>
            <a:pPr marL="0" indent="0">
              <a:buNone/>
            </a:pPr>
            <a:r>
              <a:rPr lang="en-US" sz="1150" dirty="0">
                <a:solidFill>
                  <a:srgbClr val="5F7271"/>
                </a:solidFill>
                <a:latin typeface="Calibri" pitchFamily="34" charset="0"/>
                <a:ea typeface="Calibri" pitchFamily="34" charset="-122"/>
                <a:cs typeface="Calibri" pitchFamily="34" charset="-120"/>
              </a:rPr>
              <a:t>Each sentence is linked back to the document and page that supports it</a:t>
            </a:r>
            <a:endParaRPr lang="en-US" sz="1150" dirty="0"/>
          </a:p>
        </p:txBody>
      </p:sp>
      <p:sp>
        <p:nvSpPr>
          <p:cNvPr id="28" name="Shape 26"/>
          <p:cNvSpPr/>
          <p:nvPr/>
        </p:nvSpPr>
        <p:spPr>
          <a:xfrm>
            <a:off x="7223760" y="1389888"/>
            <a:ext cx="4401007" cy="4700016"/>
          </a:xfrm>
          <a:prstGeom prst="roundRect">
            <a:avLst>
              <a:gd name="adj" fmla="val 2078"/>
            </a:avLst>
          </a:prstGeom>
          <a:solidFill>
            <a:srgbClr val="EFF4F3"/>
          </a:solidFill>
          <a:ln w="12700">
            <a:solidFill>
              <a:srgbClr val="CFDEDB"/>
            </a:solidFill>
            <a:prstDash val="solid"/>
          </a:ln>
        </p:spPr>
        <p:txBody>
          <a:bodyPr/>
          <a:lstStyle/>
          <a:p>
            <a:endParaRPr dirty="0"/>
          </a:p>
        </p:txBody>
      </p:sp>
      <p:sp>
        <p:nvSpPr>
          <p:cNvPr id="29" name="Text 27"/>
          <p:cNvSpPr txBox="1"/>
          <p:nvPr/>
        </p:nvSpPr>
        <p:spPr>
          <a:xfrm>
            <a:off x="7516368" y="1664208"/>
            <a:ext cx="3815791" cy="256032"/>
          </a:xfrm>
          <a:prstGeom prst="rect">
            <a:avLst/>
          </a:prstGeom>
          <a:noFill/>
          <a:ln/>
        </p:spPr>
        <p:txBody>
          <a:bodyPr wrap="square" lIns="0" tIns="0" rIns="0" bIns="0" rtlCol="0" anchor="ctr"/>
          <a:lstStyle/>
          <a:p>
            <a:pPr marL="0" indent="0">
              <a:buNone/>
            </a:pPr>
            <a:r>
              <a:rPr lang="en-US" sz="1050" b="1" kern="0" spc="150" dirty="0">
                <a:solidFill>
                  <a:srgbClr val="1C7C7C"/>
                </a:solidFill>
                <a:latin typeface="Calibri" pitchFamily="34" charset="0"/>
                <a:ea typeface="Calibri" pitchFamily="34" charset="-122"/>
                <a:cs typeface="Calibri" pitchFamily="34" charset="-120"/>
              </a:rPr>
              <a:t>WORKED EXAMPLE</a:t>
            </a:r>
            <a:endParaRPr lang="en-US" sz="1050" dirty="0"/>
          </a:p>
        </p:txBody>
      </p:sp>
      <p:sp>
        <p:nvSpPr>
          <p:cNvPr id="30" name="Shape 28"/>
          <p:cNvSpPr/>
          <p:nvPr/>
        </p:nvSpPr>
        <p:spPr>
          <a:xfrm>
            <a:off x="7516368" y="2029968"/>
            <a:ext cx="3815791" cy="621792"/>
          </a:xfrm>
          <a:prstGeom prst="roundRect">
            <a:avLst>
              <a:gd name="adj" fmla="val 14706"/>
            </a:avLst>
          </a:prstGeom>
          <a:solidFill>
            <a:srgbClr val="FFFFFF"/>
          </a:solidFill>
          <a:ln w="12700">
            <a:solidFill>
              <a:srgbClr val="CFDEDB"/>
            </a:solidFill>
            <a:prstDash val="solid"/>
          </a:ln>
        </p:spPr>
        <p:txBody>
          <a:bodyPr/>
          <a:lstStyle/>
          <a:p>
            <a:endParaRPr dirty="0"/>
          </a:p>
        </p:txBody>
      </p:sp>
      <p:sp>
        <p:nvSpPr>
          <p:cNvPr id="31" name="Text 29"/>
          <p:cNvSpPr txBox="1"/>
          <p:nvPr/>
        </p:nvSpPr>
        <p:spPr>
          <a:xfrm>
            <a:off x="7644384" y="2029968"/>
            <a:ext cx="3559759" cy="621792"/>
          </a:xfrm>
          <a:prstGeom prst="rect">
            <a:avLst/>
          </a:prstGeom>
          <a:noFill/>
          <a:ln/>
        </p:spPr>
        <p:txBody>
          <a:bodyPr wrap="square" lIns="0" tIns="0" rIns="0" bIns="0" rtlCol="0" anchor="ctr"/>
          <a:lstStyle/>
          <a:p>
            <a:pPr marL="0" indent="0">
              <a:buNone/>
            </a:pPr>
            <a:r>
              <a:rPr lang="en-US" sz="1300" i="1" dirty="0">
                <a:solidFill>
                  <a:srgbClr val="172B2B"/>
                </a:solidFill>
                <a:latin typeface="Calibri" pitchFamily="34" charset="0"/>
                <a:ea typeface="Calibri" pitchFamily="34" charset="-122"/>
                <a:cs typeface="Calibri" pitchFamily="34" charset="-120"/>
              </a:rPr>
              <a:t>“What are the eligibility requirements?”</a:t>
            </a:r>
            <a:endParaRPr lang="en-US" sz="1300" dirty="0"/>
          </a:p>
        </p:txBody>
      </p:sp>
      <p:sp>
        <p:nvSpPr>
          <p:cNvPr id="32" name="Text 30"/>
          <p:cNvSpPr txBox="1"/>
          <p:nvPr/>
        </p:nvSpPr>
        <p:spPr>
          <a:xfrm>
            <a:off x="7516368" y="2871216"/>
            <a:ext cx="3815791" cy="237744"/>
          </a:xfrm>
          <a:prstGeom prst="rect">
            <a:avLst/>
          </a:prstGeom>
          <a:noFill/>
          <a:ln/>
        </p:spPr>
        <p:txBody>
          <a:bodyPr wrap="square" lIns="0" tIns="0" rIns="0" bIns="0" rtlCol="0" anchor="ctr"/>
          <a:lstStyle/>
          <a:p>
            <a:pPr marL="0" indent="0">
              <a:buNone/>
            </a:pPr>
            <a:r>
              <a:rPr lang="en-US" sz="1000" b="1" kern="0" spc="140" dirty="0">
                <a:solidFill>
                  <a:srgbClr val="5F7271"/>
                </a:solidFill>
                <a:latin typeface="Calibri" pitchFamily="34" charset="0"/>
                <a:ea typeface="Calibri" pitchFamily="34" charset="-122"/>
                <a:cs typeface="Calibri" pitchFamily="34" charset="-120"/>
              </a:rPr>
              <a:t>RETRIEVED PASSAGES</a:t>
            </a:r>
            <a:endParaRPr lang="en-US" sz="1000" dirty="0"/>
          </a:p>
        </p:txBody>
      </p:sp>
      <p:sp>
        <p:nvSpPr>
          <p:cNvPr id="33" name="Shape 31"/>
          <p:cNvSpPr/>
          <p:nvPr/>
        </p:nvSpPr>
        <p:spPr>
          <a:xfrm>
            <a:off x="7516368" y="3200400"/>
            <a:ext cx="3815791" cy="457200"/>
          </a:xfrm>
          <a:prstGeom prst="roundRect">
            <a:avLst>
              <a:gd name="adj" fmla="val 18000"/>
            </a:avLst>
          </a:prstGeom>
          <a:solidFill>
            <a:srgbClr val="FFFFFF"/>
          </a:solidFill>
          <a:ln w="12700">
            <a:solidFill>
              <a:srgbClr val="CFDEDB"/>
            </a:solidFill>
            <a:prstDash val="solid"/>
          </a:ln>
        </p:spPr>
        <p:txBody>
          <a:bodyPr/>
          <a:lstStyle/>
          <a:p>
            <a:endParaRPr dirty="0"/>
          </a:p>
        </p:txBody>
      </p:sp>
      <p:sp>
        <p:nvSpPr>
          <p:cNvPr id="34" name="Shape 32"/>
          <p:cNvSpPr/>
          <p:nvPr/>
        </p:nvSpPr>
        <p:spPr>
          <a:xfrm>
            <a:off x="7626096" y="3310128"/>
            <a:ext cx="384048" cy="237744"/>
          </a:xfrm>
          <a:prstGeom prst="roundRect">
            <a:avLst>
              <a:gd name="adj" fmla="val 50000"/>
            </a:avLst>
          </a:prstGeom>
          <a:solidFill>
            <a:srgbClr val="1C7C7C"/>
          </a:solidFill>
          <a:ln w="12700">
            <a:solidFill>
              <a:srgbClr val="1C7C7C"/>
            </a:solidFill>
            <a:prstDash val="solid"/>
          </a:ln>
        </p:spPr>
        <p:txBody>
          <a:bodyPr/>
          <a:lstStyle/>
          <a:p>
            <a:endParaRPr dirty="0"/>
          </a:p>
        </p:txBody>
      </p:sp>
      <p:sp>
        <p:nvSpPr>
          <p:cNvPr id="35" name="Text 33"/>
          <p:cNvSpPr txBox="1"/>
          <p:nvPr/>
        </p:nvSpPr>
        <p:spPr>
          <a:xfrm>
            <a:off x="7626096" y="3310128"/>
            <a:ext cx="384048" cy="237744"/>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S1</a:t>
            </a:r>
            <a:endParaRPr lang="en-US" sz="950" dirty="0"/>
          </a:p>
        </p:txBody>
      </p:sp>
      <p:sp>
        <p:nvSpPr>
          <p:cNvPr id="36" name="Text 34"/>
          <p:cNvSpPr txBox="1"/>
          <p:nvPr/>
        </p:nvSpPr>
        <p:spPr>
          <a:xfrm>
            <a:off x="8101584" y="3200400"/>
            <a:ext cx="3212287" cy="457200"/>
          </a:xfrm>
          <a:prstGeom prst="rect">
            <a:avLst/>
          </a:prstGeom>
          <a:noFill/>
          <a:ln/>
        </p:spPr>
        <p:txBody>
          <a:bodyPr wrap="square" lIns="0" tIns="0" rIns="0" bIns="0" rtlCol="0" anchor="ctr"/>
          <a:lstStyle/>
          <a:p>
            <a:pPr marL="0" indent="0">
              <a:buNone/>
            </a:pPr>
            <a:r>
              <a:rPr lang="en-US" sz="1100" dirty="0">
                <a:solidFill>
                  <a:srgbClr val="172B2B"/>
                </a:solidFill>
                <a:latin typeface="Calibri" pitchFamily="34" charset="0"/>
                <a:ea typeface="Calibri" pitchFamily="34" charset="-122"/>
                <a:cs typeface="Calibri" pitchFamily="34" charset="-120"/>
              </a:rPr>
              <a:t>admissions-policy.pdf   ·   p. 3</a:t>
            </a:r>
            <a:endParaRPr lang="en-US" sz="1100" dirty="0"/>
          </a:p>
        </p:txBody>
      </p:sp>
      <p:sp>
        <p:nvSpPr>
          <p:cNvPr id="37" name="Shape 35"/>
          <p:cNvSpPr/>
          <p:nvPr/>
        </p:nvSpPr>
        <p:spPr>
          <a:xfrm>
            <a:off x="7516368" y="3767328"/>
            <a:ext cx="3815791" cy="457200"/>
          </a:xfrm>
          <a:prstGeom prst="roundRect">
            <a:avLst>
              <a:gd name="adj" fmla="val 18000"/>
            </a:avLst>
          </a:prstGeom>
          <a:solidFill>
            <a:srgbClr val="FFFFFF"/>
          </a:solidFill>
          <a:ln w="12700">
            <a:solidFill>
              <a:srgbClr val="CFDEDB"/>
            </a:solidFill>
            <a:prstDash val="solid"/>
          </a:ln>
        </p:spPr>
        <p:txBody>
          <a:bodyPr/>
          <a:lstStyle/>
          <a:p>
            <a:endParaRPr dirty="0"/>
          </a:p>
        </p:txBody>
      </p:sp>
      <p:sp>
        <p:nvSpPr>
          <p:cNvPr id="38" name="Shape 36"/>
          <p:cNvSpPr/>
          <p:nvPr/>
        </p:nvSpPr>
        <p:spPr>
          <a:xfrm>
            <a:off x="7626096" y="3877056"/>
            <a:ext cx="384048" cy="237744"/>
          </a:xfrm>
          <a:prstGeom prst="roundRect">
            <a:avLst>
              <a:gd name="adj" fmla="val 50000"/>
            </a:avLst>
          </a:prstGeom>
          <a:solidFill>
            <a:srgbClr val="1C7C7C"/>
          </a:solidFill>
          <a:ln w="12700">
            <a:solidFill>
              <a:srgbClr val="1C7C7C"/>
            </a:solidFill>
            <a:prstDash val="solid"/>
          </a:ln>
        </p:spPr>
        <p:txBody>
          <a:bodyPr/>
          <a:lstStyle/>
          <a:p>
            <a:endParaRPr dirty="0"/>
          </a:p>
        </p:txBody>
      </p:sp>
      <p:sp>
        <p:nvSpPr>
          <p:cNvPr id="39" name="Text 37"/>
          <p:cNvSpPr txBox="1"/>
          <p:nvPr/>
        </p:nvSpPr>
        <p:spPr>
          <a:xfrm>
            <a:off x="7626096" y="3877056"/>
            <a:ext cx="384048" cy="237744"/>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S2</a:t>
            </a:r>
            <a:endParaRPr lang="en-US" sz="950" dirty="0"/>
          </a:p>
        </p:txBody>
      </p:sp>
      <p:sp>
        <p:nvSpPr>
          <p:cNvPr id="40" name="Text 38"/>
          <p:cNvSpPr txBox="1"/>
          <p:nvPr/>
        </p:nvSpPr>
        <p:spPr>
          <a:xfrm>
            <a:off x="8101584" y="3767328"/>
            <a:ext cx="3212287" cy="457200"/>
          </a:xfrm>
          <a:prstGeom prst="rect">
            <a:avLst/>
          </a:prstGeom>
          <a:noFill/>
          <a:ln/>
        </p:spPr>
        <p:txBody>
          <a:bodyPr wrap="square" lIns="0" tIns="0" rIns="0" bIns="0" rtlCol="0" anchor="ctr"/>
          <a:lstStyle/>
          <a:p>
            <a:pPr marL="0" indent="0">
              <a:buNone/>
            </a:pPr>
            <a:r>
              <a:rPr lang="en-US" sz="1100" dirty="0">
                <a:solidFill>
                  <a:srgbClr val="172B2B"/>
                </a:solidFill>
                <a:latin typeface="Calibri" pitchFamily="34" charset="0"/>
                <a:ea typeface="Calibri" pitchFamily="34" charset="-122"/>
                <a:cs typeface="Calibri" pitchFamily="34" charset="-120"/>
              </a:rPr>
              <a:t>programme-handbook.pdf   ·   p. 11</a:t>
            </a:r>
            <a:endParaRPr lang="en-US" sz="1100" dirty="0"/>
          </a:p>
        </p:txBody>
      </p:sp>
      <p:sp>
        <p:nvSpPr>
          <p:cNvPr id="41" name="Shape 39"/>
          <p:cNvSpPr/>
          <p:nvPr/>
        </p:nvSpPr>
        <p:spPr>
          <a:xfrm>
            <a:off x="7516368" y="4334256"/>
            <a:ext cx="3815791" cy="457200"/>
          </a:xfrm>
          <a:prstGeom prst="roundRect">
            <a:avLst>
              <a:gd name="adj" fmla="val 18000"/>
            </a:avLst>
          </a:prstGeom>
          <a:solidFill>
            <a:srgbClr val="FFFFFF"/>
          </a:solidFill>
          <a:ln w="12700">
            <a:solidFill>
              <a:srgbClr val="CFDEDB"/>
            </a:solidFill>
            <a:prstDash val="solid"/>
          </a:ln>
        </p:spPr>
        <p:txBody>
          <a:bodyPr/>
          <a:lstStyle/>
          <a:p>
            <a:endParaRPr dirty="0"/>
          </a:p>
        </p:txBody>
      </p:sp>
      <p:sp>
        <p:nvSpPr>
          <p:cNvPr id="42" name="Shape 40"/>
          <p:cNvSpPr/>
          <p:nvPr/>
        </p:nvSpPr>
        <p:spPr>
          <a:xfrm>
            <a:off x="7626096" y="4443984"/>
            <a:ext cx="384048" cy="237744"/>
          </a:xfrm>
          <a:prstGeom prst="roundRect">
            <a:avLst>
              <a:gd name="adj" fmla="val 50000"/>
            </a:avLst>
          </a:prstGeom>
          <a:solidFill>
            <a:srgbClr val="1C7C7C"/>
          </a:solidFill>
          <a:ln w="12700">
            <a:solidFill>
              <a:srgbClr val="1C7C7C"/>
            </a:solidFill>
            <a:prstDash val="solid"/>
          </a:ln>
        </p:spPr>
        <p:txBody>
          <a:bodyPr/>
          <a:lstStyle/>
          <a:p>
            <a:endParaRPr dirty="0"/>
          </a:p>
        </p:txBody>
      </p:sp>
      <p:sp>
        <p:nvSpPr>
          <p:cNvPr id="43" name="Text 41"/>
          <p:cNvSpPr txBox="1"/>
          <p:nvPr/>
        </p:nvSpPr>
        <p:spPr>
          <a:xfrm>
            <a:off x="7626096" y="4443984"/>
            <a:ext cx="384048" cy="237744"/>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S3</a:t>
            </a:r>
            <a:endParaRPr lang="en-US" sz="950" dirty="0"/>
          </a:p>
        </p:txBody>
      </p:sp>
      <p:sp>
        <p:nvSpPr>
          <p:cNvPr id="44" name="Text 42"/>
          <p:cNvSpPr txBox="1"/>
          <p:nvPr/>
        </p:nvSpPr>
        <p:spPr>
          <a:xfrm>
            <a:off x="8101584" y="4334256"/>
            <a:ext cx="3212287" cy="457200"/>
          </a:xfrm>
          <a:prstGeom prst="rect">
            <a:avLst/>
          </a:prstGeom>
          <a:noFill/>
          <a:ln/>
        </p:spPr>
        <p:txBody>
          <a:bodyPr wrap="square" lIns="0" tIns="0" rIns="0" bIns="0" rtlCol="0" anchor="ctr"/>
          <a:lstStyle/>
          <a:p>
            <a:pPr marL="0" indent="0">
              <a:buNone/>
            </a:pPr>
            <a:r>
              <a:rPr lang="en-US" sz="1100" dirty="0">
                <a:solidFill>
                  <a:srgbClr val="172B2B"/>
                </a:solidFill>
                <a:latin typeface="Calibri" pitchFamily="34" charset="0"/>
                <a:ea typeface="Calibri" pitchFamily="34" charset="-122"/>
                <a:cs typeface="Calibri" pitchFamily="34" charset="-120"/>
              </a:rPr>
              <a:t>fee-circular.pdf   ·   p. 2</a:t>
            </a:r>
            <a:endParaRPr lang="en-US" sz="1100" dirty="0"/>
          </a:p>
        </p:txBody>
      </p:sp>
      <p:sp>
        <p:nvSpPr>
          <p:cNvPr id="45" name="Shape 43"/>
          <p:cNvSpPr/>
          <p:nvPr/>
        </p:nvSpPr>
        <p:spPr>
          <a:xfrm>
            <a:off x="7516368" y="5084064"/>
            <a:ext cx="3815791" cy="786384"/>
          </a:xfrm>
          <a:prstGeom prst="roundRect">
            <a:avLst>
              <a:gd name="adj" fmla="val 11628"/>
            </a:avLst>
          </a:prstGeom>
          <a:solidFill>
            <a:srgbClr val="0E2F30"/>
          </a:solidFill>
          <a:ln w="12700">
            <a:solidFill>
              <a:srgbClr val="0E2F30"/>
            </a:solidFill>
            <a:prstDash val="solid"/>
          </a:ln>
        </p:spPr>
        <p:txBody>
          <a:bodyPr/>
          <a:lstStyle/>
          <a:p>
            <a:endParaRPr dirty="0"/>
          </a:p>
        </p:txBody>
      </p:sp>
      <p:sp>
        <p:nvSpPr>
          <p:cNvPr id="46" name="Text 44"/>
          <p:cNvSpPr txBox="1"/>
          <p:nvPr/>
        </p:nvSpPr>
        <p:spPr>
          <a:xfrm>
            <a:off x="7680960" y="5084064"/>
            <a:ext cx="3486607" cy="786384"/>
          </a:xfrm>
          <a:prstGeom prst="rect">
            <a:avLst/>
          </a:prstGeom>
          <a:noFill/>
          <a:ln/>
        </p:spPr>
        <p:txBody>
          <a:bodyPr wrap="square" lIns="0" tIns="0" rIns="0" bIns="0" rtlCol="0" anchor="ctr"/>
          <a:lstStyle/>
          <a:p>
            <a:pPr marL="0" indent="0">
              <a:lnSpc>
                <a:spcPts val="1600"/>
              </a:lnSpc>
              <a:buNone/>
            </a:pPr>
            <a:r>
              <a:rPr lang="en-US" sz="1250" b="1" dirty="0">
                <a:solidFill>
                  <a:srgbClr val="FFFFFF"/>
                </a:solidFill>
                <a:latin typeface="Calibri" pitchFamily="34" charset="0"/>
                <a:ea typeface="Calibri" pitchFamily="34" charset="-122"/>
                <a:cs typeface="Calibri" pitchFamily="34" charset="-120"/>
              </a:rPr>
              <a:t>Answer drawn from 3 documents</a:t>
            </a:r>
            <a:endParaRPr lang="en-US" sz="1250" dirty="0"/>
          </a:p>
          <a:p>
            <a:pPr marL="0" indent="0">
              <a:lnSpc>
                <a:spcPts val="1600"/>
              </a:lnSpc>
              <a:buNone/>
            </a:pPr>
            <a:r>
              <a:rPr lang="en-US" sz="1050" dirty="0">
                <a:solidFill>
                  <a:srgbClr val="9BCFC7"/>
                </a:solidFill>
                <a:latin typeface="Calibri" pitchFamily="34" charset="0"/>
                <a:ea typeface="Calibri" pitchFamily="34" charset="-122"/>
                <a:cs typeface="Calibri" pitchFamily="34" charset="-120"/>
              </a:rPr>
              <a:t>cited as S1, S2 and S3 inside the text</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219456"/>
            <a:ext cx="11057839" cy="237744"/>
          </a:xfrm>
          <a:prstGeom prst="rect">
            <a:avLst/>
          </a:prstGeom>
          <a:noFill/>
          <a:ln/>
        </p:spPr>
        <p:txBody>
          <a:bodyPr wrap="square" lIns="0" tIns="0" rIns="0" bIns="0" rtlCol="0" anchor="ctr"/>
          <a:lstStyle/>
          <a:p>
            <a:pPr marL="0" indent="0">
              <a:buNone/>
            </a:pPr>
            <a:r>
              <a:rPr lang="en-US" sz="1150" b="1" kern="0" spc="160" dirty="0">
                <a:solidFill>
                  <a:srgbClr val="1C7C7C"/>
                </a:solidFill>
                <a:latin typeface="Calibri" pitchFamily="34" charset="0"/>
                <a:ea typeface="Calibri" pitchFamily="34" charset="-122"/>
                <a:cs typeface="Calibri" pitchFamily="34" charset="-120"/>
              </a:rPr>
              <a:t>INPUT AND EXPECTED OUTPUT</a:t>
            </a:r>
            <a:endParaRPr lang="en-US" sz="1150" dirty="0"/>
          </a:p>
        </p:txBody>
      </p:sp>
      <p:sp>
        <p:nvSpPr>
          <p:cNvPr id="3" name="Text 1"/>
          <p:cNvSpPr txBox="1"/>
          <p:nvPr/>
        </p:nvSpPr>
        <p:spPr>
          <a:xfrm>
            <a:off x="566928" y="384048"/>
            <a:ext cx="11057839" cy="658368"/>
          </a:xfrm>
          <a:prstGeom prst="rect">
            <a:avLst/>
          </a:prstGeom>
          <a:noFill/>
          <a:ln/>
        </p:spPr>
        <p:txBody>
          <a:bodyPr wrap="square" lIns="0" tIns="0" rIns="0" bIns="0" rtlCol="0" anchor="ctr"/>
          <a:lstStyle/>
          <a:p>
            <a:pPr marL="0" indent="0">
              <a:buNone/>
            </a:pPr>
            <a:r>
              <a:rPr lang="en-US" sz="3400" b="1" dirty="0">
                <a:solidFill>
                  <a:srgbClr val="172B2B"/>
                </a:solidFill>
                <a:latin typeface="Cambria" pitchFamily="34" charset="0"/>
                <a:ea typeface="Cambria" pitchFamily="34" charset="-122"/>
                <a:cs typeface="Cambria" pitchFamily="34" charset="-120"/>
              </a:rPr>
              <a:t>What goes in, what comes out</a:t>
            </a:r>
            <a:endParaRPr lang="en-US" sz="3400" dirty="0"/>
          </a:p>
        </p:txBody>
      </p:sp>
      <p:sp>
        <p:nvSpPr>
          <p:cNvPr id="4" name="Shape 2"/>
          <p:cNvSpPr/>
          <p:nvPr/>
        </p:nvSpPr>
        <p:spPr>
          <a:xfrm>
            <a:off x="566928" y="1371600"/>
            <a:ext cx="5074920" cy="4617720"/>
          </a:xfrm>
          <a:prstGeom prst="roundRect">
            <a:avLst>
              <a:gd name="adj" fmla="val 1980"/>
            </a:avLst>
          </a:prstGeom>
          <a:solidFill>
            <a:srgbClr val="EFF4F3"/>
          </a:solidFill>
          <a:ln w="12700">
            <a:solidFill>
              <a:srgbClr val="EFF4F3"/>
            </a:solidFill>
            <a:prstDash val="solid"/>
          </a:ln>
        </p:spPr>
        <p:txBody>
          <a:bodyPr/>
          <a:lstStyle/>
          <a:p>
            <a:endParaRPr dirty="0"/>
          </a:p>
        </p:txBody>
      </p:sp>
      <p:sp>
        <p:nvSpPr>
          <p:cNvPr id="5" name="Text 3"/>
          <p:cNvSpPr txBox="1"/>
          <p:nvPr/>
        </p:nvSpPr>
        <p:spPr>
          <a:xfrm>
            <a:off x="877824" y="1645920"/>
            <a:ext cx="4453128" cy="274320"/>
          </a:xfrm>
          <a:prstGeom prst="rect">
            <a:avLst/>
          </a:prstGeom>
          <a:noFill/>
          <a:ln/>
        </p:spPr>
        <p:txBody>
          <a:bodyPr wrap="square" lIns="0" tIns="0" rIns="0" bIns="0" rtlCol="0" anchor="ctr"/>
          <a:lstStyle/>
          <a:p>
            <a:pPr marL="0" indent="0">
              <a:buNone/>
            </a:pPr>
            <a:r>
              <a:rPr lang="en-US" sz="1100" b="1" kern="0" spc="180" dirty="0">
                <a:solidFill>
                  <a:srgbClr val="1C7C7C"/>
                </a:solidFill>
                <a:latin typeface="Calibri" pitchFamily="34" charset="0"/>
                <a:ea typeface="Calibri" pitchFamily="34" charset="-122"/>
                <a:cs typeface="Calibri" pitchFamily="34" charset="-120"/>
              </a:rPr>
              <a:t>INPUT</a:t>
            </a:r>
            <a:endParaRPr lang="en-US" sz="1100" dirty="0"/>
          </a:p>
        </p:txBody>
      </p:sp>
      <p:sp>
        <p:nvSpPr>
          <p:cNvPr id="6" name="Shape 4"/>
          <p:cNvSpPr/>
          <p:nvPr/>
        </p:nvSpPr>
        <p:spPr>
          <a:xfrm>
            <a:off x="877824" y="2103120"/>
            <a:ext cx="4453128" cy="530352"/>
          </a:xfrm>
          <a:prstGeom prst="roundRect">
            <a:avLst>
              <a:gd name="adj" fmla="val 15517"/>
            </a:avLst>
          </a:prstGeom>
          <a:solidFill>
            <a:srgbClr val="FFFFFF"/>
          </a:solidFill>
          <a:ln w="12700">
            <a:solidFill>
              <a:srgbClr val="CFDEDB"/>
            </a:solidFill>
            <a:prstDash val="solid"/>
          </a:ln>
        </p:spPr>
        <p:txBody>
          <a:bodyPr/>
          <a:lstStyle/>
          <a:p>
            <a:endParaRPr dirty="0"/>
          </a:p>
        </p:txBody>
      </p:sp>
      <p:pic>
        <p:nvPicPr>
          <p:cNvPr id="7" name="Image 0" descr="preencoded.png"/>
          <p:cNvPicPr>
            <a:picLocks noChangeAspect="1"/>
          </p:cNvPicPr>
          <p:nvPr/>
        </p:nvPicPr>
        <p:blipFill>
          <a:blip r:embed="rId3"/>
          <a:stretch>
            <a:fillRect/>
          </a:stretch>
        </p:blipFill>
        <p:spPr>
          <a:xfrm>
            <a:off x="1024128" y="2258568"/>
            <a:ext cx="219456" cy="219456"/>
          </a:xfrm>
          <a:prstGeom prst="rect">
            <a:avLst/>
          </a:prstGeom>
        </p:spPr>
      </p:pic>
      <p:sp>
        <p:nvSpPr>
          <p:cNvPr id="8" name="Text 5"/>
          <p:cNvSpPr txBox="1"/>
          <p:nvPr/>
        </p:nvSpPr>
        <p:spPr>
          <a:xfrm>
            <a:off x="1353312" y="2103120"/>
            <a:ext cx="3977640" cy="530352"/>
          </a:xfrm>
          <a:prstGeom prst="rect">
            <a:avLst/>
          </a:prstGeom>
          <a:noFill/>
          <a:ln/>
        </p:spPr>
        <p:txBody>
          <a:bodyPr wrap="square" lIns="0" tIns="0" rIns="0" bIns="0" rtlCol="0" anchor="ctr"/>
          <a:lstStyle/>
          <a:p>
            <a:pPr marL="0" indent="0">
              <a:buNone/>
            </a:pPr>
            <a:r>
              <a:rPr lang="en-US" sz="1250" dirty="0">
                <a:solidFill>
                  <a:srgbClr val="172B2B"/>
                </a:solidFill>
                <a:latin typeface="Calibri" pitchFamily="34" charset="0"/>
                <a:ea typeface="Calibri" pitchFamily="34" charset="-122"/>
                <a:cs typeface="Calibri" pitchFamily="34" charset="-120"/>
              </a:rPr>
              <a:t>Document 1  ·  policy</a:t>
            </a:r>
            <a:endParaRPr lang="en-US" sz="1250" dirty="0"/>
          </a:p>
        </p:txBody>
      </p:sp>
      <p:sp>
        <p:nvSpPr>
          <p:cNvPr id="9" name="Shape 6"/>
          <p:cNvSpPr/>
          <p:nvPr/>
        </p:nvSpPr>
        <p:spPr>
          <a:xfrm>
            <a:off x="877824" y="2743200"/>
            <a:ext cx="4453128" cy="530352"/>
          </a:xfrm>
          <a:prstGeom prst="roundRect">
            <a:avLst>
              <a:gd name="adj" fmla="val 15517"/>
            </a:avLst>
          </a:prstGeom>
          <a:solidFill>
            <a:srgbClr val="FFFFFF"/>
          </a:solidFill>
          <a:ln w="12700">
            <a:solidFill>
              <a:srgbClr val="CFDEDB"/>
            </a:solidFill>
            <a:prstDash val="solid"/>
          </a:ln>
        </p:spPr>
        <p:txBody>
          <a:bodyPr/>
          <a:lstStyle/>
          <a:p>
            <a:endParaRPr dirty="0"/>
          </a:p>
        </p:txBody>
      </p:sp>
      <p:pic>
        <p:nvPicPr>
          <p:cNvPr id="10" name="Image 1" descr="preencoded.png"/>
          <p:cNvPicPr>
            <a:picLocks noChangeAspect="1"/>
          </p:cNvPicPr>
          <p:nvPr/>
        </p:nvPicPr>
        <p:blipFill>
          <a:blip r:embed="rId3"/>
          <a:stretch>
            <a:fillRect/>
          </a:stretch>
        </p:blipFill>
        <p:spPr>
          <a:xfrm>
            <a:off x="1024128" y="2898648"/>
            <a:ext cx="219456" cy="219456"/>
          </a:xfrm>
          <a:prstGeom prst="rect">
            <a:avLst/>
          </a:prstGeom>
        </p:spPr>
      </p:pic>
      <p:sp>
        <p:nvSpPr>
          <p:cNvPr id="11" name="Text 7"/>
          <p:cNvSpPr txBox="1"/>
          <p:nvPr/>
        </p:nvSpPr>
        <p:spPr>
          <a:xfrm>
            <a:off x="1353312" y="2743200"/>
            <a:ext cx="3977640" cy="530352"/>
          </a:xfrm>
          <a:prstGeom prst="rect">
            <a:avLst/>
          </a:prstGeom>
          <a:noFill/>
          <a:ln/>
        </p:spPr>
        <p:txBody>
          <a:bodyPr wrap="square" lIns="0" tIns="0" rIns="0" bIns="0" rtlCol="0" anchor="ctr"/>
          <a:lstStyle/>
          <a:p>
            <a:pPr marL="0" indent="0">
              <a:buNone/>
            </a:pPr>
            <a:r>
              <a:rPr lang="en-US" sz="1250" dirty="0">
                <a:solidFill>
                  <a:srgbClr val="172B2B"/>
                </a:solidFill>
                <a:latin typeface="Calibri" pitchFamily="34" charset="0"/>
                <a:ea typeface="Calibri" pitchFamily="34" charset="-122"/>
                <a:cs typeface="Calibri" pitchFamily="34" charset="-120"/>
              </a:rPr>
              <a:t>Document 2  ·  handbook</a:t>
            </a:r>
            <a:endParaRPr lang="en-US" sz="1250" dirty="0"/>
          </a:p>
        </p:txBody>
      </p:sp>
      <p:sp>
        <p:nvSpPr>
          <p:cNvPr id="12" name="Shape 8"/>
          <p:cNvSpPr/>
          <p:nvPr/>
        </p:nvSpPr>
        <p:spPr>
          <a:xfrm>
            <a:off x="877824" y="3383280"/>
            <a:ext cx="4453128" cy="530352"/>
          </a:xfrm>
          <a:prstGeom prst="roundRect">
            <a:avLst>
              <a:gd name="adj" fmla="val 15517"/>
            </a:avLst>
          </a:prstGeom>
          <a:solidFill>
            <a:srgbClr val="FFFFFF"/>
          </a:solidFill>
          <a:ln w="12700">
            <a:solidFill>
              <a:srgbClr val="CFDEDB"/>
            </a:solidFill>
            <a:prstDash val="solid"/>
          </a:ln>
        </p:spPr>
        <p:txBody>
          <a:bodyPr/>
          <a:lstStyle/>
          <a:p>
            <a:endParaRPr dirty="0"/>
          </a:p>
        </p:txBody>
      </p:sp>
      <p:pic>
        <p:nvPicPr>
          <p:cNvPr id="13" name="Image 2" descr="preencoded.png"/>
          <p:cNvPicPr>
            <a:picLocks noChangeAspect="1"/>
          </p:cNvPicPr>
          <p:nvPr/>
        </p:nvPicPr>
        <p:blipFill>
          <a:blip r:embed="rId3"/>
          <a:stretch>
            <a:fillRect/>
          </a:stretch>
        </p:blipFill>
        <p:spPr>
          <a:xfrm>
            <a:off x="1024128" y="3538728"/>
            <a:ext cx="219456" cy="219456"/>
          </a:xfrm>
          <a:prstGeom prst="rect">
            <a:avLst/>
          </a:prstGeom>
        </p:spPr>
      </p:pic>
      <p:sp>
        <p:nvSpPr>
          <p:cNvPr id="14" name="Text 9"/>
          <p:cNvSpPr txBox="1"/>
          <p:nvPr/>
        </p:nvSpPr>
        <p:spPr>
          <a:xfrm>
            <a:off x="1353312" y="3383280"/>
            <a:ext cx="3977640" cy="530352"/>
          </a:xfrm>
          <a:prstGeom prst="rect">
            <a:avLst/>
          </a:prstGeom>
          <a:noFill/>
          <a:ln/>
        </p:spPr>
        <p:txBody>
          <a:bodyPr wrap="square" lIns="0" tIns="0" rIns="0" bIns="0" rtlCol="0" anchor="ctr"/>
          <a:lstStyle/>
          <a:p>
            <a:pPr marL="0" indent="0">
              <a:buNone/>
            </a:pPr>
            <a:r>
              <a:rPr lang="en-US" sz="1250" dirty="0">
                <a:solidFill>
                  <a:srgbClr val="172B2B"/>
                </a:solidFill>
                <a:latin typeface="Calibri" pitchFamily="34" charset="0"/>
                <a:ea typeface="Calibri" pitchFamily="34" charset="-122"/>
                <a:cs typeface="Calibri" pitchFamily="34" charset="-120"/>
              </a:rPr>
              <a:t>Document 3  ·  circular</a:t>
            </a:r>
            <a:endParaRPr lang="en-US" sz="1250" dirty="0"/>
          </a:p>
        </p:txBody>
      </p:sp>
      <p:sp>
        <p:nvSpPr>
          <p:cNvPr id="15" name="Text 10"/>
          <p:cNvSpPr txBox="1"/>
          <p:nvPr/>
        </p:nvSpPr>
        <p:spPr>
          <a:xfrm>
            <a:off x="877824" y="4224528"/>
            <a:ext cx="4453128" cy="237744"/>
          </a:xfrm>
          <a:prstGeom prst="rect">
            <a:avLst/>
          </a:prstGeom>
          <a:noFill/>
          <a:ln/>
        </p:spPr>
        <p:txBody>
          <a:bodyPr wrap="square" lIns="0" tIns="0" rIns="0" bIns="0" rtlCol="0" anchor="ctr"/>
          <a:lstStyle/>
          <a:p>
            <a:pPr marL="0" indent="0">
              <a:buNone/>
            </a:pPr>
            <a:r>
              <a:rPr lang="en-US" sz="1000" b="1" kern="0" spc="140" dirty="0">
                <a:solidFill>
                  <a:srgbClr val="5F7271"/>
                </a:solidFill>
                <a:latin typeface="Calibri" pitchFamily="34" charset="0"/>
                <a:ea typeface="Calibri" pitchFamily="34" charset="-122"/>
                <a:cs typeface="Calibri" pitchFamily="34" charset="-120"/>
              </a:rPr>
              <a:t>USER QUESTION</a:t>
            </a:r>
            <a:endParaRPr lang="en-US" sz="1000" dirty="0"/>
          </a:p>
        </p:txBody>
      </p:sp>
      <p:sp>
        <p:nvSpPr>
          <p:cNvPr id="16" name="Shape 11"/>
          <p:cNvSpPr/>
          <p:nvPr/>
        </p:nvSpPr>
        <p:spPr>
          <a:xfrm>
            <a:off x="877824" y="4553712"/>
            <a:ext cx="4453128" cy="987552"/>
          </a:xfrm>
          <a:prstGeom prst="roundRect">
            <a:avLst>
              <a:gd name="adj" fmla="val 9259"/>
            </a:avLst>
          </a:prstGeom>
          <a:solidFill>
            <a:srgbClr val="FFFFFF"/>
          </a:solidFill>
          <a:ln w="15875">
            <a:solidFill>
              <a:srgbClr val="1C7C7C"/>
            </a:solidFill>
            <a:prstDash val="solid"/>
          </a:ln>
        </p:spPr>
        <p:txBody>
          <a:bodyPr/>
          <a:lstStyle/>
          <a:p>
            <a:endParaRPr dirty="0"/>
          </a:p>
        </p:txBody>
      </p:sp>
      <p:sp>
        <p:nvSpPr>
          <p:cNvPr id="17" name="Text 12"/>
          <p:cNvSpPr txBox="1"/>
          <p:nvPr/>
        </p:nvSpPr>
        <p:spPr>
          <a:xfrm>
            <a:off x="1024128" y="4553712"/>
            <a:ext cx="4160520" cy="987552"/>
          </a:xfrm>
          <a:prstGeom prst="rect">
            <a:avLst/>
          </a:prstGeom>
          <a:noFill/>
          <a:ln/>
        </p:spPr>
        <p:txBody>
          <a:bodyPr wrap="square" lIns="0" tIns="0" rIns="0" bIns="0" rtlCol="0" anchor="ctr"/>
          <a:lstStyle/>
          <a:p>
            <a:pPr marL="0" indent="0">
              <a:lnSpc>
                <a:spcPts val="1900"/>
              </a:lnSpc>
              <a:buNone/>
            </a:pPr>
            <a:r>
              <a:rPr lang="en-US" sz="1400" i="1" dirty="0">
                <a:solidFill>
                  <a:srgbClr val="172B2B"/>
                </a:solidFill>
                <a:latin typeface="Calibri" pitchFamily="34" charset="0"/>
                <a:ea typeface="Calibri" pitchFamily="34" charset="-122"/>
                <a:cs typeface="Calibri" pitchFamily="34" charset="-120"/>
              </a:rPr>
              <a:t>“What are the placement eligibility requirements?”</a:t>
            </a:r>
            <a:endParaRPr lang="en-US" sz="1400" dirty="0"/>
          </a:p>
        </p:txBody>
      </p:sp>
      <p:sp>
        <p:nvSpPr>
          <p:cNvPr id="18" name="Shape 13"/>
          <p:cNvSpPr/>
          <p:nvPr/>
        </p:nvSpPr>
        <p:spPr>
          <a:xfrm>
            <a:off x="5870448" y="3465576"/>
            <a:ext cx="457200" cy="420624"/>
          </a:xfrm>
          <a:prstGeom prst="rightArrow">
            <a:avLst/>
          </a:prstGeom>
          <a:solidFill>
            <a:srgbClr val="E8A33D"/>
          </a:solidFill>
          <a:ln w="12700">
            <a:solidFill>
              <a:srgbClr val="E8A33D"/>
            </a:solidFill>
            <a:prstDash val="solid"/>
          </a:ln>
        </p:spPr>
        <p:txBody>
          <a:bodyPr/>
          <a:lstStyle/>
          <a:p>
            <a:endParaRPr dirty="0"/>
          </a:p>
        </p:txBody>
      </p:sp>
      <p:sp>
        <p:nvSpPr>
          <p:cNvPr id="19" name="Shape 14"/>
          <p:cNvSpPr/>
          <p:nvPr/>
        </p:nvSpPr>
        <p:spPr>
          <a:xfrm>
            <a:off x="6549847" y="1371600"/>
            <a:ext cx="5074920" cy="4617720"/>
          </a:xfrm>
          <a:prstGeom prst="roundRect">
            <a:avLst>
              <a:gd name="adj" fmla="val 2376"/>
            </a:avLst>
          </a:prstGeom>
          <a:solidFill>
            <a:srgbClr val="0E2F30"/>
          </a:solidFill>
          <a:ln w="12700">
            <a:solidFill>
              <a:srgbClr val="0E2F30"/>
            </a:solidFill>
            <a:prstDash val="solid"/>
          </a:ln>
          <a:effectLst>
            <a:outerShdw blurRad="127000" dist="25400" dir="5400000" algn="bl" rotWithShape="0">
              <a:srgbClr val="0E2F30">
                <a:alpha val="20000"/>
              </a:srgbClr>
            </a:outerShdw>
          </a:effectLst>
        </p:spPr>
        <p:txBody>
          <a:bodyPr/>
          <a:lstStyle/>
          <a:p>
            <a:endParaRPr dirty="0"/>
          </a:p>
        </p:txBody>
      </p:sp>
      <p:sp>
        <p:nvSpPr>
          <p:cNvPr id="20" name="Text 15"/>
          <p:cNvSpPr txBox="1"/>
          <p:nvPr/>
        </p:nvSpPr>
        <p:spPr>
          <a:xfrm>
            <a:off x="6860743" y="1645920"/>
            <a:ext cx="4453128" cy="274320"/>
          </a:xfrm>
          <a:prstGeom prst="rect">
            <a:avLst/>
          </a:prstGeom>
          <a:noFill/>
          <a:ln/>
        </p:spPr>
        <p:txBody>
          <a:bodyPr wrap="square" lIns="0" tIns="0" rIns="0" bIns="0" rtlCol="0" anchor="ctr"/>
          <a:lstStyle/>
          <a:p>
            <a:pPr marL="0" indent="0">
              <a:buNone/>
            </a:pPr>
            <a:r>
              <a:rPr lang="en-US" sz="1100" b="1" kern="0" spc="180" dirty="0">
                <a:solidFill>
                  <a:srgbClr val="E8A33D"/>
                </a:solidFill>
                <a:latin typeface="Calibri" pitchFamily="34" charset="0"/>
                <a:ea typeface="Calibri" pitchFamily="34" charset="-122"/>
                <a:cs typeface="Calibri" pitchFamily="34" charset="-120"/>
              </a:rPr>
              <a:t>EXPECTED OUTPUT</a:t>
            </a:r>
            <a:endParaRPr lang="en-US" sz="1100" dirty="0"/>
          </a:p>
        </p:txBody>
      </p:sp>
      <p:sp>
        <p:nvSpPr>
          <p:cNvPr id="21" name="Text 16"/>
          <p:cNvSpPr txBox="1"/>
          <p:nvPr/>
        </p:nvSpPr>
        <p:spPr>
          <a:xfrm>
            <a:off x="6860743" y="2103120"/>
            <a:ext cx="4453128" cy="219456"/>
          </a:xfrm>
          <a:prstGeom prst="rect">
            <a:avLst/>
          </a:prstGeom>
          <a:noFill/>
          <a:ln/>
        </p:spPr>
        <p:txBody>
          <a:bodyPr wrap="square" lIns="0" tIns="0" rIns="0" bIns="0" rtlCol="0" anchor="ctr"/>
          <a:lstStyle/>
          <a:p>
            <a:pPr marL="0" indent="0">
              <a:buNone/>
            </a:pPr>
            <a:r>
              <a:rPr lang="en-US" sz="950" b="1" kern="0" spc="130" dirty="0">
                <a:solidFill>
                  <a:srgbClr val="9BCFC7"/>
                </a:solidFill>
                <a:latin typeface="Calibri" pitchFamily="34" charset="0"/>
                <a:ea typeface="Calibri" pitchFamily="34" charset="-122"/>
                <a:cs typeface="Calibri" pitchFamily="34" charset="-120"/>
              </a:rPr>
              <a:t>GENERATED ANSWER</a:t>
            </a:r>
            <a:endParaRPr lang="en-US" sz="950" dirty="0"/>
          </a:p>
        </p:txBody>
      </p:sp>
      <p:sp>
        <p:nvSpPr>
          <p:cNvPr id="22" name="Text 17"/>
          <p:cNvSpPr txBox="1"/>
          <p:nvPr/>
        </p:nvSpPr>
        <p:spPr>
          <a:xfrm>
            <a:off x="6860743" y="2414016"/>
            <a:ext cx="4453128" cy="786384"/>
          </a:xfrm>
          <a:prstGeom prst="rect">
            <a:avLst/>
          </a:prstGeom>
          <a:noFill/>
          <a:ln/>
        </p:spPr>
        <p:txBody>
          <a:bodyPr wrap="square" lIns="0" tIns="0" rIns="0" bIns="0" rtlCol="0" anchor="t"/>
          <a:lstStyle/>
          <a:p>
            <a:pPr marL="0" indent="0">
              <a:lnSpc>
                <a:spcPts val="1900"/>
              </a:lnSpc>
              <a:buNone/>
            </a:pPr>
            <a:r>
              <a:rPr lang="en-US" sz="1350" dirty="0">
                <a:solidFill>
                  <a:srgbClr val="FFFFFF"/>
                </a:solidFill>
                <a:latin typeface="Calibri" pitchFamily="34" charset="0"/>
                <a:ea typeface="Calibri" pitchFamily="34" charset="-122"/>
                <a:cs typeface="Calibri" pitchFamily="34" charset="-120"/>
              </a:rPr>
              <a:t>A student must have cleared all backlogs and hold an aggregate of 60 percent to register for placement.</a:t>
            </a:r>
            <a:endParaRPr lang="en-US" sz="1350" dirty="0"/>
          </a:p>
        </p:txBody>
      </p:sp>
      <p:sp>
        <p:nvSpPr>
          <p:cNvPr id="23" name="Text 18"/>
          <p:cNvSpPr txBox="1"/>
          <p:nvPr/>
        </p:nvSpPr>
        <p:spPr>
          <a:xfrm>
            <a:off x="6860743" y="3346704"/>
            <a:ext cx="4453128" cy="219456"/>
          </a:xfrm>
          <a:prstGeom prst="rect">
            <a:avLst/>
          </a:prstGeom>
          <a:noFill/>
          <a:ln/>
        </p:spPr>
        <p:txBody>
          <a:bodyPr wrap="square" lIns="0" tIns="0" rIns="0" bIns="0" rtlCol="0" anchor="ctr"/>
          <a:lstStyle/>
          <a:p>
            <a:pPr marL="0" indent="0">
              <a:buNone/>
            </a:pPr>
            <a:r>
              <a:rPr lang="en-US" sz="950" b="1" kern="0" spc="130" dirty="0">
                <a:solidFill>
                  <a:srgbClr val="9BCFC7"/>
                </a:solidFill>
                <a:latin typeface="Calibri" pitchFamily="34" charset="0"/>
                <a:ea typeface="Calibri" pitchFamily="34" charset="-122"/>
                <a:cs typeface="Calibri" pitchFamily="34" charset="-120"/>
              </a:rPr>
              <a:t>SUPPORTING CITATIONS</a:t>
            </a:r>
            <a:endParaRPr lang="en-US" sz="950" dirty="0"/>
          </a:p>
        </p:txBody>
      </p:sp>
      <p:sp>
        <p:nvSpPr>
          <p:cNvPr id="24" name="Shape 19"/>
          <p:cNvSpPr/>
          <p:nvPr/>
        </p:nvSpPr>
        <p:spPr>
          <a:xfrm>
            <a:off x="6860743" y="3675888"/>
            <a:ext cx="4453128" cy="457200"/>
          </a:xfrm>
          <a:prstGeom prst="roundRect">
            <a:avLst>
              <a:gd name="adj" fmla="val 18000"/>
            </a:avLst>
          </a:prstGeom>
          <a:solidFill>
            <a:srgbClr val="16403F"/>
          </a:solidFill>
          <a:ln w="12700">
            <a:solidFill>
              <a:srgbClr val="12545A"/>
            </a:solidFill>
            <a:prstDash val="solid"/>
          </a:ln>
        </p:spPr>
        <p:txBody>
          <a:bodyPr/>
          <a:lstStyle/>
          <a:p>
            <a:endParaRPr dirty="0"/>
          </a:p>
        </p:txBody>
      </p:sp>
      <p:sp>
        <p:nvSpPr>
          <p:cNvPr id="25" name="Shape 20"/>
          <p:cNvSpPr/>
          <p:nvPr/>
        </p:nvSpPr>
        <p:spPr>
          <a:xfrm>
            <a:off x="6970471" y="3785616"/>
            <a:ext cx="384048" cy="237744"/>
          </a:xfrm>
          <a:prstGeom prst="roundRect">
            <a:avLst>
              <a:gd name="adj" fmla="val 50000"/>
            </a:avLst>
          </a:prstGeom>
          <a:solidFill>
            <a:srgbClr val="E8A33D"/>
          </a:solidFill>
          <a:ln w="12700">
            <a:solidFill>
              <a:srgbClr val="E8A33D"/>
            </a:solidFill>
            <a:prstDash val="solid"/>
          </a:ln>
        </p:spPr>
        <p:txBody>
          <a:bodyPr/>
          <a:lstStyle/>
          <a:p>
            <a:endParaRPr dirty="0"/>
          </a:p>
        </p:txBody>
      </p:sp>
      <p:sp>
        <p:nvSpPr>
          <p:cNvPr id="26" name="Text 21"/>
          <p:cNvSpPr txBox="1"/>
          <p:nvPr/>
        </p:nvSpPr>
        <p:spPr>
          <a:xfrm>
            <a:off x="6970471" y="3785616"/>
            <a:ext cx="384048" cy="237744"/>
          </a:xfrm>
          <a:prstGeom prst="rect">
            <a:avLst/>
          </a:prstGeom>
          <a:noFill/>
          <a:ln/>
        </p:spPr>
        <p:txBody>
          <a:bodyPr wrap="square" lIns="0" tIns="0" rIns="0" bIns="0" rtlCol="0" anchor="ctr"/>
          <a:lstStyle/>
          <a:p>
            <a:pPr marL="0" indent="0" algn="ctr">
              <a:buNone/>
            </a:pPr>
            <a:r>
              <a:rPr lang="en-US" sz="950" b="1" dirty="0">
                <a:solidFill>
                  <a:srgbClr val="0E2F30"/>
                </a:solidFill>
                <a:latin typeface="Calibri" pitchFamily="34" charset="0"/>
                <a:ea typeface="Calibri" pitchFamily="34" charset="-122"/>
                <a:cs typeface="Calibri" pitchFamily="34" charset="-120"/>
              </a:rPr>
              <a:t>S1</a:t>
            </a:r>
            <a:endParaRPr lang="en-US" sz="950" dirty="0"/>
          </a:p>
        </p:txBody>
      </p:sp>
      <p:sp>
        <p:nvSpPr>
          <p:cNvPr id="27" name="Text 22"/>
          <p:cNvSpPr txBox="1"/>
          <p:nvPr/>
        </p:nvSpPr>
        <p:spPr>
          <a:xfrm>
            <a:off x="7445959" y="3675888"/>
            <a:ext cx="3867912" cy="457200"/>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admissions-policy.pdf  ·  p. 3</a:t>
            </a:r>
            <a:endParaRPr lang="en-US" sz="1100" dirty="0"/>
          </a:p>
        </p:txBody>
      </p:sp>
      <p:sp>
        <p:nvSpPr>
          <p:cNvPr id="28" name="Shape 23"/>
          <p:cNvSpPr/>
          <p:nvPr/>
        </p:nvSpPr>
        <p:spPr>
          <a:xfrm>
            <a:off x="6860743" y="4224528"/>
            <a:ext cx="4453128" cy="457200"/>
          </a:xfrm>
          <a:prstGeom prst="roundRect">
            <a:avLst>
              <a:gd name="adj" fmla="val 18000"/>
            </a:avLst>
          </a:prstGeom>
          <a:solidFill>
            <a:srgbClr val="16403F"/>
          </a:solidFill>
          <a:ln w="12700">
            <a:solidFill>
              <a:srgbClr val="12545A"/>
            </a:solidFill>
            <a:prstDash val="solid"/>
          </a:ln>
        </p:spPr>
        <p:txBody>
          <a:bodyPr/>
          <a:lstStyle/>
          <a:p>
            <a:endParaRPr dirty="0"/>
          </a:p>
        </p:txBody>
      </p:sp>
      <p:sp>
        <p:nvSpPr>
          <p:cNvPr id="29" name="Shape 24"/>
          <p:cNvSpPr/>
          <p:nvPr/>
        </p:nvSpPr>
        <p:spPr>
          <a:xfrm>
            <a:off x="6970471" y="4334256"/>
            <a:ext cx="384048" cy="237744"/>
          </a:xfrm>
          <a:prstGeom prst="roundRect">
            <a:avLst>
              <a:gd name="adj" fmla="val 50000"/>
            </a:avLst>
          </a:prstGeom>
          <a:solidFill>
            <a:srgbClr val="E8A33D"/>
          </a:solidFill>
          <a:ln w="12700">
            <a:solidFill>
              <a:srgbClr val="E8A33D"/>
            </a:solidFill>
            <a:prstDash val="solid"/>
          </a:ln>
        </p:spPr>
        <p:txBody>
          <a:bodyPr/>
          <a:lstStyle/>
          <a:p>
            <a:endParaRPr dirty="0"/>
          </a:p>
        </p:txBody>
      </p:sp>
      <p:sp>
        <p:nvSpPr>
          <p:cNvPr id="30" name="Text 25"/>
          <p:cNvSpPr txBox="1"/>
          <p:nvPr/>
        </p:nvSpPr>
        <p:spPr>
          <a:xfrm>
            <a:off x="6970471" y="4334256"/>
            <a:ext cx="384048" cy="237744"/>
          </a:xfrm>
          <a:prstGeom prst="rect">
            <a:avLst/>
          </a:prstGeom>
          <a:noFill/>
          <a:ln/>
        </p:spPr>
        <p:txBody>
          <a:bodyPr wrap="square" lIns="0" tIns="0" rIns="0" bIns="0" rtlCol="0" anchor="ctr"/>
          <a:lstStyle/>
          <a:p>
            <a:pPr marL="0" indent="0" algn="ctr">
              <a:buNone/>
            </a:pPr>
            <a:r>
              <a:rPr lang="en-US" sz="950" b="1" dirty="0">
                <a:solidFill>
                  <a:srgbClr val="0E2F30"/>
                </a:solidFill>
                <a:latin typeface="Calibri" pitchFamily="34" charset="0"/>
                <a:ea typeface="Calibri" pitchFamily="34" charset="-122"/>
                <a:cs typeface="Calibri" pitchFamily="34" charset="-120"/>
              </a:rPr>
              <a:t>S2</a:t>
            </a:r>
            <a:endParaRPr lang="en-US" sz="950" dirty="0"/>
          </a:p>
        </p:txBody>
      </p:sp>
      <p:sp>
        <p:nvSpPr>
          <p:cNvPr id="31" name="Text 26"/>
          <p:cNvSpPr txBox="1"/>
          <p:nvPr/>
        </p:nvSpPr>
        <p:spPr>
          <a:xfrm>
            <a:off x="7445959" y="4224528"/>
            <a:ext cx="3867912" cy="457200"/>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programme-handbook.pdf  ·  p. 11</a:t>
            </a:r>
            <a:endParaRPr lang="en-US" sz="1100" dirty="0"/>
          </a:p>
        </p:txBody>
      </p:sp>
      <p:sp>
        <p:nvSpPr>
          <p:cNvPr id="32" name="Shape 27"/>
          <p:cNvSpPr/>
          <p:nvPr/>
        </p:nvSpPr>
        <p:spPr>
          <a:xfrm>
            <a:off x="6860743" y="5047488"/>
            <a:ext cx="420624" cy="420624"/>
          </a:xfrm>
          <a:prstGeom prst="ellipse">
            <a:avLst/>
          </a:prstGeom>
          <a:solidFill>
            <a:srgbClr val="E8A33D"/>
          </a:solidFill>
          <a:ln w="12700">
            <a:solidFill>
              <a:srgbClr val="E8A33D"/>
            </a:solidFill>
            <a:prstDash val="solid"/>
          </a:ln>
        </p:spPr>
        <p:txBody>
          <a:bodyPr/>
          <a:lstStyle/>
          <a:p>
            <a:endParaRPr dirty="0"/>
          </a:p>
        </p:txBody>
      </p:sp>
      <p:pic>
        <p:nvPicPr>
          <p:cNvPr id="33" name="Image 3" descr="preencoded.png"/>
          <p:cNvPicPr>
            <a:picLocks noChangeAspect="1"/>
          </p:cNvPicPr>
          <p:nvPr/>
        </p:nvPicPr>
        <p:blipFill>
          <a:blip r:embed="rId4"/>
          <a:stretch>
            <a:fillRect/>
          </a:stretch>
        </p:blipFill>
        <p:spPr>
          <a:xfrm>
            <a:off x="6970105" y="5156850"/>
            <a:ext cx="201900" cy="201900"/>
          </a:xfrm>
          <a:prstGeom prst="rect">
            <a:avLst/>
          </a:prstGeom>
        </p:spPr>
      </p:pic>
      <p:sp>
        <p:nvSpPr>
          <p:cNvPr id="34" name="Text 28"/>
          <p:cNvSpPr txBox="1"/>
          <p:nvPr/>
        </p:nvSpPr>
        <p:spPr>
          <a:xfrm>
            <a:off x="7391095" y="5047488"/>
            <a:ext cx="3922776" cy="420624"/>
          </a:xfrm>
          <a:prstGeom prst="rect">
            <a:avLst/>
          </a:prstGeom>
          <a:noFill/>
          <a:ln/>
        </p:spPr>
        <p:txBody>
          <a:bodyPr wrap="square" lIns="0" tIns="0" rIns="0" bIns="0" rtlCol="0" anchor="ctr"/>
          <a:lstStyle/>
          <a:p>
            <a:pPr marL="0" indent="0">
              <a:buNone/>
            </a:pPr>
            <a:r>
              <a:rPr lang="en-US" sz="1300" b="1" dirty="0">
                <a:solidFill>
                  <a:srgbClr val="E8A33D"/>
                </a:solidFill>
                <a:latin typeface="Calibri" pitchFamily="34" charset="0"/>
                <a:ea typeface="Calibri" pitchFamily="34" charset="-122"/>
                <a:cs typeface="Calibri" pitchFamily="34" charset="-120"/>
              </a:rPr>
              <a:t>Answer  +  Evidence  +  Verification</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66928" y="219456"/>
            <a:ext cx="11057839" cy="237744"/>
          </a:xfrm>
          <a:prstGeom prst="rect">
            <a:avLst/>
          </a:prstGeom>
          <a:noFill/>
          <a:ln/>
        </p:spPr>
        <p:txBody>
          <a:bodyPr wrap="square" lIns="0" tIns="0" rIns="0" bIns="0" rtlCol="0" anchor="ctr"/>
          <a:lstStyle/>
          <a:p>
            <a:pPr marL="0" indent="0">
              <a:buNone/>
            </a:pPr>
            <a:r>
              <a:rPr lang="en-US" sz="1150" b="1" kern="0" spc="160" dirty="0">
                <a:solidFill>
                  <a:srgbClr val="1C7C7C"/>
                </a:solidFill>
                <a:latin typeface="Calibri" pitchFamily="34" charset="0"/>
                <a:ea typeface="Calibri" pitchFamily="34" charset="-122"/>
                <a:cs typeface="Calibri" pitchFamily="34" charset="-120"/>
              </a:rPr>
              <a:t>TOOLS AND IMPLEMENTATION</a:t>
            </a:r>
            <a:endParaRPr lang="en-US" sz="1150" dirty="0"/>
          </a:p>
        </p:txBody>
      </p:sp>
      <p:sp>
        <p:nvSpPr>
          <p:cNvPr id="3" name="Text 1"/>
          <p:cNvSpPr txBox="1"/>
          <p:nvPr/>
        </p:nvSpPr>
        <p:spPr>
          <a:xfrm>
            <a:off x="566928" y="384048"/>
            <a:ext cx="11057839" cy="658368"/>
          </a:xfrm>
          <a:prstGeom prst="rect">
            <a:avLst/>
          </a:prstGeom>
          <a:noFill/>
          <a:ln/>
        </p:spPr>
        <p:txBody>
          <a:bodyPr wrap="square" lIns="0" tIns="0" rIns="0" bIns="0" rtlCol="0" anchor="ctr"/>
          <a:lstStyle/>
          <a:p>
            <a:pPr marL="0" indent="0">
              <a:buNone/>
            </a:pPr>
            <a:r>
              <a:rPr lang="en-US" sz="3400" b="1" dirty="0">
                <a:solidFill>
                  <a:srgbClr val="172B2B"/>
                </a:solidFill>
                <a:latin typeface="Cambria" pitchFamily="34" charset="0"/>
                <a:ea typeface="Cambria" pitchFamily="34" charset="-122"/>
                <a:cs typeface="Cambria" pitchFamily="34" charset="-120"/>
              </a:rPr>
              <a:t>Technology stack</a:t>
            </a:r>
            <a:endParaRPr lang="en-US" sz="3400" dirty="0"/>
          </a:p>
        </p:txBody>
      </p:sp>
      <p:sp>
        <p:nvSpPr>
          <p:cNvPr id="4" name="Shape 2"/>
          <p:cNvSpPr/>
          <p:nvPr/>
        </p:nvSpPr>
        <p:spPr>
          <a:xfrm>
            <a:off x="566928" y="1353312"/>
            <a:ext cx="6720840" cy="493776"/>
          </a:xfrm>
          <a:prstGeom prst="rect">
            <a:avLst/>
          </a:prstGeom>
          <a:solidFill>
            <a:srgbClr val="EFF4F3"/>
          </a:solidFill>
          <a:ln w="12700">
            <a:solidFill>
              <a:srgbClr val="EFF4F3"/>
            </a:solidFill>
            <a:prstDash val="solid"/>
          </a:ln>
        </p:spPr>
        <p:txBody>
          <a:bodyPr/>
          <a:lstStyle/>
          <a:p>
            <a:endParaRPr dirty="0"/>
          </a:p>
        </p:txBody>
      </p:sp>
      <p:sp>
        <p:nvSpPr>
          <p:cNvPr id="5" name="Text 3"/>
          <p:cNvSpPr txBox="1"/>
          <p:nvPr/>
        </p:nvSpPr>
        <p:spPr>
          <a:xfrm>
            <a:off x="768096" y="1353312"/>
            <a:ext cx="2194560" cy="493776"/>
          </a:xfrm>
          <a:prstGeom prst="rect">
            <a:avLst/>
          </a:prstGeom>
          <a:noFill/>
          <a:ln/>
        </p:spPr>
        <p:txBody>
          <a:bodyPr wrap="square" lIns="0" tIns="0" rIns="0" bIns="0" rtlCol="0" anchor="ctr"/>
          <a:lstStyle/>
          <a:p>
            <a:pPr marL="0" indent="0">
              <a:buNone/>
            </a:pPr>
            <a:r>
              <a:rPr lang="en-US" sz="1150" b="1" dirty="0">
                <a:solidFill>
                  <a:srgbClr val="5F7271"/>
                </a:solidFill>
                <a:latin typeface="Calibri" pitchFamily="34" charset="0"/>
                <a:ea typeface="Calibri" pitchFamily="34" charset="-122"/>
                <a:cs typeface="Calibri" pitchFamily="34" charset="-120"/>
              </a:rPr>
              <a:t>Programming language</a:t>
            </a:r>
            <a:endParaRPr lang="en-US" sz="1150" dirty="0"/>
          </a:p>
        </p:txBody>
      </p:sp>
      <p:sp>
        <p:nvSpPr>
          <p:cNvPr id="6" name="Text 4"/>
          <p:cNvSpPr txBox="1"/>
          <p:nvPr/>
        </p:nvSpPr>
        <p:spPr>
          <a:xfrm>
            <a:off x="3017520" y="1353312"/>
            <a:ext cx="4069080" cy="493776"/>
          </a:xfrm>
          <a:prstGeom prst="rect">
            <a:avLst/>
          </a:prstGeom>
          <a:noFill/>
          <a:ln/>
        </p:spPr>
        <p:txBody>
          <a:bodyPr wrap="square" lIns="0" tIns="0" rIns="0" bIns="0" rtlCol="0" anchor="ctr"/>
          <a:lstStyle/>
          <a:p>
            <a:pPr marL="0" indent="0">
              <a:buNone/>
            </a:pPr>
            <a:r>
              <a:rPr lang="en-US" sz="1250" dirty="0">
                <a:solidFill>
                  <a:srgbClr val="172B2B"/>
                </a:solidFill>
                <a:latin typeface="Calibri" pitchFamily="34" charset="0"/>
                <a:ea typeface="Calibri" pitchFamily="34" charset="-122"/>
                <a:cs typeface="Calibri" pitchFamily="34" charset="-120"/>
              </a:rPr>
              <a:t>Python 3.11</a:t>
            </a:r>
            <a:endParaRPr lang="en-US" sz="1250" dirty="0"/>
          </a:p>
        </p:txBody>
      </p:sp>
      <p:sp>
        <p:nvSpPr>
          <p:cNvPr id="7" name="Text 5"/>
          <p:cNvSpPr txBox="1"/>
          <p:nvPr/>
        </p:nvSpPr>
        <p:spPr>
          <a:xfrm>
            <a:off x="768096" y="1847088"/>
            <a:ext cx="2194560" cy="493776"/>
          </a:xfrm>
          <a:prstGeom prst="rect">
            <a:avLst/>
          </a:prstGeom>
          <a:noFill/>
          <a:ln/>
        </p:spPr>
        <p:txBody>
          <a:bodyPr wrap="square" lIns="0" tIns="0" rIns="0" bIns="0" rtlCol="0" anchor="ctr"/>
          <a:lstStyle/>
          <a:p>
            <a:pPr marL="0" indent="0">
              <a:buNone/>
            </a:pPr>
            <a:r>
              <a:rPr lang="en-US" sz="1150" b="1" dirty="0">
                <a:solidFill>
                  <a:srgbClr val="5F7271"/>
                </a:solidFill>
                <a:latin typeface="Calibri" pitchFamily="34" charset="0"/>
                <a:ea typeface="Calibri" pitchFamily="34" charset="-122"/>
                <a:cs typeface="Calibri" pitchFamily="34" charset="-120"/>
              </a:rPr>
              <a:t>Document processing</a:t>
            </a:r>
            <a:endParaRPr lang="en-US" sz="1150" dirty="0"/>
          </a:p>
        </p:txBody>
      </p:sp>
      <p:sp>
        <p:nvSpPr>
          <p:cNvPr id="8" name="Text 6"/>
          <p:cNvSpPr txBox="1"/>
          <p:nvPr/>
        </p:nvSpPr>
        <p:spPr>
          <a:xfrm>
            <a:off x="3017520" y="1847088"/>
            <a:ext cx="4069080" cy="493776"/>
          </a:xfrm>
          <a:prstGeom prst="rect">
            <a:avLst/>
          </a:prstGeom>
          <a:noFill/>
          <a:ln/>
        </p:spPr>
        <p:txBody>
          <a:bodyPr wrap="square" lIns="0" tIns="0" rIns="0" bIns="0" rtlCol="0" anchor="ctr"/>
          <a:lstStyle/>
          <a:p>
            <a:pPr marL="0" indent="0">
              <a:buNone/>
            </a:pPr>
            <a:r>
              <a:rPr lang="en-US" sz="1250" dirty="0">
                <a:solidFill>
                  <a:srgbClr val="172B2B"/>
                </a:solidFill>
                <a:latin typeface="Calibri" pitchFamily="34" charset="0"/>
                <a:ea typeface="Calibri" pitchFamily="34" charset="-122"/>
                <a:cs typeface="Calibri" pitchFamily="34" charset="-120"/>
              </a:rPr>
              <a:t>pdfplumber, pypdf</a:t>
            </a:r>
            <a:endParaRPr lang="en-US" sz="1250" dirty="0"/>
          </a:p>
        </p:txBody>
      </p:sp>
      <p:sp>
        <p:nvSpPr>
          <p:cNvPr id="9" name="Shape 7"/>
          <p:cNvSpPr/>
          <p:nvPr/>
        </p:nvSpPr>
        <p:spPr>
          <a:xfrm>
            <a:off x="566928" y="2340864"/>
            <a:ext cx="6720840" cy="493776"/>
          </a:xfrm>
          <a:prstGeom prst="rect">
            <a:avLst/>
          </a:prstGeom>
          <a:solidFill>
            <a:srgbClr val="EFF4F3"/>
          </a:solidFill>
          <a:ln w="12700">
            <a:solidFill>
              <a:srgbClr val="EFF4F3"/>
            </a:solidFill>
            <a:prstDash val="solid"/>
          </a:ln>
        </p:spPr>
        <p:txBody>
          <a:bodyPr/>
          <a:lstStyle/>
          <a:p>
            <a:endParaRPr dirty="0"/>
          </a:p>
        </p:txBody>
      </p:sp>
      <p:sp>
        <p:nvSpPr>
          <p:cNvPr id="10" name="Text 8"/>
          <p:cNvSpPr txBox="1"/>
          <p:nvPr/>
        </p:nvSpPr>
        <p:spPr>
          <a:xfrm>
            <a:off x="768096" y="2340864"/>
            <a:ext cx="2194560" cy="493776"/>
          </a:xfrm>
          <a:prstGeom prst="rect">
            <a:avLst/>
          </a:prstGeom>
          <a:noFill/>
          <a:ln/>
        </p:spPr>
        <p:txBody>
          <a:bodyPr wrap="square" lIns="0" tIns="0" rIns="0" bIns="0" rtlCol="0" anchor="ctr"/>
          <a:lstStyle/>
          <a:p>
            <a:pPr marL="0" indent="0">
              <a:buNone/>
            </a:pPr>
            <a:r>
              <a:rPr lang="en-US" sz="1150" b="1" dirty="0">
                <a:solidFill>
                  <a:srgbClr val="5F7271"/>
                </a:solidFill>
                <a:latin typeface="Calibri" pitchFamily="34" charset="0"/>
                <a:ea typeface="Calibri" pitchFamily="34" charset="-122"/>
                <a:cs typeface="Calibri" pitchFamily="34" charset="-120"/>
              </a:rPr>
              <a:t>Chunking</a:t>
            </a:r>
            <a:endParaRPr lang="en-US" sz="1150" dirty="0"/>
          </a:p>
        </p:txBody>
      </p:sp>
      <p:sp>
        <p:nvSpPr>
          <p:cNvPr id="11" name="Text 9"/>
          <p:cNvSpPr txBox="1"/>
          <p:nvPr/>
        </p:nvSpPr>
        <p:spPr>
          <a:xfrm>
            <a:off x="3017520" y="2340864"/>
            <a:ext cx="4069080" cy="493776"/>
          </a:xfrm>
          <a:prstGeom prst="rect">
            <a:avLst/>
          </a:prstGeom>
          <a:noFill/>
          <a:ln/>
        </p:spPr>
        <p:txBody>
          <a:bodyPr wrap="square" lIns="0" tIns="0" rIns="0" bIns="0" rtlCol="0" anchor="ctr"/>
          <a:lstStyle/>
          <a:p>
            <a:pPr marL="0" indent="0">
              <a:buNone/>
            </a:pPr>
            <a:r>
              <a:rPr lang="en-US" sz="1250" dirty="0">
                <a:solidFill>
                  <a:srgbClr val="172B2B"/>
                </a:solidFill>
                <a:latin typeface="Calibri" pitchFamily="34" charset="0"/>
                <a:ea typeface="Calibri" pitchFamily="34" charset="-122"/>
                <a:cs typeface="Calibri" pitchFamily="34" charset="-120"/>
              </a:rPr>
              <a:t>Page-aware, sentence-boundary segmentation</a:t>
            </a:r>
            <a:endParaRPr lang="en-US" sz="1250" dirty="0"/>
          </a:p>
        </p:txBody>
      </p:sp>
      <p:sp>
        <p:nvSpPr>
          <p:cNvPr id="12" name="Text 10"/>
          <p:cNvSpPr txBox="1"/>
          <p:nvPr/>
        </p:nvSpPr>
        <p:spPr>
          <a:xfrm>
            <a:off x="768096" y="2834640"/>
            <a:ext cx="2194560" cy="493776"/>
          </a:xfrm>
          <a:prstGeom prst="rect">
            <a:avLst/>
          </a:prstGeom>
          <a:noFill/>
          <a:ln/>
        </p:spPr>
        <p:txBody>
          <a:bodyPr wrap="square" lIns="0" tIns="0" rIns="0" bIns="0" rtlCol="0" anchor="ctr"/>
          <a:lstStyle/>
          <a:p>
            <a:pPr marL="0" indent="0">
              <a:buNone/>
            </a:pPr>
            <a:r>
              <a:rPr lang="en-US" sz="1150" b="1" dirty="0">
                <a:solidFill>
                  <a:srgbClr val="5F7271"/>
                </a:solidFill>
                <a:latin typeface="Calibri" pitchFamily="34" charset="0"/>
                <a:ea typeface="Calibri" pitchFamily="34" charset="-122"/>
                <a:cs typeface="Calibri" pitchFamily="34" charset="-120"/>
              </a:rPr>
              <a:t>Embeddings</a:t>
            </a:r>
            <a:endParaRPr lang="en-US" sz="1150" dirty="0"/>
          </a:p>
        </p:txBody>
      </p:sp>
      <p:sp>
        <p:nvSpPr>
          <p:cNvPr id="13" name="Text 11"/>
          <p:cNvSpPr txBox="1"/>
          <p:nvPr/>
        </p:nvSpPr>
        <p:spPr>
          <a:xfrm>
            <a:off x="3017520" y="2834640"/>
            <a:ext cx="4069080" cy="493776"/>
          </a:xfrm>
          <a:prstGeom prst="rect">
            <a:avLst/>
          </a:prstGeom>
          <a:noFill/>
          <a:ln/>
        </p:spPr>
        <p:txBody>
          <a:bodyPr wrap="square" lIns="0" tIns="0" rIns="0" bIns="0" rtlCol="0" anchor="ctr"/>
          <a:lstStyle/>
          <a:p>
            <a:pPr marL="0" indent="0">
              <a:buNone/>
            </a:pPr>
            <a:r>
              <a:rPr lang="en-US" sz="1250" dirty="0">
                <a:solidFill>
                  <a:srgbClr val="172B2B"/>
                </a:solidFill>
                <a:latin typeface="Calibri" pitchFamily="34" charset="0"/>
                <a:ea typeface="Calibri" pitchFamily="34" charset="-122"/>
                <a:cs typeface="Calibri" pitchFamily="34" charset="-120"/>
              </a:rPr>
              <a:t>nomic-embed-text (runs locally)</a:t>
            </a:r>
            <a:endParaRPr lang="en-US" sz="1250" dirty="0"/>
          </a:p>
        </p:txBody>
      </p:sp>
      <p:sp>
        <p:nvSpPr>
          <p:cNvPr id="14" name="Shape 12"/>
          <p:cNvSpPr/>
          <p:nvPr/>
        </p:nvSpPr>
        <p:spPr>
          <a:xfrm>
            <a:off x="566928" y="3328416"/>
            <a:ext cx="6720840" cy="493776"/>
          </a:xfrm>
          <a:prstGeom prst="rect">
            <a:avLst/>
          </a:prstGeom>
          <a:solidFill>
            <a:srgbClr val="EFF4F3"/>
          </a:solidFill>
          <a:ln w="12700">
            <a:solidFill>
              <a:srgbClr val="EFF4F3"/>
            </a:solidFill>
            <a:prstDash val="solid"/>
          </a:ln>
        </p:spPr>
        <p:txBody>
          <a:bodyPr/>
          <a:lstStyle/>
          <a:p>
            <a:endParaRPr dirty="0"/>
          </a:p>
        </p:txBody>
      </p:sp>
      <p:sp>
        <p:nvSpPr>
          <p:cNvPr id="15" name="Text 13"/>
          <p:cNvSpPr txBox="1"/>
          <p:nvPr/>
        </p:nvSpPr>
        <p:spPr>
          <a:xfrm>
            <a:off x="768096" y="3328416"/>
            <a:ext cx="2194560" cy="493776"/>
          </a:xfrm>
          <a:prstGeom prst="rect">
            <a:avLst/>
          </a:prstGeom>
          <a:noFill/>
          <a:ln/>
        </p:spPr>
        <p:txBody>
          <a:bodyPr wrap="square" lIns="0" tIns="0" rIns="0" bIns="0" rtlCol="0" anchor="ctr"/>
          <a:lstStyle/>
          <a:p>
            <a:pPr marL="0" indent="0">
              <a:buNone/>
            </a:pPr>
            <a:r>
              <a:rPr lang="en-US" sz="1150" b="1" dirty="0">
                <a:solidFill>
                  <a:srgbClr val="5F7271"/>
                </a:solidFill>
                <a:latin typeface="Calibri" pitchFamily="34" charset="0"/>
                <a:ea typeface="Calibri" pitchFamily="34" charset="-122"/>
                <a:cs typeface="Calibri" pitchFamily="34" charset="-120"/>
              </a:rPr>
              <a:t>Vector database</a:t>
            </a:r>
            <a:endParaRPr lang="en-US" sz="1150" dirty="0"/>
          </a:p>
        </p:txBody>
      </p:sp>
      <p:sp>
        <p:nvSpPr>
          <p:cNvPr id="16" name="Text 14"/>
          <p:cNvSpPr txBox="1"/>
          <p:nvPr/>
        </p:nvSpPr>
        <p:spPr>
          <a:xfrm>
            <a:off x="3017520" y="3328416"/>
            <a:ext cx="4069080" cy="493776"/>
          </a:xfrm>
          <a:prstGeom prst="rect">
            <a:avLst/>
          </a:prstGeom>
          <a:noFill/>
          <a:ln/>
        </p:spPr>
        <p:txBody>
          <a:bodyPr wrap="square" lIns="0" tIns="0" rIns="0" bIns="0" rtlCol="0" anchor="ctr"/>
          <a:lstStyle/>
          <a:p>
            <a:pPr marL="0" indent="0">
              <a:buNone/>
            </a:pPr>
            <a:r>
              <a:rPr lang="en-US" sz="1250" dirty="0">
                <a:solidFill>
                  <a:srgbClr val="172B2B"/>
                </a:solidFill>
                <a:latin typeface="Calibri" pitchFamily="34" charset="0"/>
                <a:ea typeface="Calibri" pitchFamily="34" charset="-122"/>
                <a:cs typeface="Calibri" pitchFamily="34" charset="-120"/>
              </a:rPr>
              <a:t>ChromaDB / pgVector</a:t>
            </a:r>
            <a:endParaRPr lang="en-US" sz="1250" dirty="0"/>
          </a:p>
        </p:txBody>
      </p:sp>
      <p:sp>
        <p:nvSpPr>
          <p:cNvPr id="17" name="Text 15"/>
          <p:cNvSpPr txBox="1"/>
          <p:nvPr/>
        </p:nvSpPr>
        <p:spPr>
          <a:xfrm>
            <a:off x="768096" y="3822192"/>
            <a:ext cx="2194560" cy="493776"/>
          </a:xfrm>
          <a:prstGeom prst="rect">
            <a:avLst/>
          </a:prstGeom>
          <a:noFill/>
          <a:ln/>
        </p:spPr>
        <p:txBody>
          <a:bodyPr wrap="square" lIns="0" tIns="0" rIns="0" bIns="0" rtlCol="0" anchor="ctr"/>
          <a:lstStyle/>
          <a:p>
            <a:pPr marL="0" indent="0">
              <a:buNone/>
            </a:pPr>
            <a:r>
              <a:rPr lang="en-US" sz="1150" b="1" dirty="0">
                <a:solidFill>
                  <a:srgbClr val="5F7271"/>
                </a:solidFill>
                <a:latin typeface="Calibri" pitchFamily="34" charset="0"/>
                <a:ea typeface="Calibri" pitchFamily="34" charset="-122"/>
                <a:cs typeface="Calibri" pitchFamily="34" charset="-120"/>
              </a:rPr>
              <a:t>Retrieval</a:t>
            </a:r>
            <a:endParaRPr lang="en-US" sz="1150" dirty="0"/>
          </a:p>
        </p:txBody>
      </p:sp>
      <p:sp>
        <p:nvSpPr>
          <p:cNvPr id="18" name="Text 16"/>
          <p:cNvSpPr txBox="1"/>
          <p:nvPr/>
        </p:nvSpPr>
        <p:spPr>
          <a:xfrm>
            <a:off x="3017520" y="3822192"/>
            <a:ext cx="4069080" cy="493776"/>
          </a:xfrm>
          <a:prstGeom prst="rect">
            <a:avLst/>
          </a:prstGeom>
          <a:noFill/>
          <a:ln/>
        </p:spPr>
        <p:txBody>
          <a:bodyPr wrap="square" lIns="0" tIns="0" rIns="0" bIns="0" rtlCol="0" anchor="ctr"/>
          <a:lstStyle/>
          <a:p>
            <a:pPr marL="0" indent="0">
              <a:buNone/>
            </a:pPr>
            <a:r>
              <a:rPr lang="en-US" sz="1250" dirty="0">
                <a:solidFill>
                  <a:srgbClr val="172B2B"/>
                </a:solidFill>
                <a:latin typeface="Calibri" pitchFamily="34" charset="0"/>
                <a:ea typeface="Calibri" pitchFamily="34" charset="-122"/>
                <a:cs typeface="Calibri" pitchFamily="34" charset="-120"/>
              </a:rPr>
              <a:t>Semantic Search (Cosine Similarity)</a:t>
            </a:r>
            <a:endParaRPr lang="en-US" sz="1250" dirty="0"/>
          </a:p>
        </p:txBody>
      </p:sp>
      <p:sp>
        <p:nvSpPr>
          <p:cNvPr id="19" name="Shape 17"/>
          <p:cNvSpPr/>
          <p:nvPr/>
        </p:nvSpPr>
        <p:spPr>
          <a:xfrm>
            <a:off x="566928" y="4315968"/>
            <a:ext cx="6720840" cy="493776"/>
          </a:xfrm>
          <a:prstGeom prst="rect">
            <a:avLst/>
          </a:prstGeom>
          <a:solidFill>
            <a:srgbClr val="EFF4F3"/>
          </a:solidFill>
          <a:ln w="12700">
            <a:solidFill>
              <a:srgbClr val="EFF4F3"/>
            </a:solidFill>
            <a:prstDash val="solid"/>
          </a:ln>
        </p:spPr>
        <p:txBody>
          <a:bodyPr/>
          <a:lstStyle/>
          <a:p>
            <a:endParaRPr dirty="0"/>
          </a:p>
        </p:txBody>
      </p:sp>
      <p:sp>
        <p:nvSpPr>
          <p:cNvPr id="20" name="Text 18"/>
          <p:cNvSpPr txBox="1"/>
          <p:nvPr/>
        </p:nvSpPr>
        <p:spPr>
          <a:xfrm>
            <a:off x="768096" y="4315968"/>
            <a:ext cx="2194560" cy="493776"/>
          </a:xfrm>
          <a:prstGeom prst="rect">
            <a:avLst/>
          </a:prstGeom>
          <a:noFill/>
          <a:ln/>
        </p:spPr>
        <p:txBody>
          <a:bodyPr wrap="square" lIns="0" tIns="0" rIns="0" bIns="0" rtlCol="0" anchor="ctr"/>
          <a:lstStyle/>
          <a:p>
            <a:pPr marL="0" indent="0">
              <a:buNone/>
            </a:pPr>
            <a:r>
              <a:rPr lang="en-US" sz="1150" b="1" dirty="0">
                <a:solidFill>
                  <a:srgbClr val="5F7271"/>
                </a:solidFill>
                <a:latin typeface="Calibri" pitchFamily="34" charset="0"/>
                <a:ea typeface="Calibri" pitchFamily="34" charset="-122"/>
                <a:cs typeface="Calibri" pitchFamily="34" charset="-120"/>
              </a:rPr>
              <a:t>Generation</a:t>
            </a:r>
            <a:endParaRPr lang="en-US" sz="1150" dirty="0"/>
          </a:p>
        </p:txBody>
      </p:sp>
      <p:sp>
        <p:nvSpPr>
          <p:cNvPr id="21" name="Text 19"/>
          <p:cNvSpPr txBox="1"/>
          <p:nvPr/>
        </p:nvSpPr>
        <p:spPr>
          <a:xfrm>
            <a:off x="3017520" y="4315968"/>
            <a:ext cx="4069080" cy="493776"/>
          </a:xfrm>
          <a:prstGeom prst="rect">
            <a:avLst/>
          </a:prstGeom>
          <a:noFill/>
          <a:ln/>
        </p:spPr>
        <p:txBody>
          <a:bodyPr wrap="square" lIns="0" tIns="0" rIns="0" bIns="0" rtlCol="0" anchor="ctr"/>
          <a:lstStyle/>
          <a:p>
            <a:pPr marL="0" indent="0">
              <a:buNone/>
            </a:pPr>
            <a:r>
              <a:rPr lang="en-US" sz="1250" dirty="0">
                <a:solidFill>
                  <a:srgbClr val="172B2B"/>
                </a:solidFill>
                <a:latin typeface="Calibri" pitchFamily="34" charset="0"/>
                <a:ea typeface="Calibri" pitchFamily="34" charset="-122"/>
                <a:cs typeface="Calibri" pitchFamily="34" charset="-120"/>
              </a:rPr>
              <a:t>Qwen 2.5 7B served locally by Ollama</a:t>
            </a:r>
            <a:endParaRPr lang="en-US" sz="1250" dirty="0"/>
          </a:p>
        </p:txBody>
      </p:sp>
      <p:sp>
        <p:nvSpPr>
          <p:cNvPr id="22" name="Text 20"/>
          <p:cNvSpPr txBox="1"/>
          <p:nvPr/>
        </p:nvSpPr>
        <p:spPr>
          <a:xfrm>
            <a:off x="768096" y="4809744"/>
            <a:ext cx="2194560" cy="493776"/>
          </a:xfrm>
          <a:prstGeom prst="rect">
            <a:avLst/>
          </a:prstGeom>
          <a:noFill/>
          <a:ln/>
        </p:spPr>
        <p:txBody>
          <a:bodyPr wrap="square" lIns="0" tIns="0" rIns="0" bIns="0" rtlCol="0" anchor="ctr"/>
          <a:lstStyle/>
          <a:p>
            <a:pPr marL="0" indent="0">
              <a:buNone/>
            </a:pPr>
            <a:r>
              <a:rPr lang="en-US" sz="1150" b="1" dirty="0">
                <a:solidFill>
                  <a:srgbClr val="5F7271"/>
                </a:solidFill>
                <a:latin typeface="Calibri" pitchFamily="34" charset="0"/>
                <a:ea typeface="Calibri" pitchFamily="34" charset="-122"/>
                <a:cs typeface="Calibri" pitchFamily="34" charset="-120"/>
              </a:rPr>
              <a:t>Interface</a:t>
            </a:r>
            <a:endParaRPr lang="en-US" sz="1150" dirty="0"/>
          </a:p>
        </p:txBody>
      </p:sp>
      <p:sp>
        <p:nvSpPr>
          <p:cNvPr id="23" name="Text 21"/>
          <p:cNvSpPr txBox="1"/>
          <p:nvPr/>
        </p:nvSpPr>
        <p:spPr>
          <a:xfrm>
            <a:off x="3017520" y="4809744"/>
            <a:ext cx="4069080" cy="493776"/>
          </a:xfrm>
          <a:prstGeom prst="rect">
            <a:avLst/>
          </a:prstGeom>
          <a:noFill/>
          <a:ln/>
        </p:spPr>
        <p:txBody>
          <a:bodyPr wrap="square" lIns="0" tIns="0" rIns="0" bIns="0" rtlCol="0" anchor="ctr"/>
          <a:lstStyle/>
          <a:p>
            <a:pPr marL="0" indent="0">
              <a:buNone/>
            </a:pPr>
            <a:r>
              <a:rPr lang="en-US" sz="1250" dirty="0">
                <a:solidFill>
                  <a:srgbClr val="172B2B"/>
                </a:solidFill>
                <a:latin typeface="Calibri" pitchFamily="34" charset="0"/>
                <a:ea typeface="Calibri" pitchFamily="34" charset="-122"/>
                <a:cs typeface="Calibri" pitchFamily="34" charset="-120"/>
              </a:rPr>
              <a:t>React / Vite web application</a:t>
            </a:r>
            <a:endParaRPr lang="en-US" sz="1250" dirty="0"/>
          </a:p>
        </p:txBody>
      </p:sp>
      <p:sp>
        <p:nvSpPr>
          <p:cNvPr id="24" name="Shape 22"/>
          <p:cNvSpPr/>
          <p:nvPr/>
        </p:nvSpPr>
        <p:spPr>
          <a:xfrm>
            <a:off x="566928" y="5303520"/>
            <a:ext cx="6720840" cy="493776"/>
          </a:xfrm>
          <a:prstGeom prst="rect">
            <a:avLst/>
          </a:prstGeom>
          <a:solidFill>
            <a:srgbClr val="EFF4F3"/>
          </a:solidFill>
          <a:ln w="12700">
            <a:solidFill>
              <a:srgbClr val="EFF4F3"/>
            </a:solidFill>
            <a:prstDash val="solid"/>
          </a:ln>
        </p:spPr>
        <p:txBody>
          <a:bodyPr/>
          <a:lstStyle/>
          <a:p>
            <a:endParaRPr dirty="0"/>
          </a:p>
        </p:txBody>
      </p:sp>
      <p:sp>
        <p:nvSpPr>
          <p:cNvPr id="25" name="Text 23"/>
          <p:cNvSpPr txBox="1"/>
          <p:nvPr/>
        </p:nvSpPr>
        <p:spPr>
          <a:xfrm>
            <a:off x="768096" y="5303520"/>
            <a:ext cx="2194560" cy="493776"/>
          </a:xfrm>
          <a:prstGeom prst="rect">
            <a:avLst/>
          </a:prstGeom>
          <a:noFill/>
          <a:ln/>
        </p:spPr>
        <p:txBody>
          <a:bodyPr wrap="square" lIns="0" tIns="0" rIns="0" bIns="0" rtlCol="0" anchor="ctr"/>
          <a:lstStyle/>
          <a:p>
            <a:pPr marL="0" indent="0">
              <a:buNone/>
            </a:pPr>
            <a:r>
              <a:rPr lang="en-US" sz="1150" b="1" dirty="0">
                <a:solidFill>
                  <a:srgbClr val="5F7271"/>
                </a:solidFill>
                <a:latin typeface="Calibri" pitchFamily="34" charset="0"/>
                <a:ea typeface="Calibri" pitchFamily="34" charset="-122"/>
                <a:cs typeface="Calibri" pitchFamily="34" charset="-120"/>
              </a:rPr>
              <a:t>Evaluation</a:t>
            </a:r>
            <a:endParaRPr lang="en-US" sz="1150" dirty="0"/>
          </a:p>
        </p:txBody>
      </p:sp>
      <p:sp>
        <p:nvSpPr>
          <p:cNvPr id="26" name="Text 24"/>
          <p:cNvSpPr txBox="1"/>
          <p:nvPr/>
        </p:nvSpPr>
        <p:spPr>
          <a:xfrm>
            <a:off x="3017520" y="5303520"/>
            <a:ext cx="4069080" cy="493776"/>
          </a:xfrm>
          <a:prstGeom prst="rect">
            <a:avLst/>
          </a:prstGeom>
          <a:noFill/>
          <a:ln/>
        </p:spPr>
        <p:txBody>
          <a:bodyPr wrap="square" lIns="0" tIns="0" rIns="0" bIns="0" rtlCol="0" anchor="ctr"/>
          <a:lstStyle/>
          <a:p>
            <a:pPr marL="0" indent="0">
              <a:buNone/>
            </a:pPr>
            <a:r>
              <a:rPr lang="en-US" sz="1250" dirty="0">
                <a:solidFill>
                  <a:srgbClr val="172B2B"/>
                </a:solidFill>
                <a:latin typeface="Calibri" pitchFamily="34" charset="0"/>
                <a:ea typeface="Calibri" pitchFamily="34" charset="-122"/>
                <a:cs typeface="Calibri" pitchFamily="34" charset="-120"/>
              </a:rPr>
              <a:t>Groundedness and citation-accuracy metrics</a:t>
            </a:r>
            <a:endParaRPr lang="en-US" sz="1250" dirty="0"/>
          </a:p>
        </p:txBody>
      </p:sp>
      <p:sp>
        <p:nvSpPr>
          <p:cNvPr id="27" name="Shape 25"/>
          <p:cNvSpPr/>
          <p:nvPr/>
        </p:nvSpPr>
        <p:spPr>
          <a:xfrm>
            <a:off x="7653528" y="1353312"/>
            <a:ext cx="3971239" cy="2962656"/>
          </a:xfrm>
          <a:prstGeom prst="roundRect">
            <a:avLst>
              <a:gd name="adj" fmla="val 3704"/>
            </a:avLst>
          </a:prstGeom>
          <a:solidFill>
            <a:srgbClr val="0E2F30"/>
          </a:solidFill>
          <a:ln w="12700">
            <a:solidFill>
              <a:srgbClr val="0E2F30"/>
            </a:solidFill>
            <a:prstDash val="solid"/>
          </a:ln>
          <a:effectLst>
            <a:outerShdw blurRad="127000" dist="25400" dir="5400000" algn="bl" rotWithShape="0">
              <a:srgbClr val="0E2F30">
                <a:alpha val="20000"/>
              </a:srgbClr>
            </a:outerShdw>
          </a:effectLst>
        </p:spPr>
        <p:txBody>
          <a:bodyPr/>
          <a:lstStyle/>
          <a:p>
            <a:endParaRPr dirty="0"/>
          </a:p>
        </p:txBody>
      </p:sp>
      <p:sp>
        <p:nvSpPr>
          <p:cNvPr id="28" name="Text 26"/>
          <p:cNvSpPr txBox="1"/>
          <p:nvPr/>
        </p:nvSpPr>
        <p:spPr>
          <a:xfrm>
            <a:off x="7964424" y="1627632"/>
            <a:ext cx="3349447" cy="256032"/>
          </a:xfrm>
          <a:prstGeom prst="rect">
            <a:avLst/>
          </a:prstGeom>
          <a:noFill/>
          <a:ln/>
        </p:spPr>
        <p:txBody>
          <a:bodyPr wrap="square" lIns="0" tIns="0" rIns="0" bIns="0" rtlCol="0" anchor="ctr"/>
          <a:lstStyle/>
          <a:p>
            <a:pPr marL="0" indent="0">
              <a:buNone/>
            </a:pPr>
            <a:r>
              <a:rPr lang="en-US" sz="1050" b="1" kern="0" spc="150" dirty="0">
                <a:solidFill>
                  <a:srgbClr val="E8A33D"/>
                </a:solidFill>
                <a:latin typeface="Calibri" pitchFamily="34" charset="0"/>
                <a:ea typeface="Calibri" pitchFamily="34" charset="-122"/>
                <a:cs typeface="Calibri" pitchFamily="34" charset="-120"/>
              </a:rPr>
              <a:t>FINAL IMPLEMENTATION</a:t>
            </a:r>
            <a:endParaRPr lang="en-US" sz="1050" dirty="0"/>
          </a:p>
        </p:txBody>
      </p:sp>
      <p:sp>
        <p:nvSpPr>
          <p:cNvPr id="29" name="Text 27"/>
          <p:cNvSpPr txBox="1"/>
          <p:nvPr/>
        </p:nvSpPr>
        <p:spPr>
          <a:xfrm>
            <a:off x="7964424" y="1956816"/>
            <a:ext cx="3349447" cy="256032"/>
          </a:xfrm>
          <a:prstGeom prst="rect">
            <a:avLst/>
          </a:prstGeom>
          <a:noFill/>
          <a:ln/>
        </p:spPr>
        <p:txBody>
          <a:bodyPr wrap="square" lIns="0" tIns="0" rIns="0" bIns="0" rtlCol="0" anchor="ctr"/>
          <a:lstStyle/>
          <a:p>
            <a:pPr marL="0" indent="0">
              <a:buNone/>
            </a:pPr>
            <a:r>
              <a:rPr lang="en-US" sz="1150" dirty="0">
                <a:solidFill>
                  <a:srgbClr val="9BCFC7"/>
                </a:solidFill>
                <a:latin typeface="Calibri" pitchFamily="34" charset="0"/>
                <a:ea typeface="Calibri" pitchFamily="34" charset="-122"/>
                <a:cs typeface="Calibri" pitchFamily="34" charset="-120"/>
              </a:rPr>
              <a:t>A web application where a user can:</a:t>
            </a:r>
            <a:endParaRPr lang="en-US" sz="1150" dirty="0"/>
          </a:p>
        </p:txBody>
      </p:sp>
      <p:pic>
        <p:nvPicPr>
          <p:cNvPr id="30" name="Image 0" descr="preencoded.png"/>
          <p:cNvPicPr>
            <a:picLocks noChangeAspect="1"/>
          </p:cNvPicPr>
          <p:nvPr/>
        </p:nvPicPr>
        <p:blipFill>
          <a:blip r:embed="rId3"/>
          <a:stretch>
            <a:fillRect/>
          </a:stretch>
        </p:blipFill>
        <p:spPr>
          <a:xfrm>
            <a:off x="7982712" y="2478024"/>
            <a:ext cx="201168" cy="201168"/>
          </a:xfrm>
          <a:prstGeom prst="rect">
            <a:avLst/>
          </a:prstGeom>
        </p:spPr>
      </p:pic>
      <p:sp>
        <p:nvSpPr>
          <p:cNvPr id="31" name="Text 28"/>
          <p:cNvSpPr txBox="1"/>
          <p:nvPr/>
        </p:nvSpPr>
        <p:spPr>
          <a:xfrm>
            <a:off x="8293608" y="2395728"/>
            <a:ext cx="3020263" cy="365760"/>
          </a:xfrm>
          <a:prstGeom prst="rect">
            <a:avLst/>
          </a:prstGeom>
          <a:noFill/>
          <a:ln/>
        </p:spPr>
        <p:txBody>
          <a:bodyPr wrap="square" lIns="0" tIns="0" rIns="0" bIns="0" rtlCol="0" anchor="ctr"/>
          <a:lstStyle/>
          <a:p>
            <a:pPr marL="0" indent="0">
              <a:buNone/>
            </a:pPr>
            <a:r>
              <a:rPr lang="en-US" sz="1250" dirty="0">
                <a:solidFill>
                  <a:srgbClr val="FFFFFF"/>
                </a:solidFill>
                <a:latin typeface="Calibri" pitchFamily="34" charset="0"/>
                <a:ea typeface="Calibri" pitchFamily="34" charset="-122"/>
                <a:cs typeface="Calibri" pitchFamily="34" charset="-120"/>
              </a:rPr>
              <a:t>Upload multiple documents</a:t>
            </a:r>
            <a:endParaRPr lang="en-US" sz="1250" dirty="0"/>
          </a:p>
        </p:txBody>
      </p:sp>
      <p:pic>
        <p:nvPicPr>
          <p:cNvPr id="32" name="Image 1" descr="preencoded.png"/>
          <p:cNvPicPr>
            <a:picLocks noChangeAspect="1"/>
          </p:cNvPicPr>
          <p:nvPr/>
        </p:nvPicPr>
        <p:blipFill>
          <a:blip r:embed="rId3"/>
          <a:stretch>
            <a:fillRect/>
          </a:stretch>
        </p:blipFill>
        <p:spPr>
          <a:xfrm>
            <a:off x="7982712" y="2898648"/>
            <a:ext cx="201168" cy="201168"/>
          </a:xfrm>
          <a:prstGeom prst="rect">
            <a:avLst/>
          </a:prstGeom>
        </p:spPr>
      </p:pic>
      <p:sp>
        <p:nvSpPr>
          <p:cNvPr id="33" name="Text 29"/>
          <p:cNvSpPr txBox="1"/>
          <p:nvPr/>
        </p:nvSpPr>
        <p:spPr>
          <a:xfrm>
            <a:off x="8293608" y="2816352"/>
            <a:ext cx="3020263" cy="365760"/>
          </a:xfrm>
          <a:prstGeom prst="rect">
            <a:avLst/>
          </a:prstGeom>
          <a:noFill/>
          <a:ln/>
        </p:spPr>
        <p:txBody>
          <a:bodyPr wrap="square" lIns="0" tIns="0" rIns="0" bIns="0" rtlCol="0" anchor="ctr"/>
          <a:lstStyle/>
          <a:p>
            <a:pPr marL="0" indent="0">
              <a:buNone/>
            </a:pPr>
            <a:r>
              <a:rPr lang="en-US" sz="1250" dirty="0">
                <a:solidFill>
                  <a:srgbClr val="FFFFFF"/>
                </a:solidFill>
                <a:latin typeface="Calibri" pitchFamily="34" charset="0"/>
                <a:ea typeface="Calibri" pitchFamily="34" charset="-122"/>
                <a:cs typeface="Calibri" pitchFamily="34" charset="-120"/>
              </a:rPr>
              <a:t>Ask questions in natural language</a:t>
            </a:r>
            <a:endParaRPr lang="en-US" sz="1250" dirty="0"/>
          </a:p>
        </p:txBody>
      </p:sp>
      <p:pic>
        <p:nvPicPr>
          <p:cNvPr id="34" name="Image 2" descr="preencoded.png"/>
          <p:cNvPicPr>
            <a:picLocks noChangeAspect="1"/>
          </p:cNvPicPr>
          <p:nvPr/>
        </p:nvPicPr>
        <p:blipFill>
          <a:blip r:embed="rId3"/>
          <a:stretch>
            <a:fillRect/>
          </a:stretch>
        </p:blipFill>
        <p:spPr>
          <a:xfrm>
            <a:off x="7982712" y="3319272"/>
            <a:ext cx="201168" cy="201168"/>
          </a:xfrm>
          <a:prstGeom prst="rect">
            <a:avLst/>
          </a:prstGeom>
        </p:spPr>
      </p:pic>
      <p:sp>
        <p:nvSpPr>
          <p:cNvPr id="35" name="Text 30"/>
          <p:cNvSpPr txBox="1"/>
          <p:nvPr/>
        </p:nvSpPr>
        <p:spPr>
          <a:xfrm>
            <a:off x="8293608" y="3236976"/>
            <a:ext cx="3020263" cy="365760"/>
          </a:xfrm>
          <a:prstGeom prst="rect">
            <a:avLst/>
          </a:prstGeom>
          <a:noFill/>
          <a:ln/>
        </p:spPr>
        <p:txBody>
          <a:bodyPr wrap="square" lIns="0" tIns="0" rIns="0" bIns="0" rtlCol="0" anchor="ctr"/>
          <a:lstStyle/>
          <a:p>
            <a:pPr marL="0" indent="0">
              <a:buNone/>
            </a:pPr>
            <a:r>
              <a:rPr lang="en-US" sz="1250" dirty="0">
                <a:solidFill>
                  <a:srgbClr val="FFFFFF"/>
                </a:solidFill>
                <a:latin typeface="Calibri" pitchFamily="34" charset="0"/>
                <a:ea typeface="Calibri" pitchFamily="34" charset="-122"/>
                <a:cs typeface="Calibri" pitchFamily="34" charset="-120"/>
              </a:rPr>
              <a:t>Receive context-based answers</a:t>
            </a:r>
            <a:endParaRPr lang="en-US" sz="1250" dirty="0"/>
          </a:p>
        </p:txBody>
      </p:sp>
      <p:pic>
        <p:nvPicPr>
          <p:cNvPr id="36" name="Image 3" descr="preencoded.png"/>
          <p:cNvPicPr>
            <a:picLocks noChangeAspect="1"/>
          </p:cNvPicPr>
          <p:nvPr/>
        </p:nvPicPr>
        <p:blipFill>
          <a:blip r:embed="rId3"/>
          <a:stretch>
            <a:fillRect/>
          </a:stretch>
        </p:blipFill>
        <p:spPr>
          <a:xfrm>
            <a:off x="7982712" y="3739896"/>
            <a:ext cx="201168" cy="201168"/>
          </a:xfrm>
          <a:prstGeom prst="rect">
            <a:avLst/>
          </a:prstGeom>
        </p:spPr>
      </p:pic>
      <p:sp>
        <p:nvSpPr>
          <p:cNvPr id="37" name="Text 31"/>
          <p:cNvSpPr txBox="1"/>
          <p:nvPr/>
        </p:nvSpPr>
        <p:spPr>
          <a:xfrm>
            <a:off x="8293608" y="3657600"/>
            <a:ext cx="3020263" cy="365760"/>
          </a:xfrm>
          <a:prstGeom prst="rect">
            <a:avLst/>
          </a:prstGeom>
          <a:noFill/>
          <a:ln/>
        </p:spPr>
        <p:txBody>
          <a:bodyPr wrap="square" lIns="0" tIns="0" rIns="0" bIns="0" rtlCol="0" anchor="ctr"/>
          <a:lstStyle/>
          <a:p>
            <a:pPr marL="0" indent="0">
              <a:buNone/>
            </a:pPr>
            <a:r>
              <a:rPr lang="en-US" sz="1250" dirty="0">
                <a:solidFill>
                  <a:srgbClr val="FFFFFF"/>
                </a:solidFill>
                <a:latin typeface="Calibri" pitchFamily="34" charset="0"/>
                <a:ea typeface="Calibri" pitchFamily="34" charset="-122"/>
                <a:cs typeface="Calibri" pitchFamily="34" charset="-120"/>
              </a:rPr>
              <a:t>View the supporting citations</a:t>
            </a:r>
            <a:endParaRPr lang="en-US" sz="1250" dirty="0"/>
          </a:p>
        </p:txBody>
      </p:sp>
      <p:sp>
        <p:nvSpPr>
          <p:cNvPr id="38" name="Shape 32"/>
          <p:cNvSpPr/>
          <p:nvPr/>
        </p:nvSpPr>
        <p:spPr>
          <a:xfrm>
            <a:off x="7653528" y="4590288"/>
            <a:ext cx="3971239" cy="1645920"/>
          </a:xfrm>
          <a:prstGeom prst="roundRect">
            <a:avLst>
              <a:gd name="adj" fmla="val 5556"/>
            </a:avLst>
          </a:prstGeom>
          <a:solidFill>
            <a:srgbClr val="EFF4F3"/>
          </a:solidFill>
          <a:ln w="12700">
            <a:solidFill>
              <a:srgbClr val="EFF4F3"/>
            </a:solidFill>
            <a:prstDash val="solid"/>
          </a:ln>
        </p:spPr>
        <p:txBody>
          <a:bodyPr/>
          <a:lstStyle/>
          <a:p>
            <a:endParaRPr dirty="0"/>
          </a:p>
        </p:txBody>
      </p:sp>
      <p:sp>
        <p:nvSpPr>
          <p:cNvPr id="39" name="Shape 33"/>
          <p:cNvSpPr/>
          <p:nvPr/>
        </p:nvSpPr>
        <p:spPr>
          <a:xfrm>
            <a:off x="7964424" y="4828032"/>
            <a:ext cx="420624" cy="420624"/>
          </a:xfrm>
          <a:prstGeom prst="ellipse">
            <a:avLst/>
          </a:prstGeom>
          <a:solidFill>
            <a:srgbClr val="FFFFFF"/>
          </a:solidFill>
          <a:ln w="12700">
            <a:solidFill>
              <a:srgbClr val="FFFFFF"/>
            </a:solidFill>
            <a:prstDash val="solid"/>
          </a:ln>
        </p:spPr>
        <p:txBody>
          <a:bodyPr/>
          <a:lstStyle/>
          <a:p>
            <a:endParaRPr dirty="0"/>
          </a:p>
        </p:txBody>
      </p:sp>
      <p:pic>
        <p:nvPicPr>
          <p:cNvPr id="40" name="Image 4" descr="preencoded.png"/>
          <p:cNvPicPr>
            <a:picLocks noChangeAspect="1"/>
          </p:cNvPicPr>
          <p:nvPr/>
        </p:nvPicPr>
        <p:blipFill>
          <a:blip r:embed="rId4"/>
          <a:stretch>
            <a:fillRect/>
          </a:stretch>
        </p:blipFill>
        <p:spPr>
          <a:xfrm>
            <a:off x="8073786" y="4937394"/>
            <a:ext cx="201900" cy="201900"/>
          </a:xfrm>
          <a:prstGeom prst="rect">
            <a:avLst/>
          </a:prstGeom>
        </p:spPr>
      </p:pic>
      <p:sp>
        <p:nvSpPr>
          <p:cNvPr id="41" name="Text 34"/>
          <p:cNvSpPr txBox="1"/>
          <p:nvPr/>
        </p:nvSpPr>
        <p:spPr>
          <a:xfrm>
            <a:off x="8494776" y="4828032"/>
            <a:ext cx="2819095" cy="274320"/>
          </a:xfrm>
          <a:prstGeom prst="rect">
            <a:avLst/>
          </a:prstGeom>
          <a:noFill/>
          <a:ln/>
        </p:spPr>
        <p:txBody>
          <a:bodyPr wrap="square" lIns="0" tIns="0" rIns="0" bIns="0" rtlCol="0" anchor="ctr"/>
          <a:lstStyle/>
          <a:p>
            <a:pPr marL="0" indent="0">
              <a:buNone/>
            </a:pPr>
            <a:r>
              <a:rPr lang="en-US" sz="1300" b="1" dirty="0">
                <a:solidFill>
                  <a:srgbClr val="172B2B"/>
                </a:solidFill>
                <a:latin typeface="Calibri" pitchFamily="34" charset="0"/>
                <a:ea typeface="Calibri" pitchFamily="34" charset="-122"/>
                <a:cs typeface="Calibri" pitchFamily="34" charset="-120"/>
              </a:rPr>
              <a:t>Runs entirely offline</a:t>
            </a:r>
            <a:endParaRPr lang="en-US" sz="1300" dirty="0"/>
          </a:p>
        </p:txBody>
      </p:sp>
      <p:sp>
        <p:nvSpPr>
          <p:cNvPr id="42" name="Text 35"/>
          <p:cNvSpPr txBox="1"/>
          <p:nvPr/>
        </p:nvSpPr>
        <p:spPr>
          <a:xfrm>
            <a:off x="7964424" y="5340096"/>
            <a:ext cx="3349447" cy="749808"/>
          </a:xfrm>
          <a:prstGeom prst="rect">
            <a:avLst/>
          </a:prstGeom>
          <a:noFill/>
          <a:ln/>
        </p:spPr>
        <p:txBody>
          <a:bodyPr wrap="square" lIns="0" tIns="0" rIns="0" bIns="0" rtlCol="0" anchor="t"/>
          <a:lstStyle/>
          <a:p>
            <a:pPr marL="0" indent="0">
              <a:lnSpc>
                <a:spcPts val="1500"/>
              </a:lnSpc>
              <a:buNone/>
            </a:pPr>
            <a:r>
              <a:rPr lang="en-US" sz="1100" dirty="0">
                <a:solidFill>
                  <a:srgbClr val="5F7271"/>
                </a:solidFill>
                <a:latin typeface="Calibri" pitchFamily="34" charset="0"/>
                <a:ea typeface="Calibri" pitchFamily="34" charset="-122"/>
                <a:cs typeface="Calibri" pitchFamily="34" charset="-120"/>
              </a:rPr>
              <a:t>The language model and the embedding model both run on the local machine through Ollama. No API keys, no cloud calls and no document ever leaves the laptop.</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E2F30"/>
        </a:solidFill>
        <a:effectLst/>
      </p:bgPr>
    </p:bg>
    <p:spTree>
      <p:nvGrpSpPr>
        <p:cNvPr id="1" name=""/>
        <p:cNvGrpSpPr/>
        <p:nvPr/>
      </p:nvGrpSpPr>
      <p:grpSpPr>
        <a:xfrm>
          <a:off x="0" y="0"/>
          <a:ext cx="0" cy="0"/>
          <a:chOff x="0" y="0"/>
          <a:chExt cx="0" cy="0"/>
        </a:xfrm>
      </p:grpSpPr>
      <p:sp>
        <p:nvSpPr>
          <p:cNvPr id="2" name="Text 0"/>
          <p:cNvSpPr txBox="1"/>
          <p:nvPr/>
        </p:nvSpPr>
        <p:spPr>
          <a:xfrm>
            <a:off x="566928" y="219456"/>
            <a:ext cx="11057839" cy="237744"/>
          </a:xfrm>
          <a:prstGeom prst="rect">
            <a:avLst/>
          </a:prstGeom>
          <a:noFill/>
          <a:ln/>
        </p:spPr>
        <p:txBody>
          <a:bodyPr wrap="square" lIns="0" tIns="0" rIns="0" bIns="0" rtlCol="0" anchor="ctr"/>
          <a:lstStyle/>
          <a:p>
            <a:pPr marL="0" indent="0">
              <a:buNone/>
            </a:pPr>
            <a:r>
              <a:rPr lang="en-US" sz="1150" b="1" kern="0" spc="160" dirty="0">
                <a:solidFill>
                  <a:srgbClr val="E8A33D"/>
                </a:solidFill>
                <a:latin typeface="Calibri" pitchFamily="34" charset="0"/>
                <a:ea typeface="Calibri" pitchFamily="34" charset="-122"/>
                <a:cs typeface="Calibri" pitchFamily="34" charset="-120"/>
              </a:rPr>
              <a:t>EXPECTED OUTCOME</a:t>
            </a:r>
            <a:endParaRPr lang="en-US" sz="1150" dirty="0"/>
          </a:p>
        </p:txBody>
      </p:sp>
      <p:sp>
        <p:nvSpPr>
          <p:cNvPr id="3" name="Text 1"/>
          <p:cNvSpPr txBox="1"/>
          <p:nvPr/>
        </p:nvSpPr>
        <p:spPr>
          <a:xfrm>
            <a:off x="566928" y="384048"/>
            <a:ext cx="11057839" cy="658368"/>
          </a:xfrm>
          <a:prstGeom prst="rect">
            <a:avLst/>
          </a:prstGeom>
          <a:noFill/>
          <a:ln/>
        </p:spPr>
        <p:txBody>
          <a:bodyPr wrap="square" lIns="0" tIns="0" rIns="0" bIns="0" rtlCol="0" anchor="ctr"/>
          <a:lstStyle/>
          <a:p>
            <a:pPr marL="0" indent="0">
              <a:buNone/>
            </a:pPr>
            <a:r>
              <a:rPr lang="en-US" sz="3400" b="1" dirty="0">
                <a:solidFill>
                  <a:srgbClr val="FFFFFF"/>
                </a:solidFill>
                <a:latin typeface="Cambria" pitchFamily="34" charset="0"/>
                <a:ea typeface="Cambria" pitchFamily="34" charset="-122"/>
                <a:cs typeface="Cambria" pitchFamily="34" charset="-120"/>
              </a:rPr>
              <a:t>What the system will deliver</a:t>
            </a:r>
            <a:endParaRPr lang="en-US" sz="3400" dirty="0"/>
          </a:p>
        </p:txBody>
      </p:sp>
      <p:sp>
        <p:nvSpPr>
          <p:cNvPr id="4" name="Shape 2"/>
          <p:cNvSpPr/>
          <p:nvPr/>
        </p:nvSpPr>
        <p:spPr>
          <a:xfrm>
            <a:off x="566928" y="1371600"/>
            <a:ext cx="1992112" cy="2194560"/>
          </a:xfrm>
          <a:prstGeom prst="roundRect">
            <a:avLst>
              <a:gd name="adj" fmla="val 5508"/>
            </a:avLst>
          </a:prstGeom>
          <a:solidFill>
            <a:srgbClr val="16403F"/>
          </a:solidFill>
          <a:ln w="12700">
            <a:solidFill>
              <a:srgbClr val="12545A"/>
            </a:solidFill>
            <a:prstDash val="solid"/>
          </a:ln>
        </p:spPr>
        <p:txBody>
          <a:bodyPr/>
          <a:lstStyle/>
          <a:p>
            <a:endParaRPr dirty="0"/>
          </a:p>
        </p:txBody>
      </p:sp>
      <p:sp>
        <p:nvSpPr>
          <p:cNvPr id="5" name="Shape 3"/>
          <p:cNvSpPr/>
          <p:nvPr/>
        </p:nvSpPr>
        <p:spPr>
          <a:xfrm>
            <a:off x="804672" y="1609344"/>
            <a:ext cx="475488" cy="475488"/>
          </a:xfrm>
          <a:prstGeom prst="ellipse">
            <a:avLst/>
          </a:prstGeom>
          <a:solidFill>
            <a:srgbClr val="E8A33D"/>
          </a:solidFill>
          <a:ln w="12700">
            <a:solidFill>
              <a:srgbClr val="E8A33D"/>
            </a:solidFill>
            <a:prstDash val="solid"/>
          </a:ln>
        </p:spPr>
        <p:txBody>
          <a:bodyPr/>
          <a:lstStyle/>
          <a:p>
            <a:endParaRPr dirty="0"/>
          </a:p>
        </p:txBody>
      </p:sp>
      <p:pic>
        <p:nvPicPr>
          <p:cNvPr id="6" name="Image 0" descr="preencoded.png"/>
          <p:cNvPicPr>
            <a:picLocks noChangeAspect="1"/>
          </p:cNvPicPr>
          <p:nvPr/>
        </p:nvPicPr>
        <p:blipFill>
          <a:blip r:embed="rId3"/>
          <a:stretch>
            <a:fillRect/>
          </a:stretch>
        </p:blipFill>
        <p:spPr>
          <a:xfrm>
            <a:off x="928299" y="1732971"/>
            <a:ext cx="228234" cy="228234"/>
          </a:xfrm>
          <a:prstGeom prst="rect">
            <a:avLst/>
          </a:prstGeom>
        </p:spPr>
      </p:pic>
      <p:sp>
        <p:nvSpPr>
          <p:cNvPr id="7" name="Text 4"/>
          <p:cNvSpPr txBox="1"/>
          <p:nvPr/>
        </p:nvSpPr>
        <p:spPr>
          <a:xfrm>
            <a:off x="786384" y="2231136"/>
            <a:ext cx="1553200" cy="530352"/>
          </a:xfrm>
          <a:prstGeom prst="rect">
            <a:avLst/>
          </a:prstGeom>
          <a:noFill/>
          <a:ln/>
        </p:spPr>
        <p:txBody>
          <a:bodyPr wrap="square" lIns="0" tIns="0" rIns="0" bIns="0" rtlCol="0" anchor="t"/>
          <a:lstStyle/>
          <a:p>
            <a:pPr marL="0" indent="0">
              <a:lnSpc>
                <a:spcPts val="1600"/>
              </a:lnSpc>
              <a:buNone/>
            </a:pPr>
            <a:r>
              <a:rPr lang="en-US" sz="1300" b="1" dirty="0">
                <a:solidFill>
                  <a:srgbClr val="FFFFFF"/>
                </a:solidFill>
                <a:latin typeface="Calibri" pitchFamily="34" charset="0"/>
                <a:ea typeface="Calibri" pitchFamily="34" charset="-122"/>
                <a:cs typeface="Calibri" pitchFamily="34" charset="-120"/>
              </a:rPr>
              <a:t>Faster retrieval</a:t>
            </a:r>
            <a:endParaRPr lang="en-US" sz="1300" dirty="0"/>
          </a:p>
        </p:txBody>
      </p:sp>
      <p:sp>
        <p:nvSpPr>
          <p:cNvPr id="8" name="Text 5"/>
          <p:cNvSpPr txBox="1"/>
          <p:nvPr/>
        </p:nvSpPr>
        <p:spPr>
          <a:xfrm>
            <a:off x="786384" y="2779776"/>
            <a:ext cx="1553200" cy="566928"/>
          </a:xfrm>
          <a:prstGeom prst="rect">
            <a:avLst/>
          </a:prstGeom>
          <a:noFill/>
          <a:ln/>
        </p:spPr>
        <p:txBody>
          <a:bodyPr wrap="square" lIns="0" tIns="0" rIns="0" bIns="0" rtlCol="0" anchor="t"/>
          <a:lstStyle/>
          <a:p>
            <a:pPr marL="0" indent="0">
              <a:lnSpc>
                <a:spcPts val="1400"/>
              </a:lnSpc>
              <a:buNone/>
            </a:pPr>
            <a:r>
              <a:rPr lang="en-US" sz="1050" dirty="0">
                <a:solidFill>
                  <a:srgbClr val="9BCFC7"/>
                </a:solidFill>
                <a:latin typeface="Calibri" pitchFamily="34" charset="0"/>
                <a:ea typeface="Calibri" pitchFamily="34" charset="-122"/>
                <a:cs typeface="Calibri" pitchFamily="34" charset="-120"/>
              </a:rPr>
              <a:t>Seconds instead of manual reading</a:t>
            </a:r>
            <a:endParaRPr lang="en-US" sz="1050" dirty="0"/>
          </a:p>
        </p:txBody>
      </p:sp>
      <p:sp>
        <p:nvSpPr>
          <p:cNvPr id="9" name="Shape 6"/>
          <p:cNvSpPr/>
          <p:nvPr/>
        </p:nvSpPr>
        <p:spPr>
          <a:xfrm>
            <a:off x="2833360" y="1371600"/>
            <a:ext cx="1992112" cy="2194560"/>
          </a:xfrm>
          <a:prstGeom prst="roundRect">
            <a:avLst>
              <a:gd name="adj" fmla="val 5508"/>
            </a:avLst>
          </a:prstGeom>
          <a:solidFill>
            <a:srgbClr val="16403F"/>
          </a:solidFill>
          <a:ln w="12700">
            <a:solidFill>
              <a:srgbClr val="12545A"/>
            </a:solidFill>
            <a:prstDash val="solid"/>
          </a:ln>
        </p:spPr>
        <p:txBody>
          <a:bodyPr/>
          <a:lstStyle/>
          <a:p>
            <a:endParaRPr dirty="0"/>
          </a:p>
        </p:txBody>
      </p:sp>
      <p:sp>
        <p:nvSpPr>
          <p:cNvPr id="10" name="Shape 7"/>
          <p:cNvSpPr/>
          <p:nvPr/>
        </p:nvSpPr>
        <p:spPr>
          <a:xfrm>
            <a:off x="3071104" y="1609344"/>
            <a:ext cx="475488" cy="475488"/>
          </a:xfrm>
          <a:prstGeom prst="ellipse">
            <a:avLst/>
          </a:prstGeom>
          <a:solidFill>
            <a:srgbClr val="E8A33D"/>
          </a:solidFill>
          <a:ln w="12700">
            <a:solidFill>
              <a:srgbClr val="E8A33D"/>
            </a:solidFill>
            <a:prstDash val="solid"/>
          </a:ln>
        </p:spPr>
        <p:txBody>
          <a:bodyPr/>
          <a:lstStyle/>
          <a:p>
            <a:endParaRPr dirty="0"/>
          </a:p>
        </p:txBody>
      </p:sp>
      <p:pic>
        <p:nvPicPr>
          <p:cNvPr id="11" name="Image 1" descr="preencoded.png"/>
          <p:cNvPicPr>
            <a:picLocks noChangeAspect="1"/>
          </p:cNvPicPr>
          <p:nvPr/>
        </p:nvPicPr>
        <p:blipFill>
          <a:blip r:embed="rId4"/>
          <a:stretch>
            <a:fillRect/>
          </a:stretch>
        </p:blipFill>
        <p:spPr>
          <a:xfrm>
            <a:off x="3194731" y="1732971"/>
            <a:ext cx="228234" cy="228234"/>
          </a:xfrm>
          <a:prstGeom prst="rect">
            <a:avLst/>
          </a:prstGeom>
        </p:spPr>
      </p:pic>
      <p:sp>
        <p:nvSpPr>
          <p:cNvPr id="12" name="Text 8"/>
          <p:cNvSpPr txBox="1"/>
          <p:nvPr/>
        </p:nvSpPr>
        <p:spPr>
          <a:xfrm>
            <a:off x="3052816" y="2231136"/>
            <a:ext cx="1553200" cy="530352"/>
          </a:xfrm>
          <a:prstGeom prst="rect">
            <a:avLst/>
          </a:prstGeom>
          <a:noFill/>
          <a:ln/>
        </p:spPr>
        <p:txBody>
          <a:bodyPr wrap="square" lIns="0" tIns="0" rIns="0" bIns="0" rtlCol="0" anchor="t"/>
          <a:lstStyle/>
          <a:p>
            <a:pPr marL="0" indent="0">
              <a:lnSpc>
                <a:spcPts val="1600"/>
              </a:lnSpc>
              <a:buNone/>
            </a:pPr>
            <a:r>
              <a:rPr lang="en-US" sz="1300" b="1" dirty="0">
                <a:solidFill>
                  <a:srgbClr val="FFFFFF"/>
                </a:solidFill>
                <a:latin typeface="Calibri" pitchFamily="34" charset="0"/>
                <a:ea typeface="Calibri" pitchFamily="34" charset="-122"/>
                <a:cs typeface="Calibri" pitchFamily="34" charset="-120"/>
              </a:rPr>
              <a:t>Across documents</a:t>
            </a:r>
            <a:endParaRPr lang="en-US" sz="1300" dirty="0"/>
          </a:p>
        </p:txBody>
      </p:sp>
      <p:sp>
        <p:nvSpPr>
          <p:cNvPr id="13" name="Text 9"/>
          <p:cNvSpPr txBox="1"/>
          <p:nvPr/>
        </p:nvSpPr>
        <p:spPr>
          <a:xfrm>
            <a:off x="3052816" y="2779776"/>
            <a:ext cx="1553200" cy="566928"/>
          </a:xfrm>
          <a:prstGeom prst="rect">
            <a:avLst/>
          </a:prstGeom>
          <a:noFill/>
          <a:ln/>
        </p:spPr>
        <p:txBody>
          <a:bodyPr wrap="square" lIns="0" tIns="0" rIns="0" bIns="0" rtlCol="0" anchor="t"/>
          <a:lstStyle/>
          <a:p>
            <a:pPr marL="0" indent="0">
              <a:lnSpc>
                <a:spcPts val="1400"/>
              </a:lnSpc>
              <a:buNone/>
            </a:pPr>
            <a:r>
              <a:rPr lang="en-US" sz="1050" dirty="0">
                <a:solidFill>
                  <a:srgbClr val="9BCFC7"/>
                </a:solidFill>
                <a:latin typeface="Calibri" pitchFamily="34" charset="0"/>
                <a:ea typeface="Calibri" pitchFamily="34" charset="-122"/>
                <a:cs typeface="Calibri" pitchFamily="34" charset="-120"/>
              </a:rPr>
              <a:t>One question, the whole corpus</a:t>
            </a:r>
            <a:endParaRPr lang="en-US" sz="1050" dirty="0"/>
          </a:p>
        </p:txBody>
      </p:sp>
      <p:sp>
        <p:nvSpPr>
          <p:cNvPr id="14" name="Shape 10"/>
          <p:cNvSpPr/>
          <p:nvPr/>
        </p:nvSpPr>
        <p:spPr>
          <a:xfrm>
            <a:off x="5099792" y="1371600"/>
            <a:ext cx="1992112" cy="2194560"/>
          </a:xfrm>
          <a:prstGeom prst="roundRect">
            <a:avLst>
              <a:gd name="adj" fmla="val 5508"/>
            </a:avLst>
          </a:prstGeom>
          <a:solidFill>
            <a:srgbClr val="16403F"/>
          </a:solidFill>
          <a:ln w="12700">
            <a:solidFill>
              <a:srgbClr val="12545A"/>
            </a:solidFill>
            <a:prstDash val="solid"/>
          </a:ln>
        </p:spPr>
        <p:txBody>
          <a:bodyPr/>
          <a:lstStyle/>
          <a:p>
            <a:endParaRPr dirty="0"/>
          </a:p>
        </p:txBody>
      </p:sp>
      <p:sp>
        <p:nvSpPr>
          <p:cNvPr id="15" name="Shape 11"/>
          <p:cNvSpPr/>
          <p:nvPr/>
        </p:nvSpPr>
        <p:spPr>
          <a:xfrm>
            <a:off x="5337536" y="1609344"/>
            <a:ext cx="475488" cy="475488"/>
          </a:xfrm>
          <a:prstGeom prst="ellipse">
            <a:avLst/>
          </a:prstGeom>
          <a:solidFill>
            <a:srgbClr val="E8A33D"/>
          </a:solidFill>
          <a:ln w="12700">
            <a:solidFill>
              <a:srgbClr val="E8A33D"/>
            </a:solidFill>
            <a:prstDash val="solid"/>
          </a:ln>
        </p:spPr>
        <p:txBody>
          <a:bodyPr/>
          <a:lstStyle/>
          <a:p>
            <a:endParaRPr dirty="0"/>
          </a:p>
        </p:txBody>
      </p:sp>
      <p:pic>
        <p:nvPicPr>
          <p:cNvPr id="16" name="Image 2" descr="preencoded.png"/>
          <p:cNvPicPr>
            <a:picLocks noChangeAspect="1"/>
          </p:cNvPicPr>
          <p:nvPr/>
        </p:nvPicPr>
        <p:blipFill>
          <a:blip r:embed="rId5"/>
          <a:stretch>
            <a:fillRect/>
          </a:stretch>
        </p:blipFill>
        <p:spPr>
          <a:xfrm>
            <a:off x="5461163" y="1732971"/>
            <a:ext cx="228234" cy="228234"/>
          </a:xfrm>
          <a:prstGeom prst="rect">
            <a:avLst/>
          </a:prstGeom>
        </p:spPr>
      </p:pic>
      <p:sp>
        <p:nvSpPr>
          <p:cNvPr id="17" name="Text 12"/>
          <p:cNvSpPr txBox="1"/>
          <p:nvPr/>
        </p:nvSpPr>
        <p:spPr>
          <a:xfrm>
            <a:off x="5319248" y="2231136"/>
            <a:ext cx="1553200" cy="530352"/>
          </a:xfrm>
          <a:prstGeom prst="rect">
            <a:avLst/>
          </a:prstGeom>
          <a:noFill/>
          <a:ln/>
        </p:spPr>
        <p:txBody>
          <a:bodyPr wrap="square" lIns="0" tIns="0" rIns="0" bIns="0" rtlCol="0" anchor="t"/>
          <a:lstStyle/>
          <a:p>
            <a:pPr marL="0" indent="0">
              <a:lnSpc>
                <a:spcPts val="1600"/>
              </a:lnSpc>
              <a:buNone/>
            </a:pPr>
            <a:r>
              <a:rPr lang="en-US" sz="1300" b="1" dirty="0">
                <a:solidFill>
                  <a:srgbClr val="FFFFFF"/>
                </a:solidFill>
                <a:latin typeface="Calibri" pitchFamily="34" charset="0"/>
                <a:ea typeface="Calibri" pitchFamily="34" charset="-122"/>
                <a:cs typeface="Calibri" pitchFamily="34" charset="-120"/>
              </a:rPr>
              <a:t>Grounded answers</a:t>
            </a:r>
            <a:endParaRPr lang="en-US" sz="1300" dirty="0"/>
          </a:p>
        </p:txBody>
      </p:sp>
      <p:sp>
        <p:nvSpPr>
          <p:cNvPr id="18" name="Text 13"/>
          <p:cNvSpPr txBox="1"/>
          <p:nvPr/>
        </p:nvSpPr>
        <p:spPr>
          <a:xfrm>
            <a:off x="5319248" y="2779776"/>
            <a:ext cx="1553200" cy="566928"/>
          </a:xfrm>
          <a:prstGeom prst="rect">
            <a:avLst/>
          </a:prstGeom>
          <a:noFill/>
          <a:ln/>
        </p:spPr>
        <p:txBody>
          <a:bodyPr wrap="square" lIns="0" tIns="0" rIns="0" bIns="0" rtlCol="0" anchor="t"/>
          <a:lstStyle/>
          <a:p>
            <a:pPr marL="0" indent="0">
              <a:lnSpc>
                <a:spcPts val="1400"/>
              </a:lnSpc>
              <a:buNone/>
            </a:pPr>
            <a:r>
              <a:rPr lang="en-US" sz="1050" dirty="0">
                <a:solidFill>
                  <a:srgbClr val="9BCFC7"/>
                </a:solidFill>
                <a:latin typeface="Calibri" pitchFamily="34" charset="0"/>
                <a:ea typeface="Calibri" pitchFamily="34" charset="-122"/>
                <a:cs typeface="Calibri" pitchFamily="34" charset="-120"/>
              </a:rPr>
              <a:t>Generated from retrieved text only</a:t>
            </a:r>
            <a:endParaRPr lang="en-US" sz="1050" dirty="0"/>
          </a:p>
        </p:txBody>
      </p:sp>
      <p:sp>
        <p:nvSpPr>
          <p:cNvPr id="19" name="Shape 14"/>
          <p:cNvSpPr/>
          <p:nvPr/>
        </p:nvSpPr>
        <p:spPr>
          <a:xfrm>
            <a:off x="7366224" y="1371600"/>
            <a:ext cx="1992112" cy="2194560"/>
          </a:xfrm>
          <a:prstGeom prst="roundRect">
            <a:avLst>
              <a:gd name="adj" fmla="val 5508"/>
            </a:avLst>
          </a:prstGeom>
          <a:solidFill>
            <a:srgbClr val="16403F"/>
          </a:solidFill>
          <a:ln w="12700">
            <a:solidFill>
              <a:srgbClr val="12545A"/>
            </a:solidFill>
            <a:prstDash val="solid"/>
          </a:ln>
        </p:spPr>
        <p:txBody>
          <a:bodyPr/>
          <a:lstStyle/>
          <a:p>
            <a:endParaRPr dirty="0"/>
          </a:p>
        </p:txBody>
      </p:sp>
      <p:sp>
        <p:nvSpPr>
          <p:cNvPr id="20" name="Shape 15"/>
          <p:cNvSpPr/>
          <p:nvPr/>
        </p:nvSpPr>
        <p:spPr>
          <a:xfrm>
            <a:off x="7603968" y="1609344"/>
            <a:ext cx="475488" cy="475488"/>
          </a:xfrm>
          <a:prstGeom prst="ellipse">
            <a:avLst/>
          </a:prstGeom>
          <a:solidFill>
            <a:srgbClr val="E8A33D"/>
          </a:solidFill>
          <a:ln w="12700">
            <a:solidFill>
              <a:srgbClr val="E8A33D"/>
            </a:solidFill>
            <a:prstDash val="solid"/>
          </a:ln>
        </p:spPr>
        <p:txBody>
          <a:bodyPr/>
          <a:lstStyle/>
          <a:p>
            <a:endParaRPr dirty="0"/>
          </a:p>
        </p:txBody>
      </p:sp>
      <p:pic>
        <p:nvPicPr>
          <p:cNvPr id="21" name="Image 3" descr="preencoded.png"/>
          <p:cNvPicPr>
            <a:picLocks noChangeAspect="1"/>
          </p:cNvPicPr>
          <p:nvPr/>
        </p:nvPicPr>
        <p:blipFill>
          <a:blip r:embed="rId6"/>
          <a:stretch>
            <a:fillRect/>
          </a:stretch>
        </p:blipFill>
        <p:spPr>
          <a:xfrm>
            <a:off x="7727594" y="1732971"/>
            <a:ext cx="228234" cy="228234"/>
          </a:xfrm>
          <a:prstGeom prst="rect">
            <a:avLst/>
          </a:prstGeom>
        </p:spPr>
      </p:pic>
      <p:sp>
        <p:nvSpPr>
          <p:cNvPr id="22" name="Text 16"/>
          <p:cNvSpPr txBox="1"/>
          <p:nvPr/>
        </p:nvSpPr>
        <p:spPr>
          <a:xfrm>
            <a:off x="7585680" y="2231136"/>
            <a:ext cx="1553200" cy="530352"/>
          </a:xfrm>
          <a:prstGeom prst="rect">
            <a:avLst/>
          </a:prstGeom>
          <a:noFill/>
          <a:ln/>
        </p:spPr>
        <p:txBody>
          <a:bodyPr wrap="square" lIns="0" tIns="0" rIns="0" bIns="0" rtlCol="0" anchor="t"/>
          <a:lstStyle/>
          <a:p>
            <a:pPr marL="0" indent="0">
              <a:lnSpc>
                <a:spcPts val="1600"/>
              </a:lnSpc>
              <a:buNone/>
            </a:pPr>
            <a:r>
              <a:rPr lang="en-US" sz="1300" b="1" dirty="0">
                <a:solidFill>
                  <a:srgbClr val="FFFFFF"/>
                </a:solidFill>
                <a:latin typeface="Calibri" pitchFamily="34" charset="0"/>
                <a:ea typeface="Calibri" pitchFamily="34" charset="-122"/>
                <a:cs typeface="Calibri" pitchFamily="34" charset="-120"/>
              </a:rPr>
              <a:t>Source-supported</a:t>
            </a:r>
            <a:endParaRPr lang="en-US" sz="1300" dirty="0"/>
          </a:p>
        </p:txBody>
      </p:sp>
      <p:sp>
        <p:nvSpPr>
          <p:cNvPr id="23" name="Text 17"/>
          <p:cNvSpPr txBox="1"/>
          <p:nvPr/>
        </p:nvSpPr>
        <p:spPr>
          <a:xfrm>
            <a:off x="7585680" y="2779776"/>
            <a:ext cx="1553200" cy="566928"/>
          </a:xfrm>
          <a:prstGeom prst="rect">
            <a:avLst/>
          </a:prstGeom>
          <a:noFill/>
          <a:ln/>
        </p:spPr>
        <p:txBody>
          <a:bodyPr wrap="square" lIns="0" tIns="0" rIns="0" bIns="0" rtlCol="0" anchor="t"/>
          <a:lstStyle/>
          <a:p>
            <a:pPr marL="0" indent="0">
              <a:lnSpc>
                <a:spcPts val="1400"/>
              </a:lnSpc>
              <a:buNone/>
            </a:pPr>
            <a:r>
              <a:rPr lang="en-US" sz="1050" dirty="0">
                <a:solidFill>
                  <a:srgbClr val="9BCFC7"/>
                </a:solidFill>
                <a:latin typeface="Calibri" pitchFamily="34" charset="0"/>
                <a:ea typeface="Calibri" pitchFamily="34" charset="-122"/>
                <a:cs typeface="Calibri" pitchFamily="34" charset="-120"/>
              </a:rPr>
              <a:t>Document and page on every claim</a:t>
            </a:r>
            <a:endParaRPr lang="en-US" sz="1050" dirty="0"/>
          </a:p>
        </p:txBody>
      </p:sp>
      <p:sp>
        <p:nvSpPr>
          <p:cNvPr id="24" name="Shape 18"/>
          <p:cNvSpPr/>
          <p:nvPr/>
        </p:nvSpPr>
        <p:spPr>
          <a:xfrm>
            <a:off x="9632655" y="1371600"/>
            <a:ext cx="1992112" cy="2194560"/>
          </a:xfrm>
          <a:prstGeom prst="roundRect">
            <a:avLst>
              <a:gd name="adj" fmla="val 5508"/>
            </a:avLst>
          </a:prstGeom>
          <a:solidFill>
            <a:srgbClr val="16403F"/>
          </a:solidFill>
          <a:ln w="12700">
            <a:solidFill>
              <a:srgbClr val="12545A"/>
            </a:solidFill>
            <a:prstDash val="solid"/>
          </a:ln>
        </p:spPr>
        <p:txBody>
          <a:bodyPr/>
          <a:lstStyle/>
          <a:p>
            <a:endParaRPr dirty="0"/>
          </a:p>
        </p:txBody>
      </p:sp>
      <p:sp>
        <p:nvSpPr>
          <p:cNvPr id="25" name="Shape 19"/>
          <p:cNvSpPr/>
          <p:nvPr/>
        </p:nvSpPr>
        <p:spPr>
          <a:xfrm>
            <a:off x="9870399" y="1609344"/>
            <a:ext cx="475488" cy="475488"/>
          </a:xfrm>
          <a:prstGeom prst="ellipse">
            <a:avLst/>
          </a:prstGeom>
          <a:solidFill>
            <a:srgbClr val="E8A33D"/>
          </a:solidFill>
          <a:ln w="12700">
            <a:solidFill>
              <a:srgbClr val="E8A33D"/>
            </a:solidFill>
            <a:prstDash val="solid"/>
          </a:ln>
        </p:spPr>
        <p:txBody>
          <a:bodyPr/>
          <a:lstStyle/>
          <a:p>
            <a:endParaRPr dirty="0"/>
          </a:p>
        </p:txBody>
      </p:sp>
      <p:pic>
        <p:nvPicPr>
          <p:cNvPr id="26" name="Image 4" descr="preencoded.png"/>
          <p:cNvPicPr>
            <a:picLocks noChangeAspect="1"/>
          </p:cNvPicPr>
          <p:nvPr/>
        </p:nvPicPr>
        <p:blipFill>
          <a:blip r:embed="rId7"/>
          <a:stretch>
            <a:fillRect/>
          </a:stretch>
        </p:blipFill>
        <p:spPr>
          <a:xfrm>
            <a:off x="9994026" y="1732971"/>
            <a:ext cx="228234" cy="228234"/>
          </a:xfrm>
          <a:prstGeom prst="rect">
            <a:avLst/>
          </a:prstGeom>
        </p:spPr>
      </p:pic>
      <p:sp>
        <p:nvSpPr>
          <p:cNvPr id="27" name="Text 20"/>
          <p:cNvSpPr txBox="1"/>
          <p:nvPr/>
        </p:nvSpPr>
        <p:spPr>
          <a:xfrm>
            <a:off x="9852111" y="2231136"/>
            <a:ext cx="1553200" cy="530352"/>
          </a:xfrm>
          <a:prstGeom prst="rect">
            <a:avLst/>
          </a:prstGeom>
          <a:noFill/>
          <a:ln/>
        </p:spPr>
        <p:txBody>
          <a:bodyPr wrap="square" lIns="0" tIns="0" rIns="0" bIns="0" rtlCol="0" anchor="t"/>
          <a:lstStyle/>
          <a:p>
            <a:pPr marL="0" indent="0">
              <a:lnSpc>
                <a:spcPts val="1600"/>
              </a:lnSpc>
              <a:buNone/>
            </a:pPr>
            <a:r>
              <a:rPr lang="en-US" sz="1300" b="1" dirty="0">
                <a:solidFill>
                  <a:srgbClr val="FFFFFF"/>
                </a:solidFill>
                <a:latin typeface="Calibri" pitchFamily="34" charset="0"/>
                <a:ea typeface="Calibri" pitchFamily="34" charset="-122"/>
                <a:cs typeface="Calibri" pitchFamily="34" charset="-120"/>
              </a:rPr>
              <a:t>Verifiable</a:t>
            </a:r>
            <a:endParaRPr lang="en-US" sz="1300" dirty="0"/>
          </a:p>
        </p:txBody>
      </p:sp>
      <p:sp>
        <p:nvSpPr>
          <p:cNvPr id="28" name="Text 21"/>
          <p:cNvSpPr txBox="1"/>
          <p:nvPr/>
        </p:nvSpPr>
        <p:spPr>
          <a:xfrm>
            <a:off x="9852111" y="2779776"/>
            <a:ext cx="1553200" cy="566928"/>
          </a:xfrm>
          <a:prstGeom prst="rect">
            <a:avLst/>
          </a:prstGeom>
          <a:noFill/>
          <a:ln/>
        </p:spPr>
        <p:txBody>
          <a:bodyPr wrap="square" lIns="0" tIns="0" rIns="0" bIns="0" rtlCol="0" anchor="t"/>
          <a:lstStyle/>
          <a:p>
            <a:pPr marL="0" indent="0">
              <a:lnSpc>
                <a:spcPts val="1400"/>
              </a:lnSpc>
              <a:buNone/>
            </a:pPr>
            <a:r>
              <a:rPr lang="en-US" sz="1050" dirty="0">
                <a:solidFill>
                  <a:srgbClr val="9BCFC7"/>
                </a:solidFill>
                <a:latin typeface="Calibri" pitchFamily="34" charset="0"/>
                <a:ea typeface="Calibri" pitchFamily="34" charset="-122"/>
                <a:cs typeface="Calibri" pitchFamily="34" charset="-120"/>
              </a:rPr>
              <a:t>Any answer can be checked at source</a:t>
            </a:r>
            <a:endParaRPr lang="en-US" sz="1050" dirty="0"/>
          </a:p>
        </p:txBody>
      </p:sp>
      <p:sp>
        <p:nvSpPr>
          <p:cNvPr id="29" name="Text 22"/>
          <p:cNvSpPr txBox="1"/>
          <p:nvPr/>
        </p:nvSpPr>
        <p:spPr>
          <a:xfrm>
            <a:off x="566928" y="3840480"/>
            <a:ext cx="11057839" cy="256032"/>
          </a:xfrm>
          <a:prstGeom prst="rect">
            <a:avLst/>
          </a:prstGeom>
          <a:noFill/>
          <a:ln/>
        </p:spPr>
        <p:txBody>
          <a:bodyPr wrap="square" lIns="0" tIns="0" rIns="0" bIns="0" rtlCol="0" anchor="ctr"/>
          <a:lstStyle/>
          <a:p>
            <a:pPr marL="0" indent="0">
              <a:buNone/>
            </a:pPr>
            <a:r>
              <a:rPr lang="en-US" sz="1050" b="1" kern="0" spc="160" dirty="0">
                <a:solidFill>
                  <a:srgbClr val="9BCFC7"/>
                </a:solidFill>
                <a:latin typeface="Calibri" pitchFamily="34" charset="0"/>
                <a:ea typeface="Calibri" pitchFamily="34" charset="-122"/>
                <a:cs typeface="Calibri" pitchFamily="34" charset="-120"/>
              </a:rPr>
              <a:t>THE COMPLETE JOURNEY</a:t>
            </a:r>
            <a:endParaRPr lang="en-US" sz="1050" dirty="0"/>
          </a:p>
        </p:txBody>
      </p:sp>
      <p:sp>
        <p:nvSpPr>
          <p:cNvPr id="30" name="Shape 23"/>
          <p:cNvSpPr/>
          <p:nvPr/>
        </p:nvSpPr>
        <p:spPr>
          <a:xfrm>
            <a:off x="566928" y="4169664"/>
            <a:ext cx="1644853" cy="658368"/>
          </a:xfrm>
          <a:prstGeom prst="roundRect">
            <a:avLst>
              <a:gd name="adj" fmla="val 13889"/>
            </a:avLst>
          </a:prstGeom>
          <a:solidFill>
            <a:srgbClr val="16403F"/>
          </a:solidFill>
          <a:ln w="12700">
            <a:solidFill>
              <a:srgbClr val="12545A"/>
            </a:solidFill>
            <a:prstDash val="solid"/>
          </a:ln>
        </p:spPr>
        <p:txBody>
          <a:bodyPr/>
          <a:lstStyle/>
          <a:p>
            <a:endParaRPr dirty="0"/>
          </a:p>
        </p:txBody>
      </p:sp>
      <p:sp>
        <p:nvSpPr>
          <p:cNvPr id="31" name="Text 24"/>
          <p:cNvSpPr txBox="1"/>
          <p:nvPr/>
        </p:nvSpPr>
        <p:spPr>
          <a:xfrm>
            <a:off x="621792" y="4169664"/>
            <a:ext cx="1535125" cy="658368"/>
          </a:xfrm>
          <a:prstGeom prst="rect">
            <a:avLst/>
          </a:prstGeom>
          <a:noFill/>
          <a:ln/>
        </p:spPr>
        <p:txBody>
          <a:bodyPr wrap="square" lIns="0" tIns="0" rIns="0" bIns="0" rtlCol="0" anchor="ctr"/>
          <a:lstStyle/>
          <a:p>
            <a:pPr marL="0" indent="0" algn="ctr">
              <a:buNone/>
            </a:pPr>
            <a:r>
              <a:rPr lang="en-US" sz="1150" b="1" dirty="0">
                <a:solidFill>
                  <a:srgbClr val="FFFFFF"/>
                </a:solidFill>
                <a:latin typeface="Calibri" pitchFamily="34" charset="0"/>
                <a:ea typeface="Calibri" pitchFamily="34" charset="-122"/>
                <a:cs typeface="Calibri" pitchFamily="34" charset="-120"/>
              </a:rPr>
              <a:t>Documents</a:t>
            </a:r>
            <a:endParaRPr lang="en-US" sz="1150" dirty="0"/>
          </a:p>
        </p:txBody>
      </p:sp>
      <p:sp>
        <p:nvSpPr>
          <p:cNvPr id="32" name="Shape 25"/>
          <p:cNvSpPr/>
          <p:nvPr/>
        </p:nvSpPr>
        <p:spPr>
          <a:xfrm>
            <a:off x="2230069" y="4398264"/>
            <a:ext cx="201168" cy="201168"/>
          </a:xfrm>
          <a:prstGeom prst="rightArrow">
            <a:avLst/>
          </a:prstGeom>
          <a:solidFill>
            <a:srgbClr val="12545A"/>
          </a:solidFill>
          <a:ln w="12700">
            <a:solidFill>
              <a:srgbClr val="12545A"/>
            </a:solidFill>
            <a:prstDash val="solid"/>
          </a:ln>
        </p:spPr>
        <p:txBody>
          <a:bodyPr/>
          <a:lstStyle/>
          <a:p>
            <a:endParaRPr dirty="0"/>
          </a:p>
        </p:txBody>
      </p:sp>
      <p:sp>
        <p:nvSpPr>
          <p:cNvPr id="33" name="Shape 26"/>
          <p:cNvSpPr/>
          <p:nvPr/>
        </p:nvSpPr>
        <p:spPr>
          <a:xfrm>
            <a:off x="2449525" y="4169664"/>
            <a:ext cx="1644853" cy="658368"/>
          </a:xfrm>
          <a:prstGeom prst="roundRect">
            <a:avLst>
              <a:gd name="adj" fmla="val 13889"/>
            </a:avLst>
          </a:prstGeom>
          <a:solidFill>
            <a:srgbClr val="16403F"/>
          </a:solidFill>
          <a:ln w="12700">
            <a:solidFill>
              <a:srgbClr val="12545A"/>
            </a:solidFill>
            <a:prstDash val="solid"/>
          </a:ln>
        </p:spPr>
        <p:txBody>
          <a:bodyPr/>
          <a:lstStyle/>
          <a:p>
            <a:endParaRPr dirty="0"/>
          </a:p>
        </p:txBody>
      </p:sp>
      <p:sp>
        <p:nvSpPr>
          <p:cNvPr id="34" name="Text 27"/>
          <p:cNvSpPr txBox="1"/>
          <p:nvPr/>
        </p:nvSpPr>
        <p:spPr>
          <a:xfrm>
            <a:off x="2504389" y="4169664"/>
            <a:ext cx="1535125" cy="658368"/>
          </a:xfrm>
          <a:prstGeom prst="rect">
            <a:avLst/>
          </a:prstGeom>
          <a:noFill/>
          <a:ln/>
        </p:spPr>
        <p:txBody>
          <a:bodyPr wrap="square" lIns="0" tIns="0" rIns="0" bIns="0" rtlCol="0" anchor="ctr"/>
          <a:lstStyle/>
          <a:p>
            <a:pPr marL="0" indent="0" algn="ctr">
              <a:buNone/>
            </a:pPr>
            <a:r>
              <a:rPr lang="en-US" sz="1150" b="1" dirty="0">
                <a:solidFill>
                  <a:srgbClr val="FFFFFF"/>
                </a:solidFill>
                <a:latin typeface="Calibri" pitchFamily="34" charset="0"/>
                <a:ea typeface="Calibri" pitchFamily="34" charset="-122"/>
                <a:cs typeface="Calibri" pitchFamily="34" charset="-120"/>
              </a:rPr>
              <a:t>Processing</a:t>
            </a:r>
            <a:endParaRPr lang="en-US" sz="1150" dirty="0"/>
          </a:p>
        </p:txBody>
      </p:sp>
      <p:sp>
        <p:nvSpPr>
          <p:cNvPr id="35" name="Shape 28"/>
          <p:cNvSpPr/>
          <p:nvPr/>
        </p:nvSpPr>
        <p:spPr>
          <a:xfrm>
            <a:off x="4112666" y="4398264"/>
            <a:ext cx="201168" cy="201168"/>
          </a:xfrm>
          <a:prstGeom prst="rightArrow">
            <a:avLst/>
          </a:prstGeom>
          <a:solidFill>
            <a:srgbClr val="12545A"/>
          </a:solidFill>
          <a:ln w="12700">
            <a:solidFill>
              <a:srgbClr val="12545A"/>
            </a:solidFill>
            <a:prstDash val="solid"/>
          </a:ln>
        </p:spPr>
        <p:txBody>
          <a:bodyPr/>
          <a:lstStyle/>
          <a:p>
            <a:endParaRPr dirty="0"/>
          </a:p>
        </p:txBody>
      </p:sp>
      <p:sp>
        <p:nvSpPr>
          <p:cNvPr id="36" name="Shape 29"/>
          <p:cNvSpPr/>
          <p:nvPr/>
        </p:nvSpPr>
        <p:spPr>
          <a:xfrm>
            <a:off x="4332122" y="4169664"/>
            <a:ext cx="1644853" cy="658368"/>
          </a:xfrm>
          <a:prstGeom prst="roundRect">
            <a:avLst>
              <a:gd name="adj" fmla="val 13889"/>
            </a:avLst>
          </a:prstGeom>
          <a:solidFill>
            <a:srgbClr val="16403F"/>
          </a:solidFill>
          <a:ln w="12700">
            <a:solidFill>
              <a:srgbClr val="12545A"/>
            </a:solidFill>
            <a:prstDash val="solid"/>
          </a:ln>
        </p:spPr>
        <p:txBody>
          <a:bodyPr/>
          <a:lstStyle/>
          <a:p>
            <a:endParaRPr dirty="0"/>
          </a:p>
        </p:txBody>
      </p:sp>
      <p:sp>
        <p:nvSpPr>
          <p:cNvPr id="37" name="Text 30"/>
          <p:cNvSpPr txBox="1"/>
          <p:nvPr/>
        </p:nvSpPr>
        <p:spPr>
          <a:xfrm>
            <a:off x="4386986" y="4169664"/>
            <a:ext cx="1535125" cy="658368"/>
          </a:xfrm>
          <a:prstGeom prst="rect">
            <a:avLst/>
          </a:prstGeom>
          <a:noFill/>
          <a:ln/>
        </p:spPr>
        <p:txBody>
          <a:bodyPr wrap="square" lIns="0" tIns="0" rIns="0" bIns="0" rtlCol="0" anchor="ctr"/>
          <a:lstStyle/>
          <a:p>
            <a:pPr marL="0" indent="0" algn="ctr">
              <a:buNone/>
            </a:pPr>
            <a:r>
              <a:rPr lang="en-US" sz="1150" b="1" dirty="0">
                <a:solidFill>
                  <a:srgbClr val="FFFFFF"/>
                </a:solidFill>
                <a:latin typeface="Calibri" pitchFamily="34" charset="0"/>
                <a:ea typeface="Calibri" pitchFamily="34" charset="-122"/>
                <a:cs typeface="Calibri" pitchFamily="34" charset="-120"/>
              </a:rPr>
              <a:t>Embeddings</a:t>
            </a:r>
            <a:endParaRPr lang="en-US" sz="1150" dirty="0"/>
          </a:p>
        </p:txBody>
      </p:sp>
      <p:sp>
        <p:nvSpPr>
          <p:cNvPr id="38" name="Shape 31"/>
          <p:cNvSpPr/>
          <p:nvPr/>
        </p:nvSpPr>
        <p:spPr>
          <a:xfrm>
            <a:off x="5995264" y="4398264"/>
            <a:ext cx="201168" cy="201168"/>
          </a:xfrm>
          <a:prstGeom prst="rightArrow">
            <a:avLst/>
          </a:prstGeom>
          <a:solidFill>
            <a:srgbClr val="12545A"/>
          </a:solidFill>
          <a:ln w="12700">
            <a:solidFill>
              <a:srgbClr val="12545A"/>
            </a:solidFill>
            <a:prstDash val="solid"/>
          </a:ln>
        </p:spPr>
        <p:txBody>
          <a:bodyPr/>
          <a:lstStyle/>
          <a:p>
            <a:endParaRPr dirty="0"/>
          </a:p>
        </p:txBody>
      </p:sp>
      <p:sp>
        <p:nvSpPr>
          <p:cNvPr id="39" name="Shape 32"/>
          <p:cNvSpPr/>
          <p:nvPr/>
        </p:nvSpPr>
        <p:spPr>
          <a:xfrm>
            <a:off x="6214720" y="4169664"/>
            <a:ext cx="1644853" cy="658368"/>
          </a:xfrm>
          <a:prstGeom prst="roundRect">
            <a:avLst>
              <a:gd name="adj" fmla="val 13889"/>
            </a:avLst>
          </a:prstGeom>
          <a:solidFill>
            <a:srgbClr val="16403F"/>
          </a:solidFill>
          <a:ln w="12700">
            <a:solidFill>
              <a:srgbClr val="12545A"/>
            </a:solidFill>
            <a:prstDash val="solid"/>
          </a:ln>
        </p:spPr>
        <p:txBody>
          <a:bodyPr/>
          <a:lstStyle/>
          <a:p>
            <a:endParaRPr dirty="0"/>
          </a:p>
        </p:txBody>
      </p:sp>
      <p:sp>
        <p:nvSpPr>
          <p:cNvPr id="40" name="Text 33"/>
          <p:cNvSpPr txBox="1"/>
          <p:nvPr/>
        </p:nvSpPr>
        <p:spPr>
          <a:xfrm>
            <a:off x="6269584" y="4169664"/>
            <a:ext cx="1535125" cy="658368"/>
          </a:xfrm>
          <a:prstGeom prst="rect">
            <a:avLst/>
          </a:prstGeom>
          <a:noFill/>
          <a:ln/>
        </p:spPr>
        <p:txBody>
          <a:bodyPr wrap="square" lIns="0" tIns="0" rIns="0" bIns="0" rtlCol="0" anchor="ctr"/>
          <a:lstStyle/>
          <a:p>
            <a:pPr marL="0" indent="0" algn="ctr">
              <a:buNone/>
            </a:pPr>
            <a:r>
              <a:rPr lang="en-US" sz="1150" b="1" dirty="0">
                <a:solidFill>
                  <a:srgbClr val="FFFFFF"/>
                </a:solidFill>
                <a:latin typeface="Calibri" pitchFamily="34" charset="0"/>
                <a:ea typeface="Calibri" pitchFamily="34" charset="-122"/>
                <a:cs typeface="Calibri" pitchFamily="34" charset="-120"/>
              </a:rPr>
              <a:t>Retrieval</a:t>
            </a:r>
            <a:endParaRPr lang="en-US" sz="1150" dirty="0"/>
          </a:p>
        </p:txBody>
      </p:sp>
      <p:sp>
        <p:nvSpPr>
          <p:cNvPr id="41" name="Shape 34"/>
          <p:cNvSpPr/>
          <p:nvPr/>
        </p:nvSpPr>
        <p:spPr>
          <a:xfrm>
            <a:off x="7877861" y="4398264"/>
            <a:ext cx="201168" cy="201168"/>
          </a:xfrm>
          <a:prstGeom prst="rightArrow">
            <a:avLst/>
          </a:prstGeom>
          <a:solidFill>
            <a:srgbClr val="12545A"/>
          </a:solidFill>
          <a:ln w="12700">
            <a:solidFill>
              <a:srgbClr val="12545A"/>
            </a:solidFill>
            <a:prstDash val="solid"/>
          </a:ln>
        </p:spPr>
        <p:txBody>
          <a:bodyPr/>
          <a:lstStyle/>
          <a:p>
            <a:endParaRPr dirty="0"/>
          </a:p>
        </p:txBody>
      </p:sp>
      <p:sp>
        <p:nvSpPr>
          <p:cNvPr id="42" name="Shape 35"/>
          <p:cNvSpPr/>
          <p:nvPr/>
        </p:nvSpPr>
        <p:spPr>
          <a:xfrm>
            <a:off x="8097317" y="4169664"/>
            <a:ext cx="1644853" cy="658368"/>
          </a:xfrm>
          <a:prstGeom prst="roundRect">
            <a:avLst>
              <a:gd name="adj" fmla="val 13889"/>
            </a:avLst>
          </a:prstGeom>
          <a:solidFill>
            <a:srgbClr val="16403F"/>
          </a:solidFill>
          <a:ln w="12700">
            <a:solidFill>
              <a:srgbClr val="12545A"/>
            </a:solidFill>
            <a:prstDash val="solid"/>
          </a:ln>
        </p:spPr>
        <p:txBody>
          <a:bodyPr/>
          <a:lstStyle/>
          <a:p>
            <a:endParaRPr dirty="0"/>
          </a:p>
        </p:txBody>
      </p:sp>
      <p:sp>
        <p:nvSpPr>
          <p:cNvPr id="43" name="Text 36"/>
          <p:cNvSpPr txBox="1"/>
          <p:nvPr/>
        </p:nvSpPr>
        <p:spPr>
          <a:xfrm>
            <a:off x="8152181" y="4169664"/>
            <a:ext cx="1535125" cy="658368"/>
          </a:xfrm>
          <a:prstGeom prst="rect">
            <a:avLst/>
          </a:prstGeom>
          <a:noFill/>
          <a:ln/>
        </p:spPr>
        <p:txBody>
          <a:bodyPr wrap="square" lIns="0" tIns="0" rIns="0" bIns="0" rtlCol="0" anchor="ctr"/>
          <a:lstStyle/>
          <a:p>
            <a:pPr marL="0" indent="0" algn="ctr">
              <a:buNone/>
            </a:pPr>
            <a:r>
              <a:rPr lang="en-US" sz="1150" b="1" dirty="0">
                <a:solidFill>
                  <a:srgbClr val="FFFFFF"/>
                </a:solidFill>
                <a:latin typeface="Calibri" pitchFamily="34" charset="0"/>
                <a:ea typeface="Calibri" pitchFamily="34" charset="-122"/>
                <a:cs typeface="Calibri" pitchFamily="34" charset="-120"/>
              </a:rPr>
              <a:t>LLM</a:t>
            </a:r>
            <a:endParaRPr lang="en-US" sz="1150" dirty="0"/>
          </a:p>
        </p:txBody>
      </p:sp>
      <p:sp>
        <p:nvSpPr>
          <p:cNvPr id="44" name="Shape 37"/>
          <p:cNvSpPr/>
          <p:nvPr/>
        </p:nvSpPr>
        <p:spPr>
          <a:xfrm>
            <a:off x="9760458" y="4398264"/>
            <a:ext cx="201168" cy="201168"/>
          </a:xfrm>
          <a:prstGeom prst="rightArrow">
            <a:avLst/>
          </a:prstGeom>
          <a:solidFill>
            <a:srgbClr val="12545A"/>
          </a:solidFill>
          <a:ln w="12700">
            <a:solidFill>
              <a:srgbClr val="12545A"/>
            </a:solidFill>
            <a:prstDash val="solid"/>
          </a:ln>
        </p:spPr>
        <p:txBody>
          <a:bodyPr/>
          <a:lstStyle/>
          <a:p>
            <a:endParaRPr dirty="0"/>
          </a:p>
        </p:txBody>
      </p:sp>
      <p:sp>
        <p:nvSpPr>
          <p:cNvPr id="45" name="Shape 38"/>
          <p:cNvSpPr/>
          <p:nvPr/>
        </p:nvSpPr>
        <p:spPr>
          <a:xfrm>
            <a:off x="9979914" y="4169664"/>
            <a:ext cx="1644853" cy="658368"/>
          </a:xfrm>
          <a:prstGeom prst="roundRect">
            <a:avLst>
              <a:gd name="adj" fmla="val 13889"/>
            </a:avLst>
          </a:prstGeom>
          <a:solidFill>
            <a:srgbClr val="E8A33D"/>
          </a:solidFill>
          <a:ln w="12700">
            <a:solidFill>
              <a:srgbClr val="E8A33D"/>
            </a:solidFill>
            <a:prstDash val="solid"/>
          </a:ln>
        </p:spPr>
        <p:txBody>
          <a:bodyPr/>
          <a:lstStyle/>
          <a:p>
            <a:endParaRPr dirty="0"/>
          </a:p>
        </p:txBody>
      </p:sp>
      <p:sp>
        <p:nvSpPr>
          <p:cNvPr id="46" name="Text 39"/>
          <p:cNvSpPr txBox="1"/>
          <p:nvPr/>
        </p:nvSpPr>
        <p:spPr>
          <a:xfrm>
            <a:off x="10034778" y="4169664"/>
            <a:ext cx="1535125" cy="658368"/>
          </a:xfrm>
          <a:prstGeom prst="rect">
            <a:avLst/>
          </a:prstGeom>
          <a:noFill/>
          <a:ln/>
        </p:spPr>
        <p:txBody>
          <a:bodyPr wrap="square" lIns="0" tIns="0" rIns="0" bIns="0" rtlCol="0" anchor="ctr"/>
          <a:lstStyle/>
          <a:p>
            <a:pPr marL="0" indent="0" algn="ctr">
              <a:buNone/>
            </a:pPr>
            <a:r>
              <a:rPr lang="en-US" sz="1150" b="1" dirty="0">
                <a:solidFill>
                  <a:srgbClr val="0E2F30"/>
                </a:solidFill>
                <a:latin typeface="Calibri" pitchFamily="34" charset="0"/>
                <a:ea typeface="Calibri" pitchFamily="34" charset="-122"/>
                <a:cs typeface="Calibri" pitchFamily="34" charset="-120"/>
              </a:rPr>
              <a:t>Answer + Citations</a:t>
            </a:r>
            <a:endParaRPr lang="en-US" sz="1150" dirty="0"/>
          </a:p>
        </p:txBody>
      </p:sp>
      <p:sp>
        <p:nvSpPr>
          <p:cNvPr id="47" name="Shape 40"/>
          <p:cNvSpPr/>
          <p:nvPr/>
        </p:nvSpPr>
        <p:spPr>
          <a:xfrm>
            <a:off x="566928" y="5175504"/>
            <a:ext cx="11057839" cy="1243584"/>
          </a:xfrm>
          <a:prstGeom prst="roundRect">
            <a:avLst>
              <a:gd name="adj" fmla="val 8824"/>
            </a:avLst>
          </a:prstGeom>
          <a:solidFill>
            <a:srgbClr val="16403F"/>
          </a:solidFill>
          <a:ln w="15875">
            <a:solidFill>
              <a:srgbClr val="E8A33D"/>
            </a:solidFill>
            <a:prstDash val="solid"/>
          </a:ln>
        </p:spPr>
        <p:txBody>
          <a:bodyPr/>
          <a:lstStyle/>
          <a:p>
            <a:endParaRPr dirty="0"/>
          </a:p>
        </p:txBody>
      </p:sp>
      <p:sp>
        <p:nvSpPr>
          <p:cNvPr id="48" name="Text 41"/>
          <p:cNvSpPr txBox="1"/>
          <p:nvPr/>
        </p:nvSpPr>
        <p:spPr>
          <a:xfrm>
            <a:off x="932688" y="5358384"/>
            <a:ext cx="10326319" cy="237744"/>
          </a:xfrm>
          <a:prstGeom prst="rect">
            <a:avLst/>
          </a:prstGeom>
          <a:noFill/>
          <a:ln/>
        </p:spPr>
        <p:txBody>
          <a:bodyPr wrap="square" lIns="0" tIns="0" rIns="0" bIns="0" rtlCol="0" anchor="ctr"/>
          <a:lstStyle/>
          <a:p>
            <a:pPr marL="0" indent="0">
              <a:buNone/>
            </a:pPr>
            <a:r>
              <a:rPr lang="en-US" sz="1000" b="1" kern="0" spc="150" dirty="0">
                <a:solidFill>
                  <a:srgbClr val="E8A33D"/>
                </a:solidFill>
                <a:latin typeface="Calibri" pitchFamily="34" charset="0"/>
                <a:ea typeface="Calibri" pitchFamily="34" charset="-122"/>
                <a:cs typeface="Calibri" pitchFamily="34" charset="-120"/>
              </a:rPr>
              <a:t>FINAL GOAL</a:t>
            </a:r>
            <a:endParaRPr lang="en-US" sz="1000" dirty="0"/>
          </a:p>
        </p:txBody>
      </p:sp>
      <p:sp>
        <p:nvSpPr>
          <p:cNvPr id="49" name="Text 42"/>
          <p:cNvSpPr txBox="1"/>
          <p:nvPr/>
        </p:nvSpPr>
        <p:spPr>
          <a:xfrm>
            <a:off x="932688" y="5650992"/>
            <a:ext cx="10326319" cy="621792"/>
          </a:xfrm>
          <a:prstGeom prst="rect">
            <a:avLst/>
          </a:prstGeom>
          <a:noFill/>
          <a:ln/>
        </p:spPr>
        <p:txBody>
          <a:bodyPr wrap="square" lIns="0" tIns="0" rIns="0" bIns="0" rtlCol="0" anchor="ctr"/>
          <a:lstStyle/>
          <a:p>
            <a:pPr marL="0" indent="0">
              <a:lnSpc>
                <a:spcPts val="2400"/>
              </a:lnSpc>
              <a:buNone/>
            </a:pPr>
            <a:r>
              <a:rPr lang="en-US" sz="1750" b="1" dirty="0">
                <a:solidFill>
                  <a:srgbClr val="FFFFFF"/>
                </a:solidFill>
                <a:latin typeface="Cambria" pitchFamily="34" charset="0"/>
                <a:ea typeface="Cambria" pitchFamily="34" charset="-122"/>
                <a:cs typeface="Cambria" pitchFamily="34" charset="-120"/>
              </a:rPr>
              <a:t>To build a reliable GenAI system that helps users obtain accurate and verifiable information from multiple documents.</a:t>
            </a:r>
            <a:endParaRPr lang="en-US" sz="1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73</TotalTime>
  <Words>1571</Words>
  <Application>Microsoft Office PowerPoint</Application>
  <PresentationFormat>Widescreen</PresentationFormat>
  <Paragraphs>219</Paragraphs>
  <Slides>10</Slides>
  <Notes>10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Multi-Document RAG with Citations</dc:title>
  <dc:subject>PptxGenJS Presentation</dc:subject>
  <dc:creator>Group BCC — Multi-Document RAG</dc:creator>
  <cp:lastModifiedBy>Admin</cp:lastModifiedBy>
  <cp:revision>2</cp:revision>
  <dcterms:created xsi:type="dcterms:W3CDTF">2026-09-01T12:53:32Z</dcterms:created>
  <dcterms:modified xsi:type="dcterms:W3CDTF">2026-09-02T07:07:29Z</dcterms:modified>
</cp:coreProperties>
</file>